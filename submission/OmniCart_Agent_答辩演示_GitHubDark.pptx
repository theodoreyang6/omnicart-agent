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8288000" cy="10287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117"/>
              </a:gs>
              <a:gs pos="46000">
                <a:srgbClr val="11111F"/>
              </a:gs>
              <a:gs pos="100000">
                <a:srgbClr val="06151A"/>
              </a:gs>
            </a:gsLst>
            <a:lin ang="7800000"/>
          </a:gradFill>
          <a:ln w="0">
            <a:noFill/>
            <a:prstDash val="solid"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-3429000" y="-3143250"/>
            <a:ext cx="9334500" cy="8382000"/>
          </a:xfrm>
          <a:prstGeom prst="ellipse">
            <a:avLst/>
          </a:prstGeom>
          <a:gradFill>
            <a:gsLst>
              <a:gs pos="0">
                <a:srgbClr val="A855F7">
                  <a:alpha val="30000"/>
                </a:srgbClr>
              </a:gs>
              <a:gs pos="42000">
                <a:srgbClr val="7C3AED">
                  <a:alpha val="14000"/>
                </a:srgbClr>
              </a:gs>
              <a:gs pos="74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10572750" y="-2476500"/>
            <a:ext cx="9906000" cy="8572500"/>
          </a:xfrm>
          <a:prstGeom prst="ellipse">
            <a:avLst/>
          </a:prstGeom>
          <a:gradFill>
            <a:gsLst>
              <a:gs pos="0">
                <a:srgbClr val="60A5FA">
                  <a:alpha val="22000"/>
                </a:srgbClr>
              </a:gs>
              <a:gs pos="46000">
                <a:srgbClr val="00D4FF">
                  <a:alpha val="9000"/>
                </a:srgbClr>
              </a:gs>
              <a:gs pos="78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5715000" y="6477000"/>
            <a:ext cx="7810500" cy="4953000"/>
          </a:xfrm>
          <a:prstGeom prst="ellipse">
            <a:avLst/>
          </a:prstGeom>
          <a:gradFill>
            <a:gsLst>
              <a:gs pos="0">
                <a:srgbClr val="34D399">
                  <a:alpha val="13000"/>
                </a:srgbClr>
              </a:gs>
              <a:gs pos="72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71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143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714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2286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2857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3429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4000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4572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5143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5715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6286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6858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7429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8001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8572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9144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9715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10287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10858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11430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12001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12573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13144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13716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14287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14859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15430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16002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16573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17145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17716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18288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39" name="直接连接符 38"/>
          <p:cNvSpPr>
            <a:spLocks noGrp="1"/>
          </p:cNvSpPr>
          <p:nvPr/>
        </p:nvSpPr>
        <p:spPr>
          <a:xfrm>
            <a:off x="0" y="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0" y="571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0" y="1143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0" y="1714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43" name="直接连接符 42"/>
          <p:cNvSpPr>
            <a:spLocks noGrp="1"/>
          </p:cNvSpPr>
          <p:nvPr/>
        </p:nvSpPr>
        <p:spPr>
          <a:xfrm>
            <a:off x="0" y="2286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44" name="直接连接符 43"/>
          <p:cNvSpPr>
            <a:spLocks noGrp="1"/>
          </p:cNvSpPr>
          <p:nvPr/>
        </p:nvSpPr>
        <p:spPr>
          <a:xfrm>
            <a:off x="0" y="2857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45" name="直接连接符 44"/>
          <p:cNvSpPr>
            <a:spLocks noGrp="1"/>
          </p:cNvSpPr>
          <p:nvPr/>
        </p:nvSpPr>
        <p:spPr>
          <a:xfrm>
            <a:off x="0" y="3429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0" y="4000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0" y="4572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0" y="5143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49" name="直接连接符 48"/>
          <p:cNvSpPr>
            <a:spLocks noGrp="1"/>
          </p:cNvSpPr>
          <p:nvPr/>
        </p:nvSpPr>
        <p:spPr>
          <a:xfrm>
            <a:off x="0" y="5715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50" name="直接连接符 49"/>
          <p:cNvSpPr>
            <a:spLocks noGrp="1"/>
          </p:cNvSpPr>
          <p:nvPr/>
        </p:nvSpPr>
        <p:spPr>
          <a:xfrm>
            <a:off x="0" y="6286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51" name="直接连接符 50"/>
          <p:cNvSpPr>
            <a:spLocks noGrp="1"/>
          </p:cNvSpPr>
          <p:nvPr/>
        </p:nvSpPr>
        <p:spPr>
          <a:xfrm>
            <a:off x="0" y="6858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52" name="直接连接符 51"/>
          <p:cNvSpPr>
            <a:spLocks noGrp="1"/>
          </p:cNvSpPr>
          <p:nvPr/>
        </p:nvSpPr>
        <p:spPr>
          <a:xfrm>
            <a:off x="0" y="7429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53" name="直接连接符 52"/>
          <p:cNvSpPr>
            <a:spLocks noGrp="1"/>
          </p:cNvSpPr>
          <p:nvPr/>
        </p:nvSpPr>
        <p:spPr>
          <a:xfrm>
            <a:off x="0" y="8001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54" name="直接连接符 53"/>
          <p:cNvSpPr>
            <a:spLocks noGrp="1"/>
          </p:cNvSpPr>
          <p:nvPr/>
        </p:nvSpPr>
        <p:spPr>
          <a:xfrm>
            <a:off x="0" y="8572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55" name="直接连接符 54"/>
          <p:cNvSpPr>
            <a:spLocks noGrp="1"/>
          </p:cNvSpPr>
          <p:nvPr/>
        </p:nvSpPr>
        <p:spPr>
          <a:xfrm>
            <a:off x="0" y="9144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56" name="直接连接符 55"/>
          <p:cNvSpPr>
            <a:spLocks noGrp="1"/>
          </p:cNvSpPr>
          <p:nvPr/>
        </p:nvSpPr>
        <p:spPr>
          <a:xfrm>
            <a:off x="0" y="9715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57" name="直接连接符 56"/>
          <p:cNvSpPr>
            <a:spLocks noGrp="1"/>
          </p:cNvSpPr>
          <p:nvPr/>
        </p:nvSpPr>
        <p:spPr>
          <a:xfrm>
            <a:off x="0" y="10287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117">
                  <a:alpha val="0"/>
                </a:srgbClr>
              </a:gs>
              <a:gs pos="100000">
                <a:srgbClr val="0D1117">
                  <a:alpha val="45000"/>
                </a:srgbClr>
              </a:gs>
            </a:gsLst>
            <a:path path="shape"/>
          </a:gradFill>
          <a:ln w="0">
            <a:noFill/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9" name="椭圆 58"/>
          <p:cNvSpPr>
            <a:spLocks noGrp="1"/>
          </p:cNvSpPr>
          <p:nvPr/>
        </p:nvSpPr>
        <p:spPr>
          <a:xfrm>
            <a:off x="8229600" y="2152650"/>
            <a:ext cx="1828800" cy="1828800"/>
          </a:xfrm>
          <a:prstGeom prst="ellipse">
            <a:avLst/>
          </a:prstGeom>
          <a:gradFill>
            <a:gsLst>
              <a:gs pos="0">
                <a:srgbClr val="60A5FA">
                  <a:alpha val="22000"/>
                </a:srgbClr>
              </a:gs>
              <a:gs pos="70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pic>
        <p:nvPicPr>
          <p:cNvPr id="123" name="图片 12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458200" y="2381250"/>
            <a:ext cx="1371600" cy="1371600"/>
          </a:xfrm>
          <a:prstGeom prst="ellipse">
            <a:avLst/>
          </a:prstGeom>
        </p:spPr>
      </p:pic>
      <p:sp>
        <p:nvSpPr>
          <p:cNvPr id="60" name="椭圆 59"/>
          <p:cNvSpPr>
            <a:spLocks noGrp="1"/>
          </p:cNvSpPr>
          <p:nvPr/>
        </p:nvSpPr>
        <p:spPr>
          <a:xfrm>
            <a:off x="8420100" y="2343150"/>
            <a:ext cx="1447800" cy="1447800"/>
          </a:xfrm>
          <a:prstGeom prst="ellipse">
            <a:avLst/>
          </a:prstGeom>
          <a:solidFill>
            <a:srgbClr val="000000">
              <a:alpha val="0"/>
            </a:srgbClr>
          </a:solidFill>
          <a:ln w="57150">
            <a:solidFill>
              <a:srgbClr val="FFFFFF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2667000" y="4095750"/>
            <a:ext cx="129540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95000"/>
              </a:lnSpc>
              <a:buNone/>
              <a:defRPr sz="7350" b="1">
                <a:solidFill>
                  <a:srgbClr val="C9D1D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7350" b="1">
                <a:gradFill>
                  <a:gsLst>
                    <a:gs pos="0">
                      <a:srgbClr val="A855F7"/>
                    </a:gs>
                    <a:gs pos="52000">
                      <a:srgbClr val="60A5FA"/>
                    </a:gs>
                    <a:gs pos="100000">
                      <a:srgbClr val="34D399"/>
                    </a:gs>
                  </a:gsLst>
                  <a:lin ang="0"/>
                </a:gradFill>
                <a:latin typeface="Segoe UI" panose="020B0502040204020203"/>
                <a:ea typeface="Segoe UI" panose="020B0502040204020203"/>
                <a:cs typeface="Segoe UI" panose="020B0502040204020203"/>
              </a:rPr>
              <a:t>OmniCart Agent</a:t>
            </a:r>
            <a:r>
              <a:rPr lang="en-US" sz="7350" b="1">
                <a:gradFill>
                  <a:gsLst>
                    <a:gs pos="0">
                      <a:srgbClr val="A855F7"/>
                    </a:gs>
                    <a:gs pos="52000">
                      <a:srgbClr val="60A5FA"/>
                    </a:gs>
                    <a:gs pos="100000">
                      <a:srgbClr val="34D399"/>
                    </a:gs>
                  </a:gsLst>
                  <a:lin ang="0"/>
                </a:gradFill>
                <a:latin typeface="Segoe UI" panose="020B0502040204020203"/>
                <a:ea typeface="Segoe UI" panose="020B0502040204020203"/>
                <a:cs typeface="Segoe UI" panose="020B0502040204020203"/>
              </a:rPr>
              <a:t>~</a:t>
            </a:r>
            <a:r>
              <a:rPr lang="zh-CN" altLang="en-US" sz="7350" b="1">
                <a:gradFill>
                  <a:gsLst>
                    <a:gs pos="0">
                      <a:srgbClr val="A855F7"/>
                    </a:gs>
                    <a:gs pos="52000">
                      <a:srgbClr val="60A5FA"/>
                    </a:gs>
                    <a:gs pos="100000">
                      <a:srgbClr val="34D399"/>
                    </a:gs>
                  </a:gsLst>
                  <a:lin ang="0"/>
                </a:gradFill>
                <a:latin typeface="Segoe UI" panose="020B0502040204020203"/>
                <a:ea typeface="Segoe UI" panose="020B0502040204020203"/>
                <a:cs typeface="Segoe UI" panose="020B0502040204020203"/>
              </a:rPr>
              <a:t>豆仔</a:t>
            </a:r>
            <a:endParaRPr lang="zh-CN" altLang="en-US" sz="7350" b="1">
              <a:gradFill>
                <a:gsLst>
                  <a:gs pos="0">
                    <a:srgbClr val="A855F7"/>
                  </a:gs>
                  <a:gs pos="52000">
                    <a:srgbClr val="60A5FA"/>
                  </a:gs>
                  <a:gs pos="100000">
                    <a:srgbClr val="34D399"/>
                  </a:gs>
                </a:gsLst>
                <a:lin ang="0"/>
              </a:gra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4000500" y="542925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RAG 的多模态购物决策智能体</a:t>
            </a:r>
            <a:endParaRPr sz="255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7239000" y="685800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75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拿下这个</a:t>
            </a:r>
            <a:r>
              <a:rPr lang="en-US" altLang="zh-CN" sz="1275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r>
              <a:rPr lang="zh-CN" altLang="en-US" sz="1275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r>
              <a:rPr lang="en-US" altLang="zh-CN" sz="1275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75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杨启铎</a:t>
            </a:r>
            <a:r>
              <a:rPr lang="en-US" altLang="zh-CN" sz="1275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lang="zh-CN" altLang="en-US" sz="1275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胡金成</a:t>
            </a:r>
            <a:r>
              <a:rPr lang="en-US" altLang="zh-CN" sz="1275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| </a:t>
            </a:r>
            <a:r>
              <a:rPr lang="zh-CN" altLang="en-US" sz="1275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章恒睿</a:t>
            </a:r>
            <a:endParaRPr lang="zh-CN" altLang="en-US" sz="1275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圆角矩形 63"/>
          <p:cNvSpPr>
            <a:spLocks noGrp="1"/>
          </p:cNvSpPr>
          <p:nvPr/>
        </p:nvSpPr>
        <p:spPr>
          <a:xfrm>
            <a:off x="6191250" y="7620000"/>
            <a:ext cx="5905500" cy="381000"/>
          </a:xfrm>
          <a:prstGeom prst="roundRect">
            <a:avLst>
              <a:gd name="adj" fmla="val 50000"/>
            </a:avLst>
          </a:prstGeom>
          <a:solidFill>
            <a:srgbClr val="A855F7">
              <a:alpha val="14000"/>
            </a:srgbClr>
          </a:solidFill>
          <a:ln w="9525">
            <a:solidFill>
              <a:srgbClr val="A855F7">
                <a:alpha val="45000"/>
              </a:srgbClr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120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Evidence-bound · Workflow-controlled · Qwen Model Stack</a:t>
            </a:r>
            <a:endParaRPr sz="1200" b="1">
              <a:solidFill>
                <a:srgbClr val="C084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117"/>
              </a:gs>
              <a:gs pos="46000">
                <a:srgbClr val="11111F"/>
              </a:gs>
              <a:gs pos="100000">
                <a:srgbClr val="06151A"/>
              </a:gs>
            </a:gsLst>
            <a:lin ang="7800000"/>
          </a:gradFill>
          <a:ln w="0">
            <a:noFill/>
            <a:prstDash val="solid"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-3429000" y="-3143250"/>
            <a:ext cx="9334500" cy="8382000"/>
          </a:xfrm>
          <a:prstGeom prst="ellipse">
            <a:avLst/>
          </a:prstGeom>
          <a:gradFill>
            <a:gsLst>
              <a:gs pos="0">
                <a:srgbClr val="A855F7">
                  <a:alpha val="30000"/>
                </a:srgbClr>
              </a:gs>
              <a:gs pos="42000">
                <a:srgbClr val="7C3AED">
                  <a:alpha val="14000"/>
                </a:srgbClr>
              </a:gs>
              <a:gs pos="74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10572750" y="-2476500"/>
            <a:ext cx="9906000" cy="8572500"/>
          </a:xfrm>
          <a:prstGeom prst="ellipse">
            <a:avLst/>
          </a:prstGeom>
          <a:gradFill>
            <a:gsLst>
              <a:gs pos="0">
                <a:srgbClr val="60A5FA">
                  <a:alpha val="22000"/>
                </a:srgbClr>
              </a:gs>
              <a:gs pos="46000">
                <a:srgbClr val="00D4FF">
                  <a:alpha val="9000"/>
                </a:srgbClr>
              </a:gs>
              <a:gs pos="78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5715000" y="6477000"/>
            <a:ext cx="7810500" cy="4953000"/>
          </a:xfrm>
          <a:prstGeom prst="ellipse">
            <a:avLst/>
          </a:prstGeom>
          <a:gradFill>
            <a:gsLst>
              <a:gs pos="0">
                <a:srgbClr val="34D399">
                  <a:alpha val="13000"/>
                </a:srgbClr>
              </a:gs>
              <a:gs pos="72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71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143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714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2286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2857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3429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4000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4572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5143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5715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6286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6858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7429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8001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8572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9144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9715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10287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10858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11430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12001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12573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13144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13716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14287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14859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15430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16002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16573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17145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17716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18288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9" name="直接连接符 38"/>
          <p:cNvSpPr>
            <a:spLocks noGrp="1"/>
          </p:cNvSpPr>
          <p:nvPr/>
        </p:nvSpPr>
        <p:spPr>
          <a:xfrm>
            <a:off x="0" y="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0" y="571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0" y="1143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0" y="1714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3" name="直接连接符 42"/>
          <p:cNvSpPr>
            <a:spLocks noGrp="1"/>
          </p:cNvSpPr>
          <p:nvPr/>
        </p:nvSpPr>
        <p:spPr>
          <a:xfrm>
            <a:off x="0" y="2286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4" name="直接连接符 43"/>
          <p:cNvSpPr>
            <a:spLocks noGrp="1"/>
          </p:cNvSpPr>
          <p:nvPr/>
        </p:nvSpPr>
        <p:spPr>
          <a:xfrm>
            <a:off x="0" y="2857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5" name="直接连接符 44"/>
          <p:cNvSpPr>
            <a:spLocks noGrp="1"/>
          </p:cNvSpPr>
          <p:nvPr/>
        </p:nvSpPr>
        <p:spPr>
          <a:xfrm>
            <a:off x="0" y="3429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0" y="4000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0" y="4572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0" y="5143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9" name="直接连接符 48"/>
          <p:cNvSpPr>
            <a:spLocks noGrp="1"/>
          </p:cNvSpPr>
          <p:nvPr/>
        </p:nvSpPr>
        <p:spPr>
          <a:xfrm>
            <a:off x="0" y="5715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0" name="直接连接符 49"/>
          <p:cNvSpPr>
            <a:spLocks noGrp="1"/>
          </p:cNvSpPr>
          <p:nvPr/>
        </p:nvSpPr>
        <p:spPr>
          <a:xfrm>
            <a:off x="0" y="6286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1" name="直接连接符 50"/>
          <p:cNvSpPr>
            <a:spLocks noGrp="1"/>
          </p:cNvSpPr>
          <p:nvPr/>
        </p:nvSpPr>
        <p:spPr>
          <a:xfrm>
            <a:off x="0" y="6858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2" name="直接连接符 51"/>
          <p:cNvSpPr>
            <a:spLocks noGrp="1"/>
          </p:cNvSpPr>
          <p:nvPr/>
        </p:nvSpPr>
        <p:spPr>
          <a:xfrm>
            <a:off x="0" y="7429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3" name="直接连接符 52"/>
          <p:cNvSpPr>
            <a:spLocks noGrp="1"/>
          </p:cNvSpPr>
          <p:nvPr/>
        </p:nvSpPr>
        <p:spPr>
          <a:xfrm>
            <a:off x="0" y="8001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4" name="直接连接符 53"/>
          <p:cNvSpPr>
            <a:spLocks noGrp="1"/>
          </p:cNvSpPr>
          <p:nvPr/>
        </p:nvSpPr>
        <p:spPr>
          <a:xfrm>
            <a:off x="0" y="8572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5" name="直接连接符 54"/>
          <p:cNvSpPr>
            <a:spLocks noGrp="1"/>
          </p:cNvSpPr>
          <p:nvPr/>
        </p:nvSpPr>
        <p:spPr>
          <a:xfrm>
            <a:off x="0" y="9144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6" name="直接连接符 55"/>
          <p:cNvSpPr>
            <a:spLocks noGrp="1"/>
          </p:cNvSpPr>
          <p:nvPr/>
        </p:nvSpPr>
        <p:spPr>
          <a:xfrm>
            <a:off x="0" y="9715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7" name="直接连接符 56"/>
          <p:cNvSpPr>
            <a:spLocks noGrp="1"/>
          </p:cNvSpPr>
          <p:nvPr/>
        </p:nvSpPr>
        <p:spPr>
          <a:xfrm>
            <a:off x="0" y="10287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117">
                  <a:alpha val="0"/>
                </a:srgbClr>
              </a:gs>
              <a:gs pos="100000">
                <a:srgbClr val="0D1117">
                  <a:alpha val="4500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59" name="圆角矩形 58"/>
          <p:cNvSpPr>
            <a:spLocks noGrp="1"/>
          </p:cNvSpPr>
          <p:nvPr/>
        </p:nvSpPr>
        <p:spPr>
          <a:xfrm>
            <a:off x="819150" y="590550"/>
            <a:ext cx="2838450" cy="419100"/>
          </a:xfrm>
          <a:prstGeom prst="roundRect">
            <a:avLst>
              <a:gd name="adj" fmla="val 50000"/>
            </a:avLst>
          </a:prstGeom>
          <a:solidFill>
            <a:srgbClr val="A855F7">
              <a:alpha val="18000"/>
            </a:srgbClr>
          </a:solidFill>
          <a:ln w="9525">
            <a:solidFill>
              <a:srgbClr val="A855F7">
                <a:alpha val="55000"/>
              </a:srgbClr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13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P2 · 一句话→完整推荐</a:t>
            </a:r>
            <a:endParaRPr sz="1350" b="1">
              <a:solidFill>
                <a:srgbClr val="C084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819150" y="1123950"/>
            <a:ext cx="12382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buNone/>
              <a:defRPr sz="4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gradFill>
                  <a:gsLst>
                    <a:gs pos="0">
                      <a:srgbClr val="A855F7"/>
                    </a:gs>
                    <a:gs pos="52000">
                      <a:srgbClr val="60A5FA"/>
                    </a:gs>
                    <a:gs pos="100000">
                      <a:srgbClr val="34D399"/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传统搜索 vs OmniCart</a:t>
            </a:r>
            <a:endParaRPr sz="4200" b="1">
              <a:gradFill>
                <a:gsLst>
                  <a:gs pos="0">
                    <a:srgbClr val="A855F7"/>
                  </a:gs>
                  <a:gs pos="52000">
                    <a:srgbClr val="60A5FA"/>
                  </a:gs>
                  <a:gs pos="100000">
                    <a:srgbClr val="34D399"/>
                  </a:gs>
                </a:gsLst>
                <a:lin ang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857250" y="1847850"/>
            <a:ext cx="1314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一句话压缩 10-20 分钟决策到 </a:t>
            </a:r>
            <a:r>
              <a:rPr lang="en-US" sz="18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8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-5 秒</a:t>
            </a:r>
            <a:endParaRPr sz="180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819150" y="96202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OmniCart Agent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16192500" y="96202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02 / 16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4" name="直接连接符 63"/>
          <p:cNvSpPr>
            <a:spLocks noGrp="1"/>
          </p:cNvSpPr>
          <p:nvPr/>
        </p:nvSpPr>
        <p:spPr>
          <a:xfrm>
            <a:off x="819150" y="9486900"/>
            <a:ext cx="16649700" cy="0"/>
          </a:xfrm>
          <a:prstGeom prst="line">
            <a:avLst/>
          </a:prstGeom>
          <a:noFill/>
          <a:ln w="9525">
            <a:solidFill>
              <a:srgbClr val="30363D">
                <a:alpha val="70000"/>
              </a:srgbClr>
            </a:solidFill>
            <a:prstDash val="solid"/>
          </a:ln>
        </p:spPr>
      </p:sp>
      <p:sp>
        <p:nvSpPr>
          <p:cNvPr id="65" name="圆角矩形 64"/>
          <p:cNvSpPr>
            <a:spLocks noGrp="1"/>
          </p:cNvSpPr>
          <p:nvPr/>
        </p:nvSpPr>
        <p:spPr>
          <a:xfrm>
            <a:off x="5334000" y="2333625"/>
            <a:ext cx="7620000" cy="609600"/>
          </a:xfrm>
          <a:prstGeom prst="roundRect">
            <a:avLst>
              <a:gd name="adj" fmla="val 50000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800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用户：“推荐一款蓝牙耳机，500以内”</a:t>
            </a:r>
            <a:endParaRPr sz="1800" b="0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圆角矩形 65"/>
          <p:cNvSpPr>
            <a:spLocks noGrp="1"/>
          </p:cNvSpPr>
          <p:nvPr/>
        </p:nvSpPr>
        <p:spPr>
          <a:xfrm>
            <a:off x="1143000" y="3333750"/>
            <a:ext cx="7239000" cy="4762500"/>
          </a:xfrm>
          <a:prstGeom prst="roundRect">
            <a:avLst>
              <a:gd name="adj" fmla="val 4400"/>
            </a:avLst>
          </a:prstGeom>
          <a:solidFill>
            <a:srgbClr val="161B22">
              <a:alpha val="75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7" name="圆角矩形 66"/>
          <p:cNvSpPr>
            <a:spLocks noGrp="1"/>
          </p:cNvSpPr>
          <p:nvPr/>
        </p:nvSpPr>
        <p:spPr>
          <a:xfrm>
            <a:off x="9906000" y="3333750"/>
            <a:ext cx="7239000" cy="4762500"/>
          </a:xfrm>
          <a:prstGeom prst="roundRect">
            <a:avLst>
              <a:gd name="adj" fmla="val 4400"/>
            </a:avLst>
          </a:prstGeom>
          <a:gradFill>
            <a:gsLst>
              <a:gs pos="0">
                <a:srgbClr val="00D4FF">
                  <a:alpha val="9000"/>
                </a:srgbClr>
              </a:gs>
              <a:gs pos="100000">
                <a:srgbClr val="A855F7">
                  <a:alpha val="11000"/>
                </a:srgbClr>
              </a:gs>
            </a:gsLst>
            <a:lin ang="8100000"/>
          </a:gradFill>
          <a:ln w="14288">
            <a:solidFill>
              <a:srgbClr val="60A5FA">
                <a:alpha val="48000"/>
              </a:srgbClr>
            </a:solidFill>
            <a:prstDash val="solid"/>
          </a:ln>
        </p:spPr>
      </p:sp>
      <p:sp>
        <p:nvSpPr>
          <p:cNvPr id="68" name="直接连接符 67"/>
          <p:cNvSpPr>
            <a:spLocks noGrp="1"/>
          </p:cNvSpPr>
          <p:nvPr/>
        </p:nvSpPr>
        <p:spPr>
          <a:xfrm>
            <a:off x="9144000" y="3333750"/>
            <a:ext cx="0" cy="4762500"/>
          </a:xfrm>
          <a:prstGeom prst="line">
            <a:avLst/>
          </a:prstGeom>
          <a:noFill/>
          <a:ln w="28575">
            <a:solidFill>
              <a:srgbClr val="A855F7">
                <a:alpha val="55000"/>
              </a:srgbClr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1428750" y="3676650"/>
            <a:ext cx="666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传统搜索</a:t>
            </a:r>
            <a:endParaRPr sz="2550" b="1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10191750" y="3676650"/>
            <a:ext cx="6667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2550" b="1">
                <a:solidFill>
                  <a:srgbClr val="C9D1D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550" b="1">
                <a:gradFill>
                  <a:gsLst>
                    <a:gs pos="0">
                      <a:srgbClr val="A855F7"/>
                    </a:gs>
                    <a:gs pos="52000">
                      <a:srgbClr val="60A5FA"/>
                    </a:gs>
                    <a:gs pos="100000">
                      <a:srgbClr val="34D399"/>
                    </a:gs>
                  </a:gsLst>
                  <a:lin ang="0"/>
                </a:gradFill>
                <a:latin typeface="Segoe UI" panose="020B0502040204020203"/>
                <a:ea typeface="Segoe UI" panose="020B0502040204020203"/>
                <a:cs typeface="Segoe UI" panose="020B0502040204020203"/>
              </a:rPr>
              <a:t>OmniCart</a:t>
            </a:r>
            <a:endParaRPr sz="2550" b="1">
              <a:gradFill>
                <a:gsLst>
                  <a:gs pos="0">
                    <a:srgbClr val="A855F7"/>
                  </a:gs>
                  <a:gs pos="52000">
                    <a:srgbClr val="60A5FA"/>
                  </a:gs>
                  <a:gs pos="100000">
                    <a:srgbClr val="34D399"/>
                  </a:gs>
                </a:gsLst>
                <a:lin ang="0"/>
              </a:gra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2000250" y="4286250"/>
            <a:ext cx="36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500" b="1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1</a:t>
            </a:r>
            <a:endParaRPr sz="1500" b="1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2524125" y="4257675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20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关键词匹配</a:t>
            </a:r>
            <a:endParaRPr sz="202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2000250" y="4762500"/>
            <a:ext cx="36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500" b="1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2</a:t>
            </a:r>
            <a:endParaRPr sz="1500" b="1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2524125" y="4733925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20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翻列表</a:t>
            </a:r>
            <a:endParaRPr sz="202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矩形 74"/>
          <p:cNvSpPr>
            <a:spLocks noGrp="1"/>
          </p:cNvSpPr>
          <p:nvPr/>
        </p:nvSpPr>
        <p:spPr>
          <a:xfrm>
            <a:off x="2000250" y="5238750"/>
            <a:ext cx="36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500" b="1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3</a:t>
            </a:r>
            <a:endParaRPr sz="1500" b="1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2524125" y="5210175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20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比价格</a:t>
            </a:r>
            <a:endParaRPr sz="202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2000250" y="5715000"/>
            <a:ext cx="36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500" b="1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4</a:t>
            </a:r>
            <a:endParaRPr sz="1500" b="1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2524125" y="5686425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20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看评论</a:t>
            </a:r>
            <a:endParaRPr sz="202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2000250" y="6191250"/>
            <a:ext cx="36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500" b="1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5</a:t>
            </a:r>
            <a:endParaRPr sz="1500" b="1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2524125" y="6162675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2025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自己决策</a:t>
            </a:r>
            <a:endParaRPr sz="2025" b="0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圆角矩形 80"/>
          <p:cNvSpPr>
            <a:spLocks noGrp="1"/>
          </p:cNvSpPr>
          <p:nvPr/>
        </p:nvSpPr>
        <p:spPr>
          <a:xfrm>
            <a:off x="10668000" y="4257675"/>
            <a:ext cx="400050" cy="323850"/>
          </a:xfrm>
          <a:prstGeom prst="roundRect">
            <a:avLst>
              <a:gd name="adj" fmla="val 50000"/>
            </a:avLst>
          </a:prstGeom>
          <a:solidFill>
            <a:srgbClr val="00D4FF">
              <a:alpha val="14000"/>
            </a:srgbClr>
          </a:solidFill>
          <a:ln w="9525">
            <a:solidFill>
              <a:srgbClr val="00D4FF">
                <a:alpha val="45000"/>
              </a:srgbClr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12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2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11334750" y="4229100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2025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Agent 流水线协作</a:t>
            </a:r>
            <a:r>
              <a:rPr lang="en-US" sz="2025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2025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拍照语音</a:t>
            </a:r>
            <a:r>
              <a:rPr lang="zh-CN" altLang="en-US" sz="2025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</a:t>
            </a:r>
            <a:endParaRPr lang="zh-CN" altLang="en-US" sz="2025" b="0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圆角矩形 82"/>
          <p:cNvSpPr>
            <a:spLocks noGrp="1"/>
          </p:cNvSpPr>
          <p:nvPr/>
        </p:nvSpPr>
        <p:spPr>
          <a:xfrm>
            <a:off x="10668000" y="4733925"/>
            <a:ext cx="400050" cy="323850"/>
          </a:xfrm>
          <a:prstGeom prst="roundRect">
            <a:avLst>
              <a:gd name="adj" fmla="val 50000"/>
            </a:avLst>
          </a:prstGeom>
          <a:solidFill>
            <a:srgbClr val="00D4FF">
              <a:alpha val="14000"/>
            </a:srgbClr>
          </a:solidFill>
          <a:ln w="9525">
            <a:solidFill>
              <a:srgbClr val="00D4FF">
                <a:alpha val="45000"/>
              </a:srgbClr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12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11334750" y="4705350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2025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语义检索 + 精排</a:t>
            </a:r>
            <a:endParaRPr sz="2025" b="0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圆角矩形 84"/>
          <p:cNvSpPr>
            <a:spLocks noGrp="1"/>
          </p:cNvSpPr>
          <p:nvPr/>
        </p:nvSpPr>
        <p:spPr>
          <a:xfrm>
            <a:off x="10668000" y="5210175"/>
            <a:ext cx="400050" cy="323850"/>
          </a:xfrm>
          <a:prstGeom prst="roundRect">
            <a:avLst>
              <a:gd name="adj" fmla="val 50000"/>
            </a:avLst>
          </a:prstGeom>
          <a:solidFill>
            <a:srgbClr val="00D4FF">
              <a:alpha val="14000"/>
            </a:srgbClr>
          </a:solidFill>
          <a:ln w="9525">
            <a:solidFill>
              <a:srgbClr val="00D4FF">
                <a:alpha val="45000"/>
              </a:srgbClr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12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11334750" y="5181600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2025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7维证据评分</a:t>
            </a:r>
            <a:endParaRPr sz="2025" b="0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圆角矩形 86"/>
          <p:cNvSpPr>
            <a:spLocks noGrp="1"/>
          </p:cNvSpPr>
          <p:nvPr/>
        </p:nvSpPr>
        <p:spPr>
          <a:xfrm>
            <a:off x="10668000" y="5686425"/>
            <a:ext cx="400050" cy="323850"/>
          </a:xfrm>
          <a:prstGeom prst="roundRect">
            <a:avLst>
              <a:gd name="adj" fmla="val 50000"/>
            </a:avLst>
          </a:prstGeom>
          <a:solidFill>
            <a:srgbClr val="00D4FF">
              <a:alpha val="14000"/>
            </a:srgbClr>
          </a:solidFill>
          <a:ln w="9525">
            <a:solidFill>
              <a:srgbClr val="00D4FF">
                <a:alpha val="45000"/>
              </a:srgbClr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12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2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矩形 87"/>
          <p:cNvSpPr>
            <a:spLocks noGrp="1"/>
          </p:cNvSpPr>
          <p:nvPr/>
        </p:nvSpPr>
        <p:spPr>
          <a:xfrm>
            <a:off x="11334750" y="5657850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2025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流式可解释推荐</a:t>
            </a:r>
            <a:endParaRPr sz="2025" b="0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圆角矩形 88"/>
          <p:cNvSpPr>
            <a:spLocks noGrp="1"/>
          </p:cNvSpPr>
          <p:nvPr/>
        </p:nvSpPr>
        <p:spPr>
          <a:xfrm>
            <a:off x="10668000" y="6162675"/>
            <a:ext cx="400050" cy="323850"/>
          </a:xfrm>
          <a:prstGeom prst="roundRect">
            <a:avLst>
              <a:gd name="adj" fmla="val 50000"/>
            </a:avLst>
          </a:prstGeom>
          <a:solidFill>
            <a:srgbClr val="00D4FF">
              <a:alpha val="14000"/>
            </a:srgbClr>
          </a:solidFill>
          <a:ln w="9525">
            <a:solidFill>
              <a:srgbClr val="00D4FF">
                <a:alpha val="45000"/>
              </a:srgbClr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12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2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11334750" y="6134100"/>
            <a:ext cx="457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2025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一句话加购下单</a:t>
            </a:r>
            <a:endParaRPr sz="2025" b="0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圆角矩形 90"/>
          <p:cNvSpPr>
            <a:spLocks noGrp="1"/>
          </p:cNvSpPr>
          <p:nvPr/>
        </p:nvSpPr>
        <p:spPr>
          <a:xfrm>
            <a:off x="2000250" y="6858000"/>
            <a:ext cx="5048250" cy="990600"/>
          </a:xfrm>
          <a:prstGeom prst="roundRect">
            <a:avLst>
              <a:gd name="adj" fmla="val 13462"/>
            </a:avLst>
          </a:prstGeom>
          <a:solidFill>
            <a:srgbClr val="161B22">
              <a:alpha val="8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2" name="矩形 91"/>
          <p:cNvSpPr>
            <a:spLocks noGrp="1"/>
          </p:cNvSpPr>
          <p:nvPr/>
        </p:nvSpPr>
        <p:spPr>
          <a:xfrm>
            <a:off x="2171700" y="6957695"/>
            <a:ext cx="4705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3150" b="1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3150" b="1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10-20 分钟</a:t>
            </a:r>
            <a:endParaRPr sz="3150" b="1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2171700" y="7505700"/>
            <a:ext cx="4705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传统搜索决策耗时</a:t>
            </a:r>
            <a:endParaRPr sz="135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圆角矩形 93"/>
          <p:cNvSpPr>
            <a:spLocks noGrp="1"/>
          </p:cNvSpPr>
          <p:nvPr/>
        </p:nvSpPr>
        <p:spPr>
          <a:xfrm>
            <a:off x="10763250" y="6858000"/>
            <a:ext cx="5048250" cy="990600"/>
          </a:xfrm>
          <a:prstGeom prst="roundRect">
            <a:avLst>
              <a:gd name="adj" fmla="val 13462"/>
            </a:avLst>
          </a:prstGeom>
          <a:solidFill>
            <a:srgbClr val="161B22">
              <a:alpha val="8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5" name="矩形 94"/>
          <p:cNvSpPr>
            <a:spLocks noGrp="1"/>
          </p:cNvSpPr>
          <p:nvPr/>
        </p:nvSpPr>
        <p:spPr>
          <a:xfrm>
            <a:off x="10934700" y="6957695"/>
            <a:ext cx="4705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345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lang="en-US" sz="345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1</a:t>
            </a:r>
            <a:r>
              <a:rPr sz="345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-5 秒</a:t>
            </a:r>
            <a:endParaRPr sz="3450" b="1">
              <a:solidFill>
                <a:srgbClr val="00D4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10934700" y="7505700"/>
            <a:ext cx="4705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OmniCart 推荐耗时</a:t>
            </a:r>
            <a:endParaRPr sz="135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117"/>
              </a:gs>
              <a:gs pos="46000">
                <a:srgbClr val="11111F"/>
              </a:gs>
              <a:gs pos="100000">
                <a:srgbClr val="06151A"/>
              </a:gs>
            </a:gsLst>
            <a:lin ang="7800000"/>
          </a:gradFill>
          <a:ln w="0">
            <a:noFill/>
            <a:prstDash val="solid"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-3429000" y="-3143250"/>
            <a:ext cx="9334500" cy="8382000"/>
          </a:xfrm>
          <a:prstGeom prst="ellipse">
            <a:avLst/>
          </a:prstGeom>
          <a:gradFill>
            <a:gsLst>
              <a:gs pos="0">
                <a:srgbClr val="A855F7">
                  <a:alpha val="30000"/>
                </a:srgbClr>
              </a:gs>
              <a:gs pos="42000">
                <a:srgbClr val="7C3AED">
                  <a:alpha val="14000"/>
                </a:srgbClr>
              </a:gs>
              <a:gs pos="74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10572750" y="-2476500"/>
            <a:ext cx="9906000" cy="8572500"/>
          </a:xfrm>
          <a:prstGeom prst="ellipse">
            <a:avLst/>
          </a:prstGeom>
          <a:gradFill>
            <a:gsLst>
              <a:gs pos="0">
                <a:srgbClr val="60A5FA">
                  <a:alpha val="22000"/>
                </a:srgbClr>
              </a:gs>
              <a:gs pos="46000">
                <a:srgbClr val="00D4FF">
                  <a:alpha val="9000"/>
                </a:srgbClr>
              </a:gs>
              <a:gs pos="78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5715000" y="6477000"/>
            <a:ext cx="7810500" cy="4953000"/>
          </a:xfrm>
          <a:prstGeom prst="ellipse">
            <a:avLst/>
          </a:prstGeom>
          <a:gradFill>
            <a:gsLst>
              <a:gs pos="0">
                <a:srgbClr val="34D399">
                  <a:alpha val="13000"/>
                </a:srgbClr>
              </a:gs>
              <a:gs pos="72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71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143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714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2286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2857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3429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4000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4572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5143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5715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6286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6858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7429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8001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8572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9144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9715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10287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10858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11430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12001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12573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13144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13716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14287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14859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15430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16002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16573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17145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17716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18288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9" name="直接连接符 38"/>
          <p:cNvSpPr>
            <a:spLocks noGrp="1"/>
          </p:cNvSpPr>
          <p:nvPr/>
        </p:nvSpPr>
        <p:spPr>
          <a:xfrm>
            <a:off x="0" y="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0" y="571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0" y="1143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0" y="1714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3" name="直接连接符 42"/>
          <p:cNvSpPr>
            <a:spLocks noGrp="1"/>
          </p:cNvSpPr>
          <p:nvPr/>
        </p:nvSpPr>
        <p:spPr>
          <a:xfrm>
            <a:off x="0" y="2286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4" name="直接连接符 43"/>
          <p:cNvSpPr>
            <a:spLocks noGrp="1"/>
          </p:cNvSpPr>
          <p:nvPr/>
        </p:nvSpPr>
        <p:spPr>
          <a:xfrm>
            <a:off x="0" y="2857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5" name="直接连接符 44"/>
          <p:cNvSpPr>
            <a:spLocks noGrp="1"/>
          </p:cNvSpPr>
          <p:nvPr/>
        </p:nvSpPr>
        <p:spPr>
          <a:xfrm>
            <a:off x="0" y="3429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0" y="4000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0" y="4572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0" y="5143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9" name="直接连接符 48"/>
          <p:cNvSpPr>
            <a:spLocks noGrp="1"/>
          </p:cNvSpPr>
          <p:nvPr/>
        </p:nvSpPr>
        <p:spPr>
          <a:xfrm>
            <a:off x="0" y="5715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0" name="直接连接符 49"/>
          <p:cNvSpPr>
            <a:spLocks noGrp="1"/>
          </p:cNvSpPr>
          <p:nvPr/>
        </p:nvSpPr>
        <p:spPr>
          <a:xfrm>
            <a:off x="0" y="6286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1" name="直接连接符 50"/>
          <p:cNvSpPr>
            <a:spLocks noGrp="1"/>
          </p:cNvSpPr>
          <p:nvPr/>
        </p:nvSpPr>
        <p:spPr>
          <a:xfrm>
            <a:off x="0" y="6858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2" name="直接连接符 51"/>
          <p:cNvSpPr>
            <a:spLocks noGrp="1"/>
          </p:cNvSpPr>
          <p:nvPr/>
        </p:nvSpPr>
        <p:spPr>
          <a:xfrm>
            <a:off x="0" y="7429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3" name="直接连接符 52"/>
          <p:cNvSpPr>
            <a:spLocks noGrp="1"/>
          </p:cNvSpPr>
          <p:nvPr/>
        </p:nvSpPr>
        <p:spPr>
          <a:xfrm>
            <a:off x="0" y="8001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4" name="直接连接符 53"/>
          <p:cNvSpPr>
            <a:spLocks noGrp="1"/>
          </p:cNvSpPr>
          <p:nvPr/>
        </p:nvSpPr>
        <p:spPr>
          <a:xfrm>
            <a:off x="0" y="8572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5" name="直接连接符 54"/>
          <p:cNvSpPr>
            <a:spLocks noGrp="1"/>
          </p:cNvSpPr>
          <p:nvPr/>
        </p:nvSpPr>
        <p:spPr>
          <a:xfrm>
            <a:off x="0" y="9144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6" name="直接连接符 55"/>
          <p:cNvSpPr>
            <a:spLocks noGrp="1"/>
          </p:cNvSpPr>
          <p:nvPr/>
        </p:nvSpPr>
        <p:spPr>
          <a:xfrm>
            <a:off x="0" y="9715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7" name="直接连接符 56"/>
          <p:cNvSpPr>
            <a:spLocks noGrp="1"/>
          </p:cNvSpPr>
          <p:nvPr/>
        </p:nvSpPr>
        <p:spPr>
          <a:xfrm>
            <a:off x="0" y="10287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117">
                  <a:alpha val="0"/>
                </a:srgbClr>
              </a:gs>
              <a:gs pos="100000">
                <a:srgbClr val="0D1117">
                  <a:alpha val="4500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59" name="圆角矩形 58"/>
          <p:cNvSpPr>
            <a:spLocks noGrp="1"/>
          </p:cNvSpPr>
          <p:nvPr/>
        </p:nvSpPr>
        <p:spPr>
          <a:xfrm>
            <a:off x="819150" y="590550"/>
            <a:ext cx="3524250" cy="419100"/>
          </a:xfrm>
          <a:prstGeom prst="roundRect">
            <a:avLst>
              <a:gd name="adj" fmla="val 50000"/>
            </a:avLst>
          </a:prstGeom>
          <a:solidFill>
            <a:srgbClr val="A855F7">
              <a:alpha val="18000"/>
            </a:srgbClr>
          </a:solidFill>
          <a:ln w="9525">
            <a:solidFill>
              <a:srgbClr val="A855F7">
                <a:alpha val="55000"/>
              </a:srgbClr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13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P3 · Architecture</a:t>
            </a:r>
            <a:endParaRPr sz="1350" b="1">
              <a:solidFill>
                <a:srgbClr val="C084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819150" y="1123950"/>
            <a:ext cx="12382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buNone/>
              <a:defRPr sz="4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gradFill>
                  <a:gsLst>
                    <a:gs pos="0">
                      <a:srgbClr val="A855F7"/>
                    </a:gs>
                    <a:gs pos="52000">
                      <a:srgbClr val="60A5FA"/>
                    </a:gs>
                    <a:gs pos="100000">
                      <a:srgbClr val="34D399"/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系统架构全景</a:t>
            </a:r>
            <a:endParaRPr sz="4200" b="1">
              <a:gradFill>
                <a:gsLst>
                  <a:gs pos="0">
                    <a:srgbClr val="A855F7"/>
                  </a:gs>
                  <a:gs pos="52000">
                    <a:srgbClr val="60A5FA"/>
                  </a:gs>
                  <a:gs pos="100000">
                    <a:srgbClr val="34D399"/>
                  </a:gs>
                </a:gsLst>
                <a:lin ang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857250" y="1847850"/>
            <a:ext cx="1314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Android Native · FastAPI · Qwen 全栈模型 · PostgreSQL/Qdrant/Redis</a:t>
            </a:r>
            <a:endParaRPr sz="180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819150" y="96202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OmniCart Agent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16192500" y="96202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03 / 16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4" name="直接连接符 63"/>
          <p:cNvSpPr>
            <a:spLocks noGrp="1"/>
          </p:cNvSpPr>
          <p:nvPr/>
        </p:nvSpPr>
        <p:spPr>
          <a:xfrm>
            <a:off x="819150" y="9486900"/>
            <a:ext cx="16649700" cy="0"/>
          </a:xfrm>
          <a:prstGeom prst="line">
            <a:avLst/>
          </a:prstGeom>
          <a:noFill/>
          <a:ln w="9525">
            <a:solidFill>
              <a:srgbClr val="30363D">
                <a:alpha val="70000"/>
              </a:srgbClr>
            </a:solidFill>
            <a:prstDash val="solid"/>
          </a:ln>
        </p:spPr>
      </p:sp>
      <p:sp>
        <p:nvSpPr>
          <p:cNvPr id="65" name="圆角矩形 64"/>
          <p:cNvSpPr>
            <a:spLocks noGrp="1"/>
          </p:cNvSpPr>
          <p:nvPr/>
        </p:nvSpPr>
        <p:spPr>
          <a:xfrm>
            <a:off x="952500" y="2266950"/>
            <a:ext cx="2714625" cy="342900"/>
          </a:xfrm>
          <a:prstGeom prst="roundRect">
            <a:avLst>
              <a:gd name="adj" fmla="val 50000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1125" b="1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Android Native</a:t>
            </a:r>
            <a:endParaRPr sz="1125" b="1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圆角矩形 65"/>
          <p:cNvSpPr>
            <a:spLocks noGrp="1"/>
          </p:cNvSpPr>
          <p:nvPr/>
        </p:nvSpPr>
        <p:spPr>
          <a:xfrm>
            <a:off x="4095750" y="2266950"/>
            <a:ext cx="2714625" cy="342900"/>
          </a:xfrm>
          <a:prstGeom prst="roundRect">
            <a:avLst>
              <a:gd name="adj" fmla="val 50000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1125" b="1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FastAPI Backend</a:t>
            </a:r>
            <a:endParaRPr sz="1125" b="1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圆角矩形 66"/>
          <p:cNvSpPr>
            <a:spLocks noGrp="1"/>
          </p:cNvSpPr>
          <p:nvPr/>
        </p:nvSpPr>
        <p:spPr>
          <a:xfrm>
            <a:off x="7239000" y="2266950"/>
            <a:ext cx="2714625" cy="342900"/>
          </a:xfrm>
          <a:prstGeom prst="roundRect">
            <a:avLst>
              <a:gd name="adj" fmla="val 50000"/>
            </a:avLst>
          </a:prstGeom>
          <a:solidFill>
            <a:srgbClr val="A855F7">
              <a:alpha val="18000"/>
            </a:srgbClr>
          </a:solidFill>
          <a:ln w="9525">
            <a:solidFill>
              <a:srgbClr val="A855F7">
                <a:alpha val="45000"/>
              </a:srgbClr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1125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 全栈模型</a:t>
            </a:r>
            <a:endParaRPr sz="1125" b="1">
              <a:solidFill>
                <a:srgbClr val="C084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圆角矩形 67"/>
          <p:cNvSpPr>
            <a:spLocks noGrp="1"/>
          </p:cNvSpPr>
          <p:nvPr/>
        </p:nvSpPr>
        <p:spPr>
          <a:xfrm>
            <a:off x="10382250" y="2266950"/>
            <a:ext cx="2714625" cy="342900"/>
          </a:xfrm>
          <a:prstGeom prst="roundRect">
            <a:avLst>
              <a:gd name="adj" fmla="val 50000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1125" b="1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PostgreSQL+Qdrant+Redis</a:t>
            </a:r>
            <a:endParaRPr sz="1125" b="1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圆角矩形 68"/>
          <p:cNvSpPr>
            <a:spLocks noGrp="1"/>
          </p:cNvSpPr>
          <p:nvPr/>
        </p:nvSpPr>
        <p:spPr>
          <a:xfrm>
            <a:off x="13525500" y="2266950"/>
            <a:ext cx="2714625" cy="342900"/>
          </a:xfrm>
          <a:prstGeom prst="roundRect">
            <a:avLst>
              <a:gd name="adj" fmla="val 50000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1125" b="1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 Compose</a:t>
            </a:r>
            <a:endParaRPr sz="1125" b="1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圆角矩形 69"/>
          <p:cNvSpPr>
            <a:spLocks noGrp="1"/>
          </p:cNvSpPr>
          <p:nvPr/>
        </p:nvSpPr>
        <p:spPr>
          <a:xfrm>
            <a:off x="1428750" y="2857500"/>
            <a:ext cx="11620500" cy="2286000"/>
          </a:xfrm>
          <a:prstGeom prst="roundRect">
            <a:avLst>
              <a:gd name="adj" fmla="val 9167"/>
            </a:avLst>
          </a:prstGeom>
          <a:solidFill>
            <a:srgbClr val="161B22">
              <a:alpha val="72000"/>
            </a:srgbClr>
          </a:solidFill>
          <a:ln w="19050">
            <a:solidFill>
              <a:srgbClr val="A855F7">
                <a:alpha val="55000"/>
              </a:srgbClr>
            </a:solidFill>
            <a:prstDash val="solid"/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1714500" y="3095625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0F6F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100" b="1">
                <a:solidFill>
                  <a:srgbClr val="F0F6F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Android Native Client</a:t>
            </a:r>
            <a:endParaRPr sz="2100" b="1">
              <a:solidFill>
                <a:srgbClr val="F0F6F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1714500" y="3476625"/>
            <a:ext cx="609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500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Kotlin · Jetpack Compose · Material 3 · MVVM</a:t>
            </a:r>
            <a:endParaRPr sz="1500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3" name="圆角矩形 72"/>
          <p:cNvSpPr>
            <a:spLocks noGrp="1"/>
          </p:cNvSpPr>
          <p:nvPr/>
        </p:nvSpPr>
        <p:spPr>
          <a:xfrm>
            <a:off x="2333625" y="4000500"/>
            <a:ext cx="1619250" cy="590550"/>
          </a:xfrm>
          <a:prstGeom prst="roundRect">
            <a:avLst>
              <a:gd name="adj" fmla="val 22581"/>
            </a:avLst>
          </a:prstGeom>
          <a:solidFill>
            <a:srgbClr val="0D1117">
              <a:alpha val="80000"/>
            </a:srgbClr>
          </a:solidFill>
          <a:ln w="9525">
            <a:solidFill>
              <a:srgbClr val="30363D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6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商品</a:t>
            </a:r>
            <a:endParaRPr sz="16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圆角矩形 73"/>
          <p:cNvSpPr>
            <a:spLocks noGrp="1"/>
          </p:cNvSpPr>
          <p:nvPr/>
        </p:nvSpPr>
        <p:spPr>
          <a:xfrm>
            <a:off x="4524375" y="4000500"/>
            <a:ext cx="1619250" cy="590550"/>
          </a:xfrm>
          <a:prstGeom prst="roundRect">
            <a:avLst>
              <a:gd name="adj" fmla="val 22581"/>
            </a:avLst>
          </a:prstGeom>
          <a:solidFill>
            <a:srgbClr val="0D1117">
              <a:alpha val="80000"/>
            </a:srgbClr>
          </a:solidFill>
          <a:ln w="9525">
            <a:solidFill>
              <a:srgbClr val="30363D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豆仔</a:t>
            </a:r>
            <a:endParaRPr sz="165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6715125" y="4000500"/>
            <a:ext cx="1619250" cy="590550"/>
          </a:xfrm>
          <a:prstGeom prst="roundRect">
            <a:avLst>
              <a:gd name="adj" fmla="val 22581"/>
            </a:avLst>
          </a:prstGeom>
          <a:solidFill>
            <a:srgbClr val="0D1117">
              <a:alpha val="80000"/>
            </a:srgbClr>
          </a:solidFill>
          <a:ln w="9525">
            <a:solidFill>
              <a:srgbClr val="30363D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6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购物车</a:t>
            </a:r>
            <a:endParaRPr sz="16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圆角矩形 75"/>
          <p:cNvSpPr>
            <a:spLocks noGrp="1"/>
          </p:cNvSpPr>
          <p:nvPr/>
        </p:nvSpPr>
        <p:spPr>
          <a:xfrm>
            <a:off x="8905875" y="4000500"/>
            <a:ext cx="1619250" cy="590550"/>
          </a:xfrm>
          <a:prstGeom prst="roundRect">
            <a:avLst>
              <a:gd name="adj" fmla="val 22581"/>
            </a:avLst>
          </a:prstGeom>
          <a:solidFill>
            <a:srgbClr val="0D1117">
              <a:alpha val="80000"/>
            </a:srgbClr>
          </a:solidFill>
          <a:ln w="9525">
            <a:solidFill>
              <a:srgbClr val="30363D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6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我的</a:t>
            </a:r>
            <a:endParaRPr sz="16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1714500" y="4743450"/>
            <a:ext cx="723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文字输入 · 拍照识图 · 语音导购</a:t>
            </a:r>
            <a:endParaRPr sz="150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圆角矩形 77"/>
          <p:cNvSpPr>
            <a:spLocks noGrp="1"/>
          </p:cNvSpPr>
          <p:nvPr/>
        </p:nvSpPr>
        <p:spPr>
          <a:xfrm>
            <a:off x="1428750" y="5393055"/>
            <a:ext cx="11620500" cy="3118485"/>
          </a:xfrm>
          <a:prstGeom prst="roundRect">
            <a:avLst>
              <a:gd name="adj" fmla="val 9362"/>
            </a:avLst>
          </a:prstGeom>
          <a:solidFill>
            <a:srgbClr val="0D1117">
              <a:alpha val="88000"/>
            </a:srgbClr>
          </a:solidFill>
          <a:ln w="19050">
            <a:solidFill>
              <a:srgbClr val="00D4FF">
                <a:alpha val="4600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1655445" y="54483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0F6F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100" b="1">
                <a:solidFill>
                  <a:srgbClr val="F0F6F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FastAPI Backend</a:t>
            </a:r>
            <a:endParaRPr sz="2100" b="1">
              <a:solidFill>
                <a:srgbClr val="F0F6F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0" name="圆角矩形 79"/>
          <p:cNvSpPr>
            <a:spLocks noGrp="1"/>
          </p:cNvSpPr>
          <p:nvPr/>
        </p:nvSpPr>
        <p:spPr>
          <a:xfrm>
            <a:off x="3312160" y="5839460"/>
            <a:ext cx="1428750" cy="514350"/>
          </a:xfrm>
          <a:prstGeom prst="roundRect">
            <a:avLst>
              <a:gd name="adj" fmla="val 25926"/>
            </a:avLst>
          </a:prstGeom>
          <a:solidFill>
            <a:srgbClr val="00D4FF">
              <a:alpha val="11000"/>
            </a:srgbClr>
          </a:solidFill>
          <a:ln w="9525">
            <a:solidFill>
              <a:srgbClr val="00D4FF">
                <a:alpha val="42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START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圆角矩形 80"/>
          <p:cNvSpPr>
            <a:spLocks noGrp="1"/>
          </p:cNvSpPr>
          <p:nvPr/>
        </p:nvSpPr>
        <p:spPr>
          <a:xfrm>
            <a:off x="5111750" y="5839460"/>
            <a:ext cx="1428750" cy="514350"/>
          </a:xfrm>
          <a:prstGeom prst="roundRect">
            <a:avLst>
              <a:gd name="adj" fmla="val 25926"/>
            </a:avLst>
          </a:prstGeom>
          <a:solidFill>
            <a:srgbClr val="00D4FF">
              <a:alpha val="11000"/>
            </a:srgbClr>
          </a:solidFill>
          <a:ln w="9525">
            <a:solidFill>
              <a:srgbClr val="00D4FF">
                <a:alpha val="42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Router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圆角矩形 81"/>
          <p:cNvSpPr>
            <a:spLocks noGrp="1"/>
          </p:cNvSpPr>
          <p:nvPr/>
        </p:nvSpPr>
        <p:spPr>
          <a:xfrm>
            <a:off x="6939915" y="5839460"/>
            <a:ext cx="1428750" cy="514350"/>
          </a:xfrm>
          <a:prstGeom prst="roundRect">
            <a:avLst>
              <a:gd name="adj" fmla="val 25926"/>
            </a:avLst>
          </a:prstGeom>
          <a:solidFill>
            <a:srgbClr val="00D4FF">
              <a:alpha val="11000"/>
            </a:srgbClr>
          </a:solidFill>
          <a:ln w="9525">
            <a:solidFill>
              <a:srgbClr val="00D4FF">
                <a:alpha val="42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Visual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圆角矩形 82"/>
          <p:cNvSpPr>
            <a:spLocks noGrp="1"/>
          </p:cNvSpPr>
          <p:nvPr/>
        </p:nvSpPr>
        <p:spPr>
          <a:xfrm>
            <a:off x="8749665" y="5839460"/>
            <a:ext cx="1428750" cy="514350"/>
          </a:xfrm>
          <a:prstGeom prst="roundRect">
            <a:avLst>
              <a:gd name="adj" fmla="val 25926"/>
            </a:avLst>
          </a:prstGeom>
          <a:solidFill>
            <a:srgbClr val="00D4FF">
              <a:alpha val="11000"/>
            </a:srgbClr>
          </a:solidFill>
          <a:ln w="9525">
            <a:solidFill>
              <a:srgbClr val="00D4FF">
                <a:alpha val="42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Retrieval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圆角矩形 83"/>
          <p:cNvSpPr>
            <a:spLocks noGrp="1"/>
          </p:cNvSpPr>
          <p:nvPr/>
        </p:nvSpPr>
        <p:spPr>
          <a:xfrm>
            <a:off x="10584815" y="5838825"/>
            <a:ext cx="1428750" cy="514350"/>
          </a:xfrm>
          <a:prstGeom prst="roundRect">
            <a:avLst>
              <a:gd name="adj" fmla="val 25926"/>
            </a:avLst>
          </a:prstGeom>
          <a:solidFill>
            <a:srgbClr val="00D4FF">
              <a:alpha val="11000"/>
            </a:srgbClr>
          </a:solidFill>
          <a:ln w="9525">
            <a:solidFill>
              <a:srgbClr val="00D4FF">
                <a:alpha val="42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Reranker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0" name="直接箭头连接符 189"/>
          <p:cNvCxnSpPr>
            <a:stCxn id="80" idx="3"/>
            <a:endCxn id="81" idx="1"/>
          </p:cNvCxnSpPr>
          <p:nvPr/>
        </p:nvCxnSpPr>
        <p:spPr>
          <a:xfrm>
            <a:off x="4740910" y="6096635"/>
            <a:ext cx="370840" cy="0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91" name="直接箭头连接符 190"/>
          <p:cNvCxnSpPr>
            <a:stCxn id="81" idx="3"/>
            <a:endCxn id="82" idx="1"/>
          </p:cNvCxnSpPr>
          <p:nvPr/>
        </p:nvCxnSpPr>
        <p:spPr>
          <a:xfrm>
            <a:off x="6540500" y="6096635"/>
            <a:ext cx="399415" cy="0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92" name="直接箭头连接符 191"/>
          <p:cNvCxnSpPr>
            <a:stCxn id="82" idx="3"/>
            <a:endCxn id="83" idx="1"/>
          </p:cNvCxnSpPr>
          <p:nvPr/>
        </p:nvCxnSpPr>
        <p:spPr>
          <a:xfrm>
            <a:off x="8368665" y="6096635"/>
            <a:ext cx="381000" cy="0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88" name="圆角矩形 87"/>
          <p:cNvSpPr>
            <a:spLocks noGrp="1"/>
          </p:cNvSpPr>
          <p:nvPr/>
        </p:nvSpPr>
        <p:spPr>
          <a:xfrm>
            <a:off x="8712200" y="7447915"/>
            <a:ext cx="1524000" cy="514350"/>
          </a:xfrm>
          <a:prstGeom prst="roundRect">
            <a:avLst>
              <a:gd name="adj" fmla="val 29167"/>
            </a:avLst>
          </a:prstGeom>
          <a:solidFill>
            <a:srgbClr val="A855F7">
              <a:alpha val="13000"/>
            </a:srgbClr>
          </a:solidFill>
          <a:ln w="9525">
            <a:solidFill>
              <a:srgbClr val="A855F7">
                <a:alpha val="45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Decision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圆角矩形 88"/>
          <p:cNvSpPr>
            <a:spLocks noGrp="1"/>
          </p:cNvSpPr>
          <p:nvPr/>
        </p:nvSpPr>
        <p:spPr>
          <a:xfrm>
            <a:off x="5111750" y="7447280"/>
            <a:ext cx="1524000" cy="514985"/>
          </a:xfrm>
          <a:prstGeom prst="roundRect">
            <a:avLst>
              <a:gd name="adj" fmla="val 29167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>
                <a:alpha val="45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Response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6" name="直接箭头连接符 195"/>
          <p:cNvCxnSpPr>
            <a:stCxn id="88" idx="1"/>
            <a:endCxn id="89" idx="3"/>
          </p:cNvCxnSpPr>
          <p:nvPr/>
        </p:nvCxnSpPr>
        <p:spPr>
          <a:xfrm flipH="1">
            <a:off x="6635750" y="7705090"/>
            <a:ext cx="2076450" cy="0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92" name="矩形 91"/>
          <p:cNvSpPr>
            <a:spLocks noGrp="1"/>
          </p:cNvSpPr>
          <p:nvPr/>
        </p:nvSpPr>
        <p:spPr>
          <a:xfrm>
            <a:off x="1727200" y="8168005"/>
            <a:ext cx="590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FollowUpEngine · ContextCompressor · 30+ API</a:t>
            </a:r>
            <a:endParaRPr sz="1350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cxnSp>
        <p:nvCxnSpPr>
          <p:cNvPr id="198" name="直接箭头连接符 197"/>
          <p:cNvCxnSpPr>
            <a:stCxn id="70" idx="2"/>
            <a:endCxn id="78" idx="0"/>
          </p:cNvCxnSpPr>
          <p:nvPr/>
        </p:nvCxnSpPr>
        <p:spPr>
          <a:xfrm>
            <a:off x="7239000" y="5143500"/>
            <a:ext cx="0" cy="249555"/>
          </a:xfrm>
          <a:prstGeom prst="straightConnector1">
            <a:avLst/>
          </a:prstGeom>
          <a:ln w="28575">
            <a:solidFill>
              <a:srgbClr val="60A5FA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94" name="矩形 93"/>
          <p:cNvSpPr>
            <a:spLocks noGrp="1"/>
          </p:cNvSpPr>
          <p:nvPr/>
        </p:nvSpPr>
        <p:spPr>
          <a:xfrm>
            <a:off x="7667625" y="5448300"/>
            <a:ext cx="304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0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HTTP REST + SSE Stream</a:t>
            </a:r>
            <a:endParaRPr sz="1350" b="0">
              <a:solidFill>
                <a:srgbClr val="00D4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5" name="圆角矩形 94"/>
          <p:cNvSpPr>
            <a:spLocks noGrp="1"/>
          </p:cNvSpPr>
          <p:nvPr/>
        </p:nvSpPr>
        <p:spPr>
          <a:xfrm>
            <a:off x="2333625" y="8648700"/>
            <a:ext cx="2667000" cy="800100"/>
          </a:xfrm>
          <a:prstGeom prst="roundRect">
            <a:avLst>
              <a:gd name="adj" fmla="val 19048"/>
            </a:avLst>
          </a:prstGeom>
          <a:solidFill>
            <a:srgbClr val="3B82F6">
              <a:alpha val="14000"/>
            </a:srgbClr>
          </a:solidFill>
          <a:ln w="13335">
            <a:solidFill>
              <a:srgbClr val="3B82F6">
                <a:alpha val="58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20000"/>
              </a:lnSpc>
              <a:buNone/>
              <a:defRPr sz="16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PostgreSQL16 </a:t>
            </a:r>
            <a:endParaRPr sz="16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buNone/>
              <a:defRPr sz="16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7张业务表</a:t>
            </a:r>
            <a:endParaRPr sz="16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圆角矩形 95"/>
          <p:cNvSpPr>
            <a:spLocks noGrp="1"/>
          </p:cNvSpPr>
          <p:nvPr/>
        </p:nvSpPr>
        <p:spPr>
          <a:xfrm>
            <a:off x="5762625" y="8648700"/>
            <a:ext cx="2667000" cy="800100"/>
          </a:xfrm>
          <a:prstGeom prst="roundRect">
            <a:avLst>
              <a:gd name="adj" fmla="val 19048"/>
            </a:avLst>
          </a:prstGeom>
          <a:solidFill>
            <a:srgbClr val="22C55E">
              <a:alpha val="14000"/>
            </a:srgbClr>
          </a:solidFill>
          <a:ln w="13335">
            <a:solidFill>
              <a:srgbClr val="22C55E">
                <a:alpha val="58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20000"/>
              </a:lnSpc>
              <a:buNone/>
              <a:defRPr sz="16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Qdrant</a:t>
            </a:r>
            <a:endParaRPr sz="16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buNone/>
              <a:defRPr sz="16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1024d COSINE</a:t>
            </a:r>
            <a:endParaRPr sz="16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圆角矩形 96"/>
          <p:cNvSpPr>
            <a:spLocks noGrp="1"/>
          </p:cNvSpPr>
          <p:nvPr/>
        </p:nvSpPr>
        <p:spPr>
          <a:xfrm>
            <a:off x="9191625" y="8648700"/>
            <a:ext cx="2667000" cy="800100"/>
          </a:xfrm>
          <a:prstGeom prst="roundRect">
            <a:avLst>
              <a:gd name="adj" fmla="val 19048"/>
            </a:avLst>
          </a:prstGeom>
          <a:solidFill>
            <a:srgbClr val="EF4444">
              <a:alpha val="14000"/>
            </a:srgbClr>
          </a:solidFill>
          <a:ln w="13335">
            <a:solidFill>
              <a:srgbClr val="EF4444">
                <a:alpha val="58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20000"/>
              </a:lnSpc>
              <a:buNone/>
              <a:defRPr sz="16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Redis7 </a:t>
            </a:r>
            <a:endParaRPr sz="16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buNone/>
              <a:defRPr sz="16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四级缓存</a:t>
            </a:r>
            <a:endParaRPr sz="16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圆角矩形 97"/>
          <p:cNvSpPr>
            <a:spLocks noGrp="1"/>
          </p:cNvSpPr>
          <p:nvPr/>
        </p:nvSpPr>
        <p:spPr>
          <a:xfrm>
            <a:off x="13716000" y="2876550"/>
            <a:ext cx="3714750" cy="3905250"/>
          </a:xfrm>
          <a:prstGeom prst="roundRect">
            <a:avLst>
              <a:gd name="adj" fmla="val 4103"/>
            </a:avLst>
          </a:prstGeom>
          <a:solidFill>
            <a:srgbClr val="161B22">
              <a:alpha val="9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9" name="矩形 98"/>
          <p:cNvSpPr>
            <a:spLocks noGrp="1"/>
          </p:cNvSpPr>
          <p:nvPr/>
        </p:nvSpPr>
        <p:spPr>
          <a:xfrm>
            <a:off x="13716000" y="2876550"/>
            <a:ext cx="66675" cy="3905250"/>
          </a:xfrm>
          <a:prstGeom prst="rect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100" name="矩形 99"/>
          <p:cNvSpPr>
            <a:spLocks noGrp="1"/>
          </p:cNvSpPr>
          <p:nvPr/>
        </p:nvSpPr>
        <p:spPr>
          <a:xfrm>
            <a:off x="13963650" y="3086100"/>
            <a:ext cx="3257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 Model Stack</a:t>
            </a:r>
            <a:endParaRPr sz="180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矩形 100"/>
          <p:cNvSpPr>
            <a:spLocks noGrp="1"/>
          </p:cNvSpPr>
          <p:nvPr/>
        </p:nvSpPr>
        <p:spPr>
          <a:xfrm>
            <a:off x="13963650" y="3505200"/>
            <a:ext cx="3219450" cy="3086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5000"/>
              </a:lnSpc>
              <a:buNone/>
              <a:defRPr sz="18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qwen-turbo</a:t>
            </a:r>
            <a:endParaRPr sz="18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buNone/>
              <a:defRPr sz="18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qwen-vl-max</a:t>
            </a:r>
            <a:endParaRPr sz="18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buNone/>
              <a:defRPr sz="18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qwen3-rerank</a:t>
            </a:r>
            <a:endParaRPr sz="18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buNone/>
              <a:defRPr sz="18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text-embedding-v4</a:t>
            </a:r>
            <a:endParaRPr sz="18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5000"/>
              </a:lnSpc>
              <a:buNone/>
              <a:defRPr sz="18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qwen-omni-turbo</a:t>
            </a:r>
            <a:endParaRPr sz="18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圆角矩形 101"/>
          <p:cNvSpPr>
            <a:spLocks noGrp="1"/>
          </p:cNvSpPr>
          <p:nvPr/>
        </p:nvSpPr>
        <p:spPr>
          <a:xfrm>
            <a:off x="13716000" y="7096125"/>
            <a:ext cx="3714750" cy="1524000"/>
          </a:xfrm>
          <a:prstGeom prst="roundRect">
            <a:avLst>
              <a:gd name="adj" fmla="val 10000"/>
            </a:avLst>
          </a:prstGeom>
          <a:solidFill>
            <a:srgbClr val="161B22">
              <a:alpha val="9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3" name="矩形 102"/>
          <p:cNvSpPr>
            <a:spLocks noGrp="1"/>
          </p:cNvSpPr>
          <p:nvPr/>
        </p:nvSpPr>
        <p:spPr>
          <a:xfrm>
            <a:off x="13716000" y="7096125"/>
            <a:ext cx="66675" cy="1524000"/>
          </a:xfrm>
          <a:prstGeom prst="rect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104" name="矩形 103"/>
          <p:cNvSpPr>
            <a:spLocks noGrp="1"/>
          </p:cNvSpPr>
          <p:nvPr/>
        </p:nvSpPr>
        <p:spPr>
          <a:xfrm>
            <a:off x="13963650" y="7305675"/>
            <a:ext cx="3257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架构原则</a:t>
            </a:r>
            <a:endParaRPr sz="180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矩形 104"/>
          <p:cNvSpPr>
            <a:spLocks noGrp="1"/>
          </p:cNvSpPr>
          <p:nvPr/>
        </p:nvSpPr>
        <p:spPr>
          <a:xfrm>
            <a:off x="13963650" y="7724775"/>
            <a:ext cx="32194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Workflow-controlled Multi-Agent</a:t>
            </a:r>
            <a:endParaRPr sz="157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5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所有推荐结论绑定 evidence_ids</a:t>
            </a:r>
            <a:endParaRPr sz="157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5" name="直接箭头连接符 84"/>
          <p:cNvCxnSpPr>
            <a:stCxn id="83" idx="3"/>
            <a:endCxn id="84" idx="1"/>
          </p:cNvCxnSpPr>
          <p:nvPr/>
        </p:nvCxnSpPr>
        <p:spPr>
          <a:xfrm flipV="1">
            <a:off x="10178415" y="6096000"/>
            <a:ext cx="406400" cy="635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86" name="圆角矩形 85"/>
          <p:cNvSpPr>
            <a:spLocks noGrp="1"/>
          </p:cNvSpPr>
          <p:nvPr/>
        </p:nvSpPr>
        <p:spPr>
          <a:xfrm>
            <a:off x="5111750" y="6631305"/>
            <a:ext cx="1428750" cy="514350"/>
          </a:xfrm>
          <a:prstGeom prst="roundRect">
            <a:avLst>
              <a:gd name="adj" fmla="val 25926"/>
            </a:avLst>
          </a:prstGeom>
          <a:solidFill>
            <a:srgbClr val="00D4FF">
              <a:alpha val="11000"/>
            </a:srgbClr>
          </a:solidFill>
          <a:ln w="9525">
            <a:solidFill>
              <a:srgbClr val="00D4FF">
                <a:alpha val="42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chitchat</a:t>
            </a:r>
            <a:r>
              <a:rPr lang="zh-CN"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7" name="直接箭头连接符 86"/>
          <p:cNvCxnSpPr>
            <a:stCxn id="81" idx="2"/>
            <a:endCxn id="86" idx="0"/>
          </p:cNvCxnSpPr>
          <p:nvPr/>
        </p:nvCxnSpPr>
        <p:spPr>
          <a:xfrm>
            <a:off x="5826125" y="6353810"/>
            <a:ext cx="0" cy="277495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0" name="直接箭头连接符 89"/>
          <p:cNvCxnSpPr>
            <a:stCxn id="86" idx="2"/>
          </p:cNvCxnSpPr>
          <p:nvPr/>
        </p:nvCxnSpPr>
        <p:spPr>
          <a:xfrm>
            <a:off x="5826125" y="7145655"/>
            <a:ext cx="5715" cy="349885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91" name="圆角矩形 90"/>
          <p:cNvSpPr>
            <a:spLocks noGrp="1"/>
          </p:cNvSpPr>
          <p:nvPr/>
        </p:nvSpPr>
        <p:spPr>
          <a:xfrm>
            <a:off x="8749665" y="6631305"/>
            <a:ext cx="1428750" cy="514350"/>
          </a:xfrm>
          <a:prstGeom prst="roundRect">
            <a:avLst>
              <a:gd name="adj" fmla="val 25926"/>
            </a:avLst>
          </a:prstGeom>
          <a:solidFill>
            <a:srgbClr val="00D4FF">
              <a:alpha val="11000"/>
            </a:srgbClr>
          </a:solidFill>
          <a:ln w="9525">
            <a:solidFill>
              <a:srgbClr val="00D4FF">
                <a:alpha val="42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Evidence</a:t>
            </a:r>
            <a:endParaRPr lang="en-US" altLang="zh-CN"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Check</a:t>
            </a:r>
            <a:endParaRPr lang="en-US" altLang="zh-CN"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3" name="直接箭头连接符 92"/>
          <p:cNvCxnSpPr/>
          <p:nvPr/>
        </p:nvCxnSpPr>
        <p:spPr>
          <a:xfrm>
            <a:off x="9432290" y="6353810"/>
            <a:ext cx="5715" cy="349885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6" name="直接箭头连接符 105"/>
          <p:cNvCxnSpPr/>
          <p:nvPr/>
        </p:nvCxnSpPr>
        <p:spPr>
          <a:xfrm>
            <a:off x="9438005" y="7135495"/>
            <a:ext cx="5715" cy="349885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7" name="圆角矩形 106"/>
          <p:cNvSpPr>
            <a:spLocks noGrp="1"/>
          </p:cNvSpPr>
          <p:nvPr/>
        </p:nvSpPr>
        <p:spPr>
          <a:xfrm>
            <a:off x="3311525" y="7447915"/>
            <a:ext cx="1428750" cy="514350"/>
          </a:xfrm>
          <a:prstGeom prst="roundRect">
            <a:avLst>
              <a:gd name="adj" fmla="val 25926"/>
            </a:avLst>
          </a:prstGeom>
          <a:solidFill>
            <a:srgbClr val="00D4FF">
              <a:alpha val="11000"/>
            </a:srgbClr>
          </a:solidFill>
          <a:ln w="9525">
            <a:solidFill>
              <a:srgbClr val="00D4FF">
                <a:alpha val="42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Guar</a:t>
            </a:r>
            <a:r>
              <a:rPr lang="en-US"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endParaRPr lang="en-US"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8" name="直接箭头连接符 107"/>
          <p:cNvCxnSpPr>
            <a:stCxn id="89" idx="1"/>
            <a:endCxn id="107" idx="3"/>
          </p:cNvCxnSpPr>
          <p:nvPr/>
        </p:nvCxnSpPr>
        <p:spPr>
          <a:xfrm flipH="1">
            <a:off x="4740275" y="7705090"/>
            <a:ext cx="371475" cy="0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9" name="圆角矩形 108"/>
          <p:cNvSpPr>
            <a:spLocks noGrp="1"/>
          </p:cNvSpPr>
          <p:nvPr/>
        </p:nvSpPr>
        <p:spPr>
          <a:xfrm>
            <a:off x="1511300" y="7429500"/>
            <a:ext cx="1428750" cy="514350"/>
          </a:xfrm>
          <a:prstGeom prst="roundRect">
            <a:avLst>
              <a:gd name="adj" fmla="val 25926"/>
            </a:avLst>
          </a:prstGeom>
          <a:solidFill>
            <a:srgbClr val="00D4FF">
              <a:alpha val="11000"/>
            </a:srgbClr>
          </a:solidFill>
          <a:ln w="9525">
            <a:solidFill>
              <a:srgbClr val="00D4FF">
                <a:alpha val="42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</a:t>
            </a:r>
            <a:endParaRPr lang="en-US"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0" name="直接箭头连接符 109"/>
          <p:cNvCxnSpPr/>
          <p:nvPr/>
        </p:nvCxnSpPr>
        <p:spPr>
          <a:xfrm flipH="1">
            <a:off x="2940050" y="7705090"/>
            <a:ext cx="371475" cy="0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117"/>
              </a:gs>
              <a:gs pos="46000">
                <a:srgbClr val="11111F"/>
              </a:gs>
              <a:gs pos="100000">
                <a:srgbClr val="06151A"/>
              </a:gs>
            </a:gsLst>
            <a:lin ang="7800000"/>
          </a:gradFill>
          <a:ln w="0">
            <a:noFill/>
            <a:prstDash val="solid"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-3429000" y="-3143250"/>
            <a:ext cx="9334500" cy="8382000"/>
          </a:xfrm>
          <a:prstGeom prst="ellipse">
            <a:avLst/>
          </a:prstGeom>
          <a:gradFill>
            <a:gsLst>
              <a:gs pos="0">
                <a:srgbClr val="A855F7">
                  <a:alpha val="30000"/>
                </a:srgbClr>
              </a:gs>
              <a:gs pos="42000">
                <a:srgbClr val="7C3AED">
                  <a:alpha val="14000"/>
                </a:srgbClr>
              </a:gs>
              <a:gs pos="74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10572750" y="-2476500"/>
            <a:ext cx="9906000" cy="8572500"/>
          </a:xfrm>
          <a:prstGeom prst="ellipse">
            <a:avLst/>
          </a:prstGeom>
          <a:gradFill>
            <a:gsLst>
              <a:gs pos="0">
                <a:srgbClr val="60A5FA">
                  <a:alpha val="22000"/>
                </a:srgbClr>
              </a:gs>
              <a:gs pos="46000">
                <a:srgbClr val="00D4FF">
                  <a:alpha val="9000"/>
                </a:srgbClr>
              </a:gs>
              <a:gs pos="78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5715000" y="6477000"/>
            <a:ext cx="7810500" cy="4953000"/>
          </a:xfrm>
          <a:prstGeom prst="ellipse">
            <a:avLst/>
          </a:prstGeom>
          <a:gradFill>
            <a:gsLst>
              <a:gs pos="0">
                <a:srgbClr val="34D399">
                  <a:alpha val="13000"/>
                </a:srgbClr>
              </a:gs>
              <a:gs pos="72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71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143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714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2286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2857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3429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4000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4572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5143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5715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6286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6858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7429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8001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8572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9144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9715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10287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10858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11430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12001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12573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13144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13716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14287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14859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15430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16002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16573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17145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17716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18288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9" name="直接连接符 38"/>
          <p:cNvSpPr>
            <a:spLocks noGrp="1"/>
          </p:cNvSpPr>
          <p:nvPr/>
        </p:nvSpPr>
        <p:spPr>
          <a:xfrm>
            <a:off x="0" y="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0" y="571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0" y="1143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0" y="1714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3" name="直接连接符 42"/>
          <p:cNvSpPr>
            <a:spLocks noGrp="1"/>
          </p:cNvSpPr>
          <p:nvPr/>
        </p:nvSpPr>
        <p:spPr>
          <a:xfrm>
            <a:off x="0" y="2286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4" name="直接连接符 43"/>
          <p:cNvSpPr>
            <a:spLocks noGrp="1"/>
          </p:cNvSpPr>
          <p:nvPr/>
        </p:nvSpPr>
        <p:spPr>
          <a:xfrm>
            <a:off x="0" y="2857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5" name="直接连接符 44"/>
          <p:cNvSpPr>
            <a:spLocks noGrp="1"/>
          </p:cNvSpPr>
          <p:nvPr/>
        </p:nvSpPr>
        <p:spPr>
          <a:xfrm>
            <a:off x="0" y="3429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0" y="4000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0" y="4572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0" y="5143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9" name="直接连接符 48"/>
          <p:cNvSpPr>
            <a:spLocks noGrp="1"/>
          </p:cNvSpPr>
          <p:nvPr/>
        </p:nvSpPr>
        <p:spPr>
          <a:xfrm>
            <a:off x="0" y="5715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0" name="直接连接符 49"/>
          <p:cNvSpPr>
            <a:spLocks noGrp="1"/>
          </p:cNvSpPr>
          <p:nvPr/>
        </p:nvSpPr>
        <p:spPr>
          <a:xfrm>
            <a:off x="0" y="6286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1" name="直接连接符 50"/>
          <p:cNvSpPr>
            <a:spLocks noGrp="1"/>
          </p:cNvSpPr>
          <p:nvPr/>
        </p:nvSpPr>
        <p:spPr>
          <a:xfrm>
            <a:off x="0" y="6858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2" name="直接连接符 51"/>
          <p:cNvSpPr>
            <a:spLocks noGrp="1"/>
          </p:cNvSpPr>
          <p:nvPr/>
        </p:nvSpPr>
        <p:spPr>
          <a:xfrm>
            <a:off x="0" y="7429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3" name="直接连接符 52"/>
          <p:cNvSpPr>
            <a:spLocks noGrp="1"/>
          </p:cNvSpPr>
          <p:nvPr/>
        </p:nvSpPr>
        <p:spPr>
          <a:xfrm>
            <a:off x="0" y="8001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4" name="直接连接符 53"/>
          <p:cNvSpPr>
            <a:spLocks noGrp="1"/>
          </p:cNvSpPr>
          <p:nvPr/>
        </p:nvSpPr>
        <p:spPr>
          <a:xfrm>
            <a:off x="0" y="8572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5" name="直接连接符 54"/>
          <p:cNvSpPr>
            <a:spLocks noGrp="1"/>
          </p:cNvSpPr>
          <p:nvPr/>
        </p:nvSpPr>
        <p:spPr>
          <a:xfrm>
            <a:off x="0" y="9144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6" name="直接连接符 55"/>
          <p:cNvSpPr>
            <a:spLocks noGrp="1"/>
          </p:cNvSpPr>
          <p:nvPr/>
        </p:nvSpPr>
        <p:spPr>
          <a:xfrm>
            <a:off x="0" y="9715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7" name="直接连接符 56"/>
          <p:cNvSpPr>
            <a:spLocks noGrp="1"/>
          </p:cNvSpPr>
          <p:nvPr/>
        </p:nvSpPr>
        <p:spPr>
          <a:xfrm>
            <a:off x="0" y="10287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117">
                  <a:alpha val="0"/>
                </a:srgbClr>
              </a:gs>
              <a:gs pos="100000">
                <a:srgbClr val="0D1117">
                  <a:alpha val="4500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59" name="圆角矩形 58"/>
          <p:cNvSpPr>
            <a:spLocks noGrp="1"/>
          </p:cNvSpPr>
          <p:nvPr/>
        </p:nvSpPr>
        <p:spPr>
          <a:xfrm>
            <a:off x="819150" y="590550"/>
            <a:ext cx="3867150" cy="419100"/>
          </a:xfrm>
          <a:prstGeom prst="roundRect">
            <a:avLst>
              <a:gd name="adj" fmla="val 50000"/>
            </a:avLst>
          </a:prstGeom>
          <a:solidFill>
            <a:srgbClr val="A855F7">
              <a:alpha val="18000"/>
            </a:srgbClr>
          </a:solidFill>
          <a:ln w="9525">
            <a:solidFill>
              <a:srgbClr val="A855F7">
                <a:alpha val="55000"/>
              </a:srgbClr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13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P4 · Agent Workflow</a:t>
            </a:r>
            <a:endParaRPr sz="1350" b="1">
              <a:solidFill>
                <a:srgbClr val="C084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819150" y="1123950"/>
            <a:ext cx="12382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buNone/>
              <a:defRPr sz="4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gradFill>
                  <a:gsLst>
                    <a:gs pos="0">
                      <a:srgbClr val="A855F7"/>
                    </a:gs>
                    <a:gs pos="52000">
                      <a:srgbClr val="60A5FA"/>
                    </a:gs>
                    <a:gs pos="100000">
                      <a:srgbClr val="34D399"/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Multi-Agent 编排</a:t>
            </a:r>
            <a:endParaRPr sz="4200" b="1">
              <a:gradFill>
                <a:gsLst>
                  <a:gs pos="0">
                    <a:srgbClr val="A855F7"/>
                  </a:gs>
                  <a:gs pos="52000">
                    <a:srgbClr val="60A5FA"/>
                  </a:gs>
                  <a:gs pos="100000">
                    <a:srgbClr val="34D399"/>
                  </a:gs>
                </a:gsLst>
                <a:lin ang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857250" y="1847850"/>
            <a:ext cx="1314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LangGraph StateGraph · 非 ReAct</a:t>
            </a:r>
            <a:endParaRPr sz="180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819150" y="96202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OmniCart Agent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16192500" y="96202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04 / 16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4" name="直接连接符 63"/>
          <p:cNvSpPr>
            <a:spLocks noGrp="1"/>
          </p:cNvSpPr>
          <p:nvPr/>
        </p:nvSpPr>
        <p:spPr>
          <a:xfrm>
            <a:off x="819150" y="9486900"/>
            <a:ext cx="16649700" cy="0"/>
          </a:xfrm>
          <a:prstGeom prst="line">
            <a:avLst/>
          </a:prstGeom>
          <a:noFill/>
          <a:ln w="9525">
            <a:solidFill>
              <a:srgbClr val="30363D">
                <a:alpha val="70000"/>
              </a:srgbClr>
            </a:solidFill>
            <a:prstDash val="solid"/>
          </a:ln>
        </p:spPr>
      </p:sp>
      <p:sp>
        <p:nvSpPr>
          <p:cNvPr id="65" name="圆角矩形 64"/>
          <p:cNvSpPr>
            <a:spLocks noGrp="1"/>
          </p:cNvSpPr>
          <p:nvPr/>
        </p:nvSpPr>
        <p:spPr>
          <a:xfrm>
            <a:off x="857250" y="2381250"/>
            <a:ext cx="1619250" cy="457200"/>
          </a:xfrm>
          <a:prstGeom prst="roundRect">
            <a:avLst>
              <a:gd name="adj" fmla="val 0"/>
            </a:avLst>
          </a:prstGeom>
          <a:solidFill>
            <a:srgbClr val="21262D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952500" y="2495550"/>
            <a:ext cx="142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圆角矩形 66"/>
          <p:cNvSpPr>
            <a:spLocks noGrp="1"/>
          </p:cNvSpPr>
          <p:nvPr/>
        </p:nvSpPr>
        <p:spPr>
          <a:xfrm>
            <a:off x="2476500" y="2381250"/>
            <a:ext cx="2571750" cy="457200"/>
          </a:xfrm>
          <a:prstGeom prst="roundRect">
            <a:avLst>
              <a:gd name="adj" fmla="val 0"/>
            </a:avLst>
          </a:prstGeom>
          <a:solidFill>
            <a:srgbClr val="21262D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2571750" y="24955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圆角矩形 68"/>
          <p:cNvSpPr>
            <a:spLocks noGrp="1"/>
          </p:cNvSpPr>
          <p:nvPr/>
        </p:nvSpPr>
        <p:spPr>
          <a:xfrm>
            <a:off x="5048250" y="2381250"/>
            <a:ext cx="4953000" cy="457200"/>
          </a:xfrm>
          <a:prstGeom prst="roundRect">
            <a:avLst>
              <a:gd name="adj" fmla="val 0"/>
            </a:avLst>
          </a:prstGeom>
          <a:solidFill>
            <a:srgbClr val="21262D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5143500" y="249555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职责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10001250" y="2381250"/>
            <a:ext cx="2667000" cy="457200"/>
          </a:xfrm>
          <a:prstGeom prst="roundRect">
            <a:avLst>
              <a:gd name="adj" fmla="val 0"/>
            </a:avLst>
          </a:prstGeom>
          <a:solidFill>
            <a:srgbClr val="21262D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10096500" y="24955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关键输出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圆角矩形 72"/>
          <p:cNvSpPr>
            <a:spLocks noGrp="1"/>
          </p:cNvSpPr>
          <p:nvPr/>
        </p:nvSpPr>
        <p:spPr>
          <a:xfrm>
            <a:off x="857250" y="2838450"/>
            <a:ext cx="1619250" cy="594360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971550" y="2933700"/>
            <a:ext cx="1390650" cy="4229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Router</a:t>
            </a:r>
            <a:endParaRPr sz="1200" b="1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2476500" y="2838450"/>
            <a:ext cx="2571750" cy="594360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2590800" y="2933700"/>
            <a:ext cx="2343150" cy="4229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qwen-turbo + 规则</a:t>
            </a:r>
            <a:endParaRPr sz="12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圆角矩形 76"/>
          <p:cNvSpPr>
            <a:spLocks noGrp="1"/>
          </p:cNvSpPr>
          <p:nvPr/>
        </p:nvSpPr>
        <p:spPr>
          <a:xfrm>
            <a:off x="5048250" y="2838450"/>
            <a:ext cx="4953000" cy="594360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78" name="矩形 77"/>
          <p:cNvSpPr>
            <a:spLocks noGrp="1"/>
          </p:cNvSpPr>
          <p:nvPr/>
        </p:nvSpPr>
        <p:spPr>
          <a:xfrm>
            <a:off x="5162550" y="2933700"/>
            <a:ext cx="4724400" cy="4229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意图识别、约束抽取、检索计划</a:t>
            </a:r>
            <a:endParaRPr sz="12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圆角矩形 78"/>
          <p:cNvSpPr>
            <a:spLocks noGrp="1"/>
          </p:cNvSpPr>
          <p:nvPr/>
        </p:nvSpPr>
        <p:spPr>
          <a:xfrm>
            <a:off x="10001250" y="2838450"/>
            <a:ext cx="2667000" cy="594360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80" name="矩形 79"/>
          <p:cNvSpPr>
            <a:spLocks noGrp="1"/>
          </p:cNvSpPr>
          <p:nvPr/>
        </p:nvSpPr>
        <p:spPr>
          <a:xfrm>
            <a:off x="10115550" y="2933700"/>
            <a:ext cx="2438400" cy="4229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intent + Constraints</a:t>
            </a:r>
            <a:endParaRPr sz="12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圆角矩形 80"/>
          <p:cNvSpPr>
            <a:spLocks noGrp="1"/>
          </p:cNvSpPr>
          <p:nvPr/>
        </p:nvSpPr>
        <p:spPr>
          <a:xfrm>
            <a:off x="857250" y="3432810"/>
            <a:ext cx="1619250" cy="594360"/>
          </a:xfrm>
          <a:prstGeom prst="roundRect">
            <a:avLst>
              <a:gd name="adj" fmla="val 0"/>
            </a:avLst>
          </a:prstGeom>
          <a:solidFill>
            <a:srgbClr val="0D1117">
              <a:alpha val="4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82" name="矩形 81"/>
          <p:cNvSpPr>
            <a:spLocks noGrp="1"/>
          </p:cNvSpPr>
          <p:nvPr/>
        </p:nvSpPr>
        <p:spPr>
          <a:xfrm>
            <a:off x="971550" y="3528060"/>
            <a:ext cx="1390650" cy="4229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Visual</a:t>
            </a:r>
            <a:endParaRPr sz="1200" b="1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圆角矩形 82"/>
          <p:cNvSpPr>
            <a:spLocks noGrp="1"/>
          </p:cNvSpPr>
          <p:nvPr/>
        </p:nvSpPr>
        <p:spPr>
          <a:xfrm>
            <a:off x="2476500" y="3432810"/>
            <a:ext cx="2571750" cy="594360"/>
          </a:xfrm>
          <a:prstGeom prst="roundRect">
            <a:avLst>
              <a:gd name="adj" fmla="val 0"/>
            </a:avLst>
          </a:prstGeom>
          <a:solidFill>
            <a:srgbClr val="0D1117">
              <a:alpha val="4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2590800" y="3528060"/>
            <a:ext cx="2343150" cy="4229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qwen-vl-max</a:t>
            </a:r>
            <a:endParaRPr sz="12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圆角矩形 84"/>
          <p:cNvSpPr>
            <a:spLocks noGrp="1"/>
          </p:cNvSpPr>
          <p:nvPr/>
        </p:nvSpPr>
        <p:spPr>
          <a:xfrm>
            <a:off x="5048250" y="3432810"/>
            <a:ext cx="4953000" cy="594360"/>
          </a:xfrm>
          <a:prstGeom prst="roundRect">
            <a:avLst>
              <a:gd name="adj" fmla="val 0"/>
            </a:avLst>
          </a:prstGeom>
          <a:solidFill>
            <a:srgbClr val="0D1117">
              <a:alpha val="4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86" name="矩形 85"/>
          <p:cNvSpPr>
            <a:spLocks noGrp="1"/>
          </p:cNvSpPr>
          <p:nvPr/>
        </p:nvSpPr>
        <p:spPr>
          <a:xfrm>
            <a:off x="5162550" y="3528060"/>
            <a:ext cx="4724400" cy="4229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拍照识图、品类映射、DB精准匹配</a:t>
            </a:r>
            <a:endParaRPr sz="12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圆角矩形 86"/>
          <p:cNvSpPr>
            <a:spLocks noGrp="1"/>
          </p:cNvSpPr>
          <p:nvPr/>
        </p:nvSpPr>
        <p:spPr>
          <a:xfrm>
            <a:off x="10001250" y="3432810"/>
            <a:ext cx="2667000" cy="594360"/>
          </a:xfrm>
          <a:prstGeom prst="roundRect">
            <a:avLst>
              <a:gd name="adj" fmla="val 0"/>
            </a:avLst>
          </a:prstGeom>
          <a:solidFill>
            <a:srgbClr val="0D1117">
              <a:alpha val="4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10115550" y="3528060"/>
            <a:ext cx="2438400" cy="4229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visual_matched_pids</a:t>
            </a:r>
            <a:endParaRPr sz="12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圆角矩形 88"/>
          <p:cNvSpPr>
            <a:spLocks noGrp="1"/>
          </p:cNvSpPr>
          <p:nvPr/>
        </p:nvSpPr>
        <p:spPr>
          <a:xfrm>
            <a:off x="857250" y="4027170"/>
            <a:ext cx="1619250" cy="594360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90" name="矩形 89"/>
          <p:cNvSpPr>
            <a:spLocks noGrp="1"/>
          </p:cNvSpPr>
          <p:nvPr/>
        </p:nvSpPr>
        <p:spPr>
          <a:xfrm>
            <a:off x="971550" y="4122420"/>
            <a:ext cx="1390650" cy="4229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Retrieval</a:t>
            </a:r>
            <a:endParaRPr sz="1200" b="1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圆角矩形 90"/>
          <p:cNvSpPr>
            <a:spLocks noGrp="1"/>
          </p:cNvSpPr>
          <p:nvPr/>
        </p:nvSpPr>
        <p:spPr>
          <a:xfrm>
            <a:off x="2476500" y="4027170"/>
            <a:ext cx="2571750" cy="594360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92" name="矩形 91"/>
          <p:cNvSpPr>
            <a:spLocks noGrp="1"/>
          </p:cNvSpPr>
          <p:nvPr/>
        </p:nvSpPr>
        <p:spPr>
          <a:xfrm>
            <a:off x="2590800" y="4122420"/>
            <a:ext cx="2343150" cy="4229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text-embedding-v4</a:t>
            </a:r>
            <a:endParaRPr sz="12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圆角矩形 92"/>
          <p:cNvSpPr>
            <a:spLocks noGrp="1"/>
          </p:cNvSpPr>
          <p:nvPr/>
        </p:nvSpPr>
        <p:spPr>
          <a:xfrm>
            <a:off x="5048250" y="4027170"/>
            <a:ext cx="4953000" cy="594360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94" name="矩形 93"/>
          <p:cNvSpPr>
            <a:spLocks noGrp="1"/>
          </p:cNvSpPr>
          <p:nvPr/>
        </p:nvSpPr>
        <p:spPr>
          <a:xfrm>
            <a:off x="5162550" y="4122420"/>
            <a:ext cx="4724400" cy="4229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三通道并行检索 + 证据补充</a:t>
            </a:r>
            <a:endParaRPr sz="12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圆角矩形 94"/>
          <p:cNvSpPr>
            <a:spLocks noGrp="1"/>
          </p:cNvSpPr>
          <p:nvPr/>
        </p:nvSpPr>
        <p:spPr>
          <a:xfrm>
            <a:off x="10001250" y="4027170"/>
            <a:ext cx="2667000" cy="594360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96" name="矩形 95"/>
          <p:cNvSpPr>
            <a:spLocks noGrp="1"/>
          </p:cNvSpPr>
          <p:nvPr/>
        </p:nvSpPr>
        <p:spPr>
          <a:xfrm>
            <a:off x="10115550" y="4122420"/>
            <a:ext cx="2438400" cy="4229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products[] + evidence[]</a:t>
            </a:r>
            <a:endParaRPr sz="12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圆角矩形 96"/>
          <p:cNvSpPr>
            <a:spLocks noGrp="1"/>
          </p:cNvSpPr>
          <p:nvPr/>
        </p:nvSpPr>
        <p:spPr>
          <a:xfrm>
            <a:off x="857250" y="4621530"/>
            <a:ext cx="1619250" cy="594360"/>
          </a:xfrm>
          <a:prstGeom prst="roundRect">
            <a:avLst>
              <a:gd name="adj" fmla="val 0"/>
            </a:avLst>
          </a:prstGeom>
          <a:solidFill>
            <a:srgbClr val="0D1117">
              <a:alpha val="4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98" name="矩形 97"/>
          <p:cNvSpPr>
            <a:spLocks noGrp="1"/>
          </p:cNvSpPr>
          <p:nvPr/>
        </p:nvSpPr>
        <p:spPr>
          <a:xfrm>
            <a:off x="971550" y="4716780"/>
            <a:ext cx="1390650" cy="4229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Decision</a:t>
            </a:r>
            <a:endParaRPr sz="1200" b="1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圆角矩形 98"/>
          <p:cNvSpPr>
            <a:spLocks noGrp="1"/>
          </p:cNvSpPr>
          <p:nvPr/>
        </p:nvSpPr>
        <p:spPr>
          <a:xfrm>
            <a:off x="2476500" y="4621530"/>
            <a:ext cx="2571750" cy="594360"/>
          </a:xfrm>
          <a:prstGeom prst="roundRect">
            <a:avLst>
              <a:gd name="adj" fmla="val 0"/>
            </a:avLst>
          </a:prstGeom>
          <a:solidFill>
            <a:srgbClr val="0D1117">
              <a:alpha val="4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100" name="矩形 99"/>
          <p:cNvSpPr>
            <a:spLocks noGrp="1"/>
          </p:cNvSpPr>
          <p:nvPr/>
        </p:nvSpPr>
        <p:spPr>
          <a:xfrm>
            <a:off x="2590800" y="4716780"/>
            <a:ext cx="2343150" cy="4229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规则公式</a:t>
            </a:r>
            <a:endParaRPr sz="12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圆角矩形 100"/>
          <p:cNvSpPr>
            <a:spLocks noGrp="1"/>
          </p:cNvSpPr>
          <p:nvPr/>
        </p:nvSpPr>
        <p:spPr>
          <a:xfrm>
            <a:off x="5048250" y="4621530"/>
            <a:ext cx="4953000" cy="594360"/>
          </a:xfrm>
          <a:prstGeom prst="roundRect">
            <a:avLst>
              <a:gd name="adj" fmla="val 0"/>
            </a:avLst>
          </a:prstGeom>
          <a:solidFill>
            <a:srgbClr val="0D1117">
              <a:alpha val="4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102" name="矩形 101"/>
          <p:cNvSpPr>
            <a:spLocks noGrp="1"/>
          </p:cNvSpPr>
          <p:nvPr/>
        </p:nvSpPr>
        <p:spPr>
          <a:xfrm>
            <a:off x="5162550" y="4716780"/>
            <a:ext cx="4724400" cy="4229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7维证据评分 + 硬约束过滤</a:t>
            </a:r>
            <a:endParaRPr sz="12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圆角矩形 102"/>
          <p:cNvSpPr>
            <a:spLocks noGrp="1"/>
          </p:cNvSpPr>
          <p:nvPr/>
        </p:nvSpPr>
        <p:spPr>
          <a:xfrm>
            <a:off x="10001250" y="4621530"/>
            <a:ext cx="2667000" cy="594360"/>
          </a:xfrm>
          <a:prstGeom prst="roundRect">
            <a:avLst>
              <a:gd name="adj" fmla="val 0"/>
            </a:avLst>
          </a:prstGeom>
          <a:solidFill>
            <a:srgbClr val="0D1117">
              <a:alpha val="4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104" name="矩形 103"/>
          <p:cNvSpPr>
            <a:spLocks noGrp="1"/>
          </p:cNvSpPr>
          <p:nvPr/>
        </p:nvSpPr>
        <p:spPr>
          <a:xfrm>
            <a:off x="10115550" y="4716780"/>
            <a:ext cx="2438400" cy="4229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decision_results[]</a:t>
            </a:r>
            <a:endParaRPr sz="12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圆角矩形 104"/>
          <p:cNvSpPr>
            <a:spLocks noGrp="1"/>
          </p:cNvSpPr>
          <p:nvPr/>
        </p:nvSpPr>
        <p:spPr>
          <a:xfrm>
            <a:off x="857250" y="5215890"/>
            <a:ext cx="1619250" cy="594360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106" name="矩形 105"/>
          <p:cNvSpPr>
            <a:spLocks noGrp="1"/>
          </p:cNvSpPr>
          <p:nvPr/>
        </p:nvSpPr>
        <p:spPr>
          <a:xfrm>
            <a:off x="971550" y="5311140"/>
            <a:ext cx="1390650" cy="4229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Response</a:t>
            </a:r>
            <a:endParaRPr sz="1200" b="1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圆角矩形 106"/>
          <p:cNvSpPr>
            <a:spLocks noGrp="1"/>
          </p:cNvSpPr>
          <p:nvPr/>
        </p:nvSpPr>
        <p:spPr>
          <a:xfrm>
            <a:off x="2476500" y="5215890"/>
            <a:ext cx="2571750" cy="594360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108" name="矩形 107"/>
          <p:cNvSpPr>
            <a:spLocks noGrp="1"/>
          </p:cNvSpPr>
          <p:nvPr/>
        </p:nvSpPr>
        <p:spPr>
          <a:xfrm>
            <a:off x="2590800" y="5311140"/>
            <a:ext cx="2343150" cy="4229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qwen-turbo + 模板</a:t>
            </a:r>
            <a:endParaRPr sz="12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圆角矩形 108"/>
          <p:cNvSpPr>
            <a:spLocks noGrp="1"/>
          </p:cNvSpPr>
          <p:nvPr/>
        </p:nvSpPr>
        <p:spPr>
          <a:xfrm>
            <a:off x="5048250" y="5215890"/>
            <a:ext cx="4953000" cy="594360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110" name="矩形 109"/>
          <p:cNvSpPr>
            <a:spLocks noGrp="1"/>
          </p:cNvSpPr>
          <p:nvPr/>
        </p:nvSpPr>
        <p:spPr>
          <a:xfrm>
            <a:off x="5162550" y="5311140"/>
            <a:ext cx="4724400" cy="4229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LLM流式生成 + 6s超时兜底</a:t>
            </a:r>
            <a:endParaRPr sz="12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" name="圆角矩形 110"/>
          <p:cNvSpPr>
            <a:spLocks noGrp="1"/>
          </p:cNvSpPr>
          <p:nvPr/>
        </p:nvSpPr>
        <p:spPr>
          <a:xfrm>
            <a:off x="10001250" y="5215890"/>
            <a:ext cx="2667000" cy="594360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112" name="矩形 111"/>
          <p:cNvSpPr>
            <a:spLocks noGrp="1"/>
          </p:cNvSpPr>
          <p:nvPr/>
        </p:nvSpPr>
        <p:spPr>
          <a:xfrm>
            <a:off x="10115550" y="5311140"/>
            <a:ext cx="2438400" cy="4229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answer (SSE stream)</a:t>
            </a:r>
            <a:endParaRPr sz="12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圆角矩形 112"/>
          <p:cNvSpPr>
            <a:spLocks noGrp="1"/>
          </p:cNvSpPr>
          <p:nvPr/>
        </p:nvSpPr>
        <p:spPr>
          <a:xfrm>
            <a:off x="13287375" y="2381250"/>
            <a:ext cx="4095750" cy="3429000"/>
          </a:xfrm>
          <a:prstGeom prst="roundRect">
            <a:avLst>
              <a:gd name="adj" fmla="val 4444"/>
            </a:avLst>
          </a:prstGeom>
          <a:solidFill>
            <a:srgbClr val="161B22">
              <a:alpha val="9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4" name="矩形 113"/>
          <p:cNvSpPr>
            <a:spLocks noGrp="1"/>
          </p:cNvSpPr>
          <p:nvPr/>
        </p:nvSpPr>
        <p:spPr>
          <a:xfrm>
            <a:off x="13287375" y="2381250"/>
            <a:ext cx="66675" cy="3429000"/>
          </a:xfrm>
          <a:prstGeom prst="rect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115" name="矩形 114"/>
          <p:cNvSpPr>
            <a:spLocks noGrp="1"/>
          </p:cNvSpPr>
          <p:nvPr/>
        </p:nvSpPr>
        <p:spPr>
          <a:xfrm>
            <a:off x="13535025" y="2590800"/>
            <a:ext cx="36385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为什么不是 ReAct？</a:t>
            </a:r>
            <a:endParaRPr sz="180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矩形 115"/>
          <p:cNvSpPr>
            <a:spLocks noGrp="1"/>
          </p:cNvSpPr>
          <p:nvPr/>
        </p:nvSpPr>
        <p:spPr>
          <a:xfrm>
            <a:off x="13535025" y="3009900"/>
            <a:ext cx="3600450" cy="2609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  <a:buNone/>
              <a:defRPr sz="15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❌ ReAct</a:t>
            </a:r>
            <a:endParaRPr sz="157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5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LLM自由决定下一步；调用链不可预测；Token消耗大</a:t>
            </a:r>
            <a:endParaRPr sz="157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575"/>
          </a:p>
          <a:p>
            <a:pPr algn="l">
              <a:lnSpc>
                <a:spcPct val="116000"/>
              </a:lnSpc>
              <a:buNone/>
              <a:defRPr sz="15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 StateGraph</a:t>
            </a:r>
            <a:endParaRPr sz="157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6000"/>
              </a:lnSpc>
              <a:buNone/>
              <a:defRPr sz="15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固定有向图；trace_steps 全程记录；每个节点独立容错</a:t>
            </a:r>
            <a:endParaRPr sz="157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3" name="矩形 132"/>
          <p:cNvSpPr>
            <a:spLocks noGrp="1"/>
          </p:cNvSpPr>
          <p:nvPr/>
        </p:nvSpPr>
        <p:spPr>
          <a:xfrm>
            <a:off x="1238250" y="8763000"/>
            <a:ext cx="1162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StateGraph 固定路径让推荐链路可预测、可复盘、可降级。</a:t>
            </a:r>
            <a:endParaRPr sz="165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3" name="圆角矩形 142"/>
          <p:cNvSpPr>
            <a:spLocks noGrp="1"/>
          </p:cNvSpPr>
          <p:nvPr/>
        </p:nvSpPr>
        <p:spPr>
          <a:xfrm>
            <a:off x="3312160" y="6199505"/>
            <a:ext cx="1428750" cy="514350"/>
          </a:xfrm>
          <a:prstGeom prst="roundRect">
            <a:avLst>
              <a:gd name="adj" fmla="val 25926"/>
            </a:avLst>
          </a:prstGeom>
          <a:solidFill>
            <a:srgbClr val="00D4FF">
              <a:alpha val="11000"/>
            </a:srgbClr>
          </a:solidFill>
          <a:ln w="9525">
            <a:solidFill>
              <a:srgbClr val="00D4FF">
                <a:alpha val="42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START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4" name="圆角矩形 143"/>
          <p:cNvSpPr>
            <a:spLocks noGrp="1"/>
          </p:cNvSpPr>
          <p:nvPr/>
        </p:nvSpPr>
        <p:spPr>
          <a:xfrm>
            <a:off x="5111750" y="6199505"/>
            <a:ext cx="1428750" cy="514350"/>
          </a:xfrm>
          <a:prstGeom prst="roundRect">
            <a:avLst>
              <a:gd name="adj" fmla="val 25926"/>
            </a:avLst>
          </a:prstGeom>
          <a:solidFill>
            <a:srgbClr val="00D4FF">
              <a:alpha val="11000"/>
            </a:srgbClr>
          </a:solidFill>
          <a:ln w="9525">
            <a:solidFill>
              <a:srgbClr val="00D4FF">
                <a:alpha val="42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Router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5" name="圆角矩形 144"/>
          <p:cNvSpPr>
            <a:spLocks noGrp="1"/>
          </p:cNvSpPr>
          <p:nvPr/>
        </p:nvSpPr>
        <p:spPr>
          <a:xfrm>
            <a:off x="6939915" y="6199505"/>
            <a:ext cx="1428750" cy="514350"/>
          </a:xfrm>
          <a:prstGeom prst="roundRect">
            <a:avLst>
              <a:gd name="adj" fmla="val 25926"/>
            </a:avLst>
          </a:prstGeom>
          <a:solidFill>
            <a:srgbClr val="00D4FF">
              <a:alpha val="11000"/>
            </a:srgbClr>
          </a:solidFill>
          <a:ln w="9525">
            <a:solidFill>
              <a:srgbClr val="00D4FF">
                <a:alpha val="42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Visual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6" name="圆角矩形 145"/>
          <p:cNvSpPr>
            <a:spLocks noGrp="1"/>
          </p:cNvSpPr>
          <p:nvPr/>
        </p:nvSpPr>
        <p:spPr>
          <a:xfrm>
            <a:off x="8749665" y="6199505"/>
            <a:ext cx="1428750" cy="514350"/>
          </a:xfrm>
          <a:prstGeom prst="roundRect">
            <a:avLst>
              <a:gd name="adj" fmla="val 25926"/>
            </a:avLst>
          </a:prstGeom>
          <a:solidFill>
            <a:srgbClr val="00D4FF">
              <a:alpha val="11000"/>
            </a:srgbClr>
          </a:solidFill>
          <a:ln w="9525">
            <a:solidFill>
              <a:srgbClr val="00D4FF">
                <a:alpha val="42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Retrieval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7" name="圆角矩形 146"/>
          <p:cNvSpPr>
            <a:spLocks noGrp="1"/>
          </p:cNvSpPr>
          <p:nvPr/>
        </p:nvSpPr>
        <p:spPr>
          <a:xfrm>
            <a:off x="10584815" y="6198870"/>
            <a:ext cx="1428750" cy="514350"/>
          </a:xfrm>
          <a:prstGeom prst="roundRect">
            <a:avLst>
              <a:gd name="adj" fmla="val 25926"/>
            </a:avLst>
          </a:prstGeom>
          <a:solidFill>
            <a:srgbClr val="00D4FF">
              <a:alpha val="11000"/>
            </a:srgbClr>
          </a:solidFill>
          <a:ln w="9525">
            <a:solidFill>
              <a:srgbClr val="00D4FF">
                <a:alpha val="42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Reranker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48" name="直接箭头连接符 147"/>
          <p:cNvCxnSpPr>
            <a:stCxn id="143" idx="3"/>
            <a:endCxn id="144" idx="1"/>
          </p:cNvCxnSpPr>
          <p:nvPr/>
        </p:nvCxnSpPr>
        <p:spPr>
          <a:xfrm>
            <a:off x="4740910" y="6456680"/>
            <a:ext cx="370840" cy="0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49" name="直接箭头连接符 148"/>
          <p:cNvCxnSpPr>
            <a:stCxn id="144" idx="3"/>
            <a:endCxn id="145" idx="1"/>
          </p:cNvCxnSpPr>
          <p:nvPr/>
        </p:nvCxnSpPr>
        <p:spPr>
          <a:xfrm>
            <a:off x="6540500" y="6456680"/>
            <a:ext cx="399415" cy="0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0" name="圆角矩形 149"/>
          <p:cNvSpPr>
            <a:spLocks noGrp="1"/>
          </p:cNvSpPr>
          <p:nvPr/>
        </p:nvSpPr>
        <p:spPr>
          <a:xfrm>
            <a:off x="8712200" y="7807960"/>
            <a:ext cx="1524000" cy="514350"/>
          </a:xfrm>
          <a:prstGeom prst="roundRect">
            <a:avLst>
              <a:gd name="adj" fmla="val 29167"/>
            </a:avLst>
          </a:prstGeom>
          <a:solidFill>
            <a:srgbClr val="A855F7">
              <a:alpha val="13000"/>
            </a:srgbClr>
          </a:solidFill>
          <a:ln w="9525">
            <a:solidFill>
              <a:srgbClr val="A855F7">
                <a:alpha val="45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Decision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1" name="圆角矩形 150"/>
          <p:cNvSpPr>
            <a:spLocks noGrp="1"/>
          </p:cNvSpPr>
          <p:nvPr/>
        </p:nvSpPr>
        <p:spPr>
          <a:xfrm>
            <a:off x="5111750" y="7807325"/>
            <a:ext cx="1524000" cy="514985"/>
          </a:xfrm>
          <a:prstGeom prst="roundRect">
            <a:avLst>
              <a:gd name="adj" fmla="val 29167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>
                <a:alpha val="45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Response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2" name="直接箭头连接符 151"/>
          <p:cNvCxnSpPr>
            <a:stCxn id="146" idx="3"/>
            <a:endCxn id="147" idx="1"/>
          </p:cNvCxnSpPr>
          <p:nvPr/>
        </p:nvCxnSpPr>
        <p:spPr>
          <a:xfrm flipV="1">
            <a:off x="10178415" y="6456045"/>
            <a:ext cx="406400" cy="635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3" name="圆角矩形 152"/>
          <p:cNvSpPr>
            <a:spLocks noGrp="1"/>
          </p:cNvSpPr>
          <p:nvPr/>
        </p:nvSpPr>
        <p:spPr>
          <a:xfrm>
            <a:off x="5111750" y="6991350"/>
            <a:ext cx="1428750" cy="514350"/>
          </a:xfrm>
          <a:prstGeom prst="roundRect">
            <a:avLst>
              <a:gd name="adj" fmla="val 25926"/>
            </a:avLst>
          </a:prstGeom>
          <a:solidFill>
            <a:srgbClr val="00D4FF">
              <a:alpha val="11000"/>
            </a:srgbClr>
          </a:solidFill>
          <a:ln w="9525">
            <a:solidFill>
              <a:srgbClr val="00D4FF">
                <a:alpha val="42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chitchat</a:t>
            </a:r>
            <a:r>
              <a:rPr lang="zh-CN"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4" name="直接箭头连接符 153"/>
          <p:cNvCxnSpPr>
            <a:stCxn id="153" idx="2"/>
          </p:cNvCxnSpPr>
          <p:nvPr/>
        </p:nvCxnSpPr>
        <p:spPr>
          <a:xfrm>
            <a:off x="5826125" y="7505700"/>
            <a:ext cx="5715" cy="349885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5" name="圆角矩形 154"/>
          <p:cNvSpPr>
            <a:spLocks noGrp="1"/>
          </p:cNvSpPr>
          <p:nvPr/>
        </p:nvSpPr>
        <p:spPr>
          <a:xfrm>
            <a:off x="8749665" y="6991350"/>
            <a:ext cx="1428750" cy="514350"/>
          </a:xfrm>
          <a:prstGeom prst="roundRect">
            <a:avLst>
              <a:gd name="adj" fmla="val 25926"/>
            </a:avLst>
          </a:prstGeom>
          <a:solidFill>
            <a:srgbClr val="00D4FF">
              <a:alpha val="11000"/>
            </a:srgbClr>
          </a:solidFill>
          <a:ln w="9525">
            <a:solidFill>
              <a:srgbClr val="00D4FF">
                <a:alpha val="42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Evidence</a:t>
            </a:r>
            <a:endParaRPr lang="en-US" altLang="zh-CN"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Check</a:t>
            </a:r>
            <a:endParaRPr lang="en-US" altLang="zh-CN"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6" name="直接箭头连接符 155"/>
          <p:cNvCxnSpPr/>
          <p:nvPr/>
        </p:nvCxnSpPr>
        <p:spPr>
          <a:xfrm>
            <a:off x="9432290" y="6713855"/>
            <a:ext cx="5715" cy="349885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57" name="直接箭头连接符 156"/>
          <p:cNvCxnSpPr/>
          <p:nvPr/>
        </p:nvCxnSpPr>
        <p:spPr>
          <a:xfrm>
            <a:off x="9438005" y="7495540"/>
            <a:ext cx="5715" cy="349885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8" name="圆角矩形 157"/>
          <p:cNvSpPr>
            <a:spLocks noGrp="1"/>
          </p:cNvSpPr>
          <p:nvPr/>
        </p:nvSpPr>
        <p:spPr>
          <a:xfrm>
            <a:off x="3311525" y="7807960"/>
            <a:ext cx="1428750" cy="514350"/>
          </a:xfrm>
          <a:prstGeom prst="roundRect">
            <a:avLst>
              <a:gd name="adj" fmla="val 25926"/>
            </a:avLst>
          </a:prstGeom>
          <a:solidFill>
            <a:srgbClr val="00D4FF">
              <a:alpha val="11000"/>
            </a:srgbClr>
          </a:solidFill>
          <a:ln w="9525">
            <a:solidFill>
              <a:srgbClr val="00D4FF">
                <a:alpha val="42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Guar</a:t>
            </a:r>
            <a:r>
              <a:rPr lang="en-US"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endParaRPr lang="en-US"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9" name="圆角矩形 158"/>
          <p:cNvSpPr>
            <a:spLocks noGrp="1"/>
          </p:cNvSpPr>
          <p:nvPr/>
        </p:nvSpPr>
        <p:spPr>
          <a:xfrm>
            <a:off x="1511300" y="7789545"/>
            <a:ext cx="1428750" cy="514350"/>
          </a:xfrm>
          <a:prstGeom prst="roundRect">
            <a:avLst>
              <a:gd name="adj" fmla="val 25926"/>
            </a:avLst>
          </a:prstGeom>
          <a:solidFill>
            <a:srgbClr val="00D4FF">
              <a:alpha val="11000"/>
            </a:srgbClr>
          </a:solidFill>
          <a:ln w="9525">
            <a:solidFill>
              <a:srgbClr val="00D4FF">
                <a:alpha val="42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</a:t>
            </a:r>
            <a:endParaRPr lang="en-US"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0" name="直接箭头连接符 159"/>
          <p:cNvCxnSpPr/>
          <p:nvPr/>
        </p:nvCxnSpPr>
        <p:spPr>
          <a:xfrm flipH="1">
            <a:off x="2940050" y="8065135"/>
            <a:ext cx="371475" cy="0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61" name="直接箭头连接符 160"/>
          <p:cNvCxnSpPr/>
          <p:nvPr/>
        </p:nvCxnSpPr>
        <p:spPr>
          <a:xfrm>
            <a:off x="8368665" y="6477000"/>
            <a:ext cx="399415" cy="0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62" name="直接箭头连接符 161"/>
          <p:cNvCxnSpPr/>
          <p:nvPr/>
        </p:nvCxnSpPr>
        <p:spPr>
          <a:xfrm flipH="1">
            <a:off x="4740275" y="8065135"/>
            <a:ext cx="371475" cy="0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96" name="直接箭头连接符 195"/>
          <p:cNvCxnSpPr/>
          <p:nvPr/>
        </p:nvCxnSpPr>
        <p:spPr>
          <a:xfrm flipH="1">
            <a:off x="6635750" y="8023860"/>
            <a:ext cx="2076450" cy="0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63" name="直接箭头连接符 162"/>
          <p:cNvCxnSpPr/>
          <p:nvPr/>
        </p:nvCxnSpPr>
        <p:spPr>
          <a:xfrm>
            <a:off x="5820410" y="6727825"/>
            <a:ext cx="5715" cy="349885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117"/>
              </a:gs>
              <a:gs pos="46000">
                <a:srgbClr val="11111F"/>
              </a:gs>
              <a:gs pos="100000">
                <a:srgbClr val="06151A"/>
              </a:gs>
            </a:gsLst>
            <a:lin ang="7800000"/>
          </a:gradFill>
          <a:ln w="0">
            <a:noFill/>
            <a:prstDash val="solid"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-3429000" y="-3143250"/>
            <a:ext cx="9334500" cy="8382000"/>
          </a:xfrm>
          <a:prstGeom prst="ellipse">
            <a:avLst/>
          </a:prstGeom>
          <a:gradFill>
            <a:gsLst>
              <a:gs pos="0">
                <a:srgbClr val="A855F7">
                  <a:alpha val="30000"/>
                </a:srgbClr>
              </a:gs>
              <a:gs pos="42000">
                <a:srgbClr val="7C3AED">
                  <a:alpha val="14000"/>
                </a:srgbClr>
              </a:gs>
              <a:gs pos="74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10572750" y="-2476500"/>
            <a:ext cx="9906000" cy="8572500"/>
          </a:xfrm>
          <a:prstGeom prst="ellipse">
            <a:avLst/>
          </a:prstGeom>
          <a:gradFill>
            <a:gsLst>
              <a:gs pos="0">
                <a:srgbClr val="60A5FA">
                  <a:alpha val="22000"/>
                </a:srgbClr>
              </a:gs>
              <a:gs pos="46000">
                <a:srgbClr val="00D4FF">
                  <a:alpha val="9000"/>
                </a:srgbClr>
              </a:gs>
              <a:gs pos="78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5715000" y="6477000"/>
            <a:ext cx="7810500" cy="4953000"/>
          </a:xfrm>
          <a:prstGeom prst="ellipse">
            <a:avLst/>
          </a:prstGeom>
          <a:gradFill>
            <a:gsLst>
              <a:gs pos="0">
                <a:srgbClr val="34D399">
                  <a:alpha val="13000"/>
                </a:srgbClr>
              </a:gs>
              <a:gs pos="72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71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143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714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2286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2857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3429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4000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4572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5143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5715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6286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6858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7429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8001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8572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9144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9715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10287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10858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11430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12001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12573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13144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13716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14287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14859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15430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16002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16573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17145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17716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18288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9" name="直接连接符 38"/>
          <p:cNvSpPr>
            <a:spLocks noGrp="1"/>
          </p:cNvSpPr>
          <p:nvPr/>
        </p:nvSpPr>
        <p:spPr>
          <a:xfrm>
            <a:off x="0" y="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0" y="571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0" y="1143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0" y="1714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3" name="直接连接符 42"/>
          <p:cNvSpPr>
            <a:spLocks noGrp="1"/>
          </p:cNvSpPr>
          <p:nvPr/>
        </p:nvSpPr>
        <p:spPr>
          <a:xfrm>
            <a:off x="0" y="2286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4" name="直接连接符 43"/>
          <p:cNvSpPr>
            <a:spLocks noGrp="1"/>
          </p:cNvSpPr>
          <p:nvPr/>
        </p:nvSpPr>
        <p:spPr>
          <a:xfrm>
            <a:off x="0" y="2857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5" name="直接连接符 44"/>
          <p:cNvSpPr>
            <a:spLocks noGrp="1"/>
          </p:cNvSpPr>
          <p:nvPr/>
        </p:nvSpPr>
        <p:spPr>
          <a:xfrm>
            <a:off x="0" y="3429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0" y="4000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0" y="4572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0" y="5143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9" name="直接连接符 48"/>
          <p:cNvSpPr>
            <a:spLocks noGrp="1"/>
          </p:cNvSpPr>
          <p:nvPr/>
        </p:nvSpPr>
        <p:spPr>
          <a:xfrm>
            <a:off x="0" y="5715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0" name="直接连接符 49"/>
          <p:cNvSpPr>
            <a:spLocks noGrp="1"/>
          </p:cNvSpPr>
          <p:nvPr/>
        </p:nvSpPr>
        <p:spPr>
          <a:xfrm>
            <a:off x="0" y="6286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1" name="直接连接符 50"/>
          <p:cNvSpPr>
            <a:spLocks noGrp="1"/>
          </p:cNvSpPr>
          <p:nvPr/>
        </p:nvSpPr>
        <p:spPr>
          <a:xfrm>
            <a:off x="0" y="6858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2" name="直接连接符 51"/>
          <p:cNvSpPr>
            <a:spLocks noGrp="1"/>
          </p:cNvSpPr>
          <p:nvPr/>
        </p:nvSpPr>
        <p:spPr>
          <a:xfrm>
            <a:off x="0" y="7429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3" name="直接连接符 52"/>
          <p:cNvSpPr>
            <a:spLocks noGrp="1"/>
          </p:cNvSpPr>
          <p:nvPr/>
        </p:nvSpPr>
        <p:spPr>
          <a:xfrm>
            <a:off x="0" y="8001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4" name="直接连接符 53"/>
          <p:cNvSpPr>
            <a:spLocks noGrp="1"/>
          </p:cNvSpPr>
          <p:nvPr/>
        </p:nvSpPr>
        <p:spPr>
          <a:xfrm>
            <a:off x="0" y="8572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5" name="直接连接符 54"/>
          <p:cNvSpPr>
            <a:spLocks noGrp="1"/>
          </p:cNvSpPr>
          <p:nvPr/>
        </p:nvSpPr>
        <p:spPr>
          <a:xfrm>
            <a:off x="0" y="9144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6" name="直接连接符 55"/>
          <p:cNvSpPr>
            <a:spLocks noGrp="1"/>
          </p:cNvSpPr>
          <p:nvPr/>
        </p:nvSpPr>
        <p:spPr>
          <a:xfrm>
            <a:off x="0" y="9715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7" name="直接连接符 56"/>
          <p:cNvSpPr>
            <a:spLocks noGrp="1"/>
          </p:cNvSpPr>
          <p:nvPr/>
        </p:nvSpPr>
        <p:spPr>
          <a:xfrm>
            <a:off x="0" y="10287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117">
                  <a:alpha val="0"/>
                </a:srgbClr>
              </a:gs>
              <a:gs pos="100000">
                <a:srgbClr val="0D1117">
                  <a:alpha val="4500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59" name="圆角矩形 58"/>
          <p:cNvSpPr>
            <a:spLocks noGrp="1"/>
          </p:cNvSpPr>
          <p:nvPr/>
        </p:nvSpPr>
        <p:spPr>
          <a:xfrm>
            <a:off x="819150" y="590550"/>
            <a:ext cx="6610350" cy="419100"/>
          </a:xfrm>
          <a:prstGeom prst="roundRect">
            <a:avLst>
              <a:gd name="adj" fmla="val 50000"/>
            </a:avLst>
          </a:prstGeom>
          <a:solidFill>
            <a:srgbClr val="A855F7">
              <a:alpha val="18000"/>
            </a:srgbClr>
          </a:solidFill>
          <a:ln w="9525">
            <a:solidFill>
              <a:srgbClr val="A855F7">
                <a:alpha val="55000"/>
              </a:srgbClr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13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P5 · Retrieval-Augmented Generation</a:t>
            </a:r>
            <a:endParaRPr sz="1350" b="1">
              <a:solidFill>
                <a:srgbClr val="C084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819150" y="1123950"/>
            <a:ext cx="12382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buNone/>
              <a:defRPr sz="4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gradFill>
                  <a:gsLst>
                    <a:gs pos="0">
                      <a:srgbClr val="A855F7"/>
                    </a:gs>
                    <a:gs pos="52000">
                      <a:srgbClr val="60A5FA"/>
                    </a:gs>
                    <a:gs pos="100000">
                      <a:srgbClr val="34D399"/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全链路</a:t>
            </a:r>
            <a:endParaRPr sz="4200" b="1">
              <a:gradFill>
                <a:gsLst>
                  <a:gs pos="0">
                    <a:srgbClr val="A855F7"/>
                  </a:gs>
                  <a:gs pos="52000">
                    <a:srgbClr val="60A5FA"/>
                  </a:gs>
                  <a:gs pos="100000">
                    <a:srgbClr val="34D399"/>
                  </a:gs>
                </a:gsLst>
                <a:lin ang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857250" y="1847850"/>
            <a:ext cx="1314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 阶段 · 从口语到可解释推荐</a:t>
            </a:r>
            <a:endParaRPr sz="180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819150" y="96202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OmniCart Agent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16192500" y="96202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05 / 16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4" name="直接连接符 63"/>
          <p:cNvSpPr>
            <a:spLocks noGrp="1"/>
          </p:cNvSpPr>
          <p:nvPr/>
        </p:nvSpPr>
        <p:spPr>
          <a:xfrm>
            <a:off x="819150" y="9486900"/>
            <a:ext cx="16649700" cy="0"/>
          </a:xfrm>
          <a:prstGeom prst="line">
            <a:avLst/>
          </a:prstGeom>
          <a:noFill/>
          <a:ln w="9525">
            <a:solidFill>
              <a:srgbClr val="30363D">
                <a:alpha val="70000"/>
              </a:srgbClr>
            </a:solidFill>
            <a:prstDash val="solid"/>
          </a:ln>
        </p:spPr>
      </p:sp>
      <p:sp>
        <p:nvSpPr>
          <p:cNvPr id="65" name="圆角矩形 64"/>
          <p:cNvSpPr>
            <a:spLocks noGrp="1"/>
          </p:cNvSpPr>
          <p:nvPr/>
        </p:nvSpPr>
        <p:spPr>
          <a:xfrm>
            <a:off x="1047750" y="3476625"/>
            <a:ext cx="1714500" cy="742950"/>
          </a:xfrm>
          <a:prstGeom prst="roundRect">
            <a:avLst>
              <a:gd name="adj" fmla="val 23077"/>
            </a:avLst>
          </a:prstGeom>
          <a:solidFill>
            <a:srgbClr val="A855F7">
              <a:alpha val="13000"/>
            </a:srgbClr>
          </a:solidFill>
          <a:ln w="9525">
            <a:solidFill>
              <a:srgbClr val="A855F7">
                <a:alpha val="45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用户口语</a:t>
            </a:r>
            <a:endParaRPr sz="16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05000"/>
              </a:lnSpc>
              <a:buNone/>
              <a:defRPr sz="16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需求</a:t>
            </a:r>
            <a:endParaRPr sz="16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圆角矩形 65"/>
          <p:cNvSpPr>
            <a:spLocks noGrp="1"/>
          </p:cNvSpPr>
          <p:nvPr/>
        </p:nvSpPr>
        <p:spPr>
          <a:xfrm>
            <a:off x="3619500" y="2762250"/>
            <a:ext cx="2381250" cy="1428750"/>
          </a:xfrm>
          <a:prstGeom prst="roundRect">
            <a:avLst>
              <a:gd name="adj" fmla="val 12000"/>
            </a:avLst>
          </a:prstGeom>
          <a:solidFill>
            <a:srgbClr val="00D4FF">
              <a:alpha val="10000"/>
            </a:srgbClr>
          </a:solidFill>
          <a:ln w="13335">
            <a:solidFill>
              <a:srgbClr val="00D4FF">
                <a:alpha val="42000"/>
              </a:srgbClr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3829050" y="2990850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搜索词</a:t>
            </a:r>
            <a:endParaRPr sz="1875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3829050" y="3390900"/>
            <a:ext cx="1962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LLM改写</a:t>
            </a:r>
            <a:endParaRPr sz="15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8000"/>
              </a:lnSpc>
              <a:buNone/>
              <a:def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缓存30min</a:t>
            </a:r>
            <a:endParaRPr sz="15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圆角矩形 68"/>
          <p:cNvSpPr>
            <a:spLocks noGrp="1"/>
          </p:cNvSpPr>
          <p:nvPr/>
        </p:nvSpPr>
        <p:spPr>
          <a:xfrm>
            <a:off x="6762750" y="2762250"/>
            <a:ext cx="2381250" cy="1428750"/>
          </a:xfrm>
          <a:prstGeom prst="roundRect">
            <a:avLst>
              <a:gd name="adj" fmla="val 12000"/>
            </a:avLst>
          </a:prstGeom>
          <a:solidFill>
            <a:srgbClr val="00D4FF">
              <a:alpha val="10000"/>
            </a:srgbClr>
          </a:solidFill>
          <a:ln w="13335">
            <a:solidFill>
              <a:srgbClr val="00D4FF">
                <a:alpha val="42000"/>
              </a:srgbClr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6972300" y="2990850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向量化</a:t>
            </a:r>
            <a:endParaRPr sz="1875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6972300" y="3390900"/>
            <a:ext cx="1962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1024d</a:t>
            </a:r>
            <a:endParaRPr sz="15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8000"/>
              </a:lnSpc>
              <a:buNone/>
              <a:def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Embedding</a:t>
            </a:r>
            <a:endParaRPr sz="15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圆角矩形 71"/>
          <p:cNvSpPr>
            <a:spLocks noGrp="1"/>
          </p:cNvSpPr>
          <p:nvPr/>
        </p:nvSpPr>
        <p:spPr>
          <a:xfrm>
            <a:off x="9906000" y="2762250"/>
            <a:ext cx="2381250" cy="1428750"/>
          </a:xfrm>
          <a:prstGeom prst="roundRect">
            <a:avLst>
              <a:gd name="adj" fmla="val 12000"/>
            </a:avLst>
          </a:prstGeom>
          <a:solidFill>
            <a:srgbClr val="00D4FF">
              <a:alpha val="10000"/>
            </a:srgbClr>
          </a:solidFill>
          <a:ln w="13335">
            <a:solidFill>
              <a:srgbClr val="00D4FF">
                <a:alpha val="42000"/>
              </a:srgbClr>
            </a:solidFill>
            <a:prstDash val="solid"/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10115550" y="2990850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双集合</a:t>
            </a:r>
            <a:endParaRPr sz="1875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矩形 73"/>
          <p:cNvSpPr>
            <a:spLocks noGrp="1"/>
          </p:cNvSpPr>
          <p:nvPr/>
        </p:nvSpPr>
        <p:spPr>
          <a:xfrm>
            <a:off x="10115550" y="3390900"/>
            <a:ext cx="1962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Qdrant</a:t>
            </a:r>
            <a:endParaRPr sz="15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8000"/>
              </a:lnSpc>
              <a:buNone/>
              <a:def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ANN</a:t>
            </a:r>
            <a:endParaRPr sz="15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13049250" y="2762250"/>
            <a:ext cx="2381250" cy="1428750"/>
          </a:xfrm>
          <a:prstGeom prst="roundRect">
            <a:avLst>
              <a:gd name="adj" fmla="val 12000"/>
            </a:avLst>
          </a:prstGeom>
          <a:solidFill>
            <a:srgbClr val="00D4FF">
              <a:alpha val="10000"/>
            </a:srgbClr>
          </a:solidFill>
          <a:ln w="13335">
            <a:solidFill>
              <a:srgbClr val="00D4FF">
                <a:alpha val="42000"/>
              </a:srgbClr>
            </a:solidFill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13258800" y="2990850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过滤</a:t>
            </a:r>
            <a:endParaRPr sz="1875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13258800" y="3390900"/>
            <a:ext cx="1962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品类/价格</a:t>
            </a:r>
            <a:endParaRPr sz="15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8000"/>
              </a:lnSpc>
              <a:buNone/>
              <a:def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视觉置顶</a:t>
            </a:r>
            <a:endParaRPr sz="15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圆角矩形 77"/>
          <p:cNvSpPr>
            <a:spLocks noGrp="1"/>
          </p:cNvSpPr>
          <p:nvPr/>
        </p:nvSpPr>
        <p:spPr>
          <a:xfrm>
            <a:off x="3619500" y="5334000"/>
            <a:ext cx="2381250" cy="1428750"/>
          </a:xfrm>
          <a:prstGeom prst="roundRect">
            <a:avLst>
              <a:gd name="adj" fmla="val 12000"/>
            </a:avLst>
          </a:prstGeom>
          <a:solidFill>
            <a:srgbClr val="00D4FF">
              <a:alpha val="10000"/>
            </a:srgbClr>
          </a:solidFill>
          <a:ln w="13335">
            <a:solidFill>
              <a:srgbClr val="00D4FF">
                <a:alpha val="42000"/>
              </a:srgbClr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3829050" y="5562600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精排</a:t>
            </a:r>
            <a:endParaRPr sz="1875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3829050" y="5962650"/>
            <a:ext cx="1962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Reranker</a:t>
            </a:r>
            <a:endParaRPr sz="15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8000"/>
              </a:lnSpc>
              <a:buNone/>
              <a:def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校准置顶</a:t>
            </a:r>
            <a:endParaRPr sz="15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圆角矩形 80"/>
          <p:cNvSpPr>
            <a:spLocks noGrp="1"/>
          </p:cNvSpPr>
          <p:nvPr/>
        </p:nvSpPr>
        <p:spPr>
          <a:xfrm>
            <a:off x="6762750" y="5334000"/>
            <a:ext cx="2381250" cy="1428750"/>
          </a:xfrm>
          <a:prstGeom prst="roundRect">
            <a:avLst>
              <a:gd name="adj" fmla="val 12000"/>
            </a:avLst>
          </a:prstGeom>
          <a:solidFill>
            <a:srgbClr val="00D4FF">
              <a:alpha val="10000"/>
            </a:srgbClr>
          </a:solidFill>
          <a:ln w="13335">
            <a:solidFill>
              <a:srgbClr val="00D4FF">
                <a:alpha val="42000"/>
              </a:srgbClr>
            </a:solidFill>
            <a:prstDash val="solid"/>
          </a:ln>
        </p:spPr>
      </p:sp>
      <p:sp>
        <p:nvSpPr>
          <p:cNvPr id="82" name="矩形 81"/>
          <p:cNvSpPr>
            <a:spLocks noGrp="1"/>
          </p:cNvSpPr>
          <p:nvPr/>
        </p:nvSpPr>
        <p:spPr>
          <a:xfrm>
            <a:off x="6972300" y="5562600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⑥ 证据</a:t>
            </a:r>
            <a:endParaRPr sz="1875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6972300" y="5962650"/>
            <a:ext cx="1962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三通道</a:t>
            </a:r>
            <a:endParaRPr sz="15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8000"/>
              </a:lnSpc>
              <a:buNone/>
              <a:def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补充</a:t>
            </a:r>
            <a:endParaRPr sz="15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圆角矩形 83"/>
          <p:cNvSpPr>
            <a:spLocks noGrp="1"/>
          </p:cNvSpPr>
          <p:nvPr/>
        </p:nvSpPr>
        <p:spPr>
          <a:xfrm>
            <a:off x="9906000" y="5334000"/>
            <a:ext cx="2381250" cy="1428750"/>
          </a:xfrm>
          <a:prstGeom prst="roundRect">
            <a:avLst>
              <a:gd name="adj" fmla="val 12000"/>
            </a:avLst>
          </a:prstGeom>
          <a:solidFill>
            <a:srgbClr val="00D4FF">
              <a:alpha val="10000"/>
            </a:srgbClr>
          </a:solidFill>
          <a:ln w="13335">
            <a:solidFill>
              <a:srgbClr val="00D4FF">
                <a:alpha val="42000"/>
              </a:srgbClr>
            </a:solidFill>
            <a:prstDash val="solid"/>
          </a:ln>
        </p:spPr>
      </p:sp>
      <p:sp>
        <p:nvSpPr>
          <p:cNvPr id="85" name="矩形 84"/>
          <p:cNvSpPr>
            <a:spLocks noGrp="1"/>
          </p:cNvSpPr>
          <p:nvPr/>
        </p:nvSpPr>
        <p:spPr>
          <a:xfrm>
            <a:off x="10115550" y="5562600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⑦ 编译</a:t>
            </a:r>
            <a:endParaRPr sz="1875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10115550" y="5962650"/>
            <a:ext cx="1962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Prompt</a:t>
            </a:r>
            <a:endParaRPr sz="15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8000"/>
              </a:lnSpc>
              <a:buNone/>
              <a:def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压缩</a:t>
            </a:r>
            <a:endParaRPr sz="15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圆角矩形 86"/>
          <p:cNvSpPr>
            <a:spLocks noGrp="1"/>
          </p:cNvSpPr>
          <p:nvPr/>
        </p:nvSpPr>
        <p:spPr>
          <a:xfrm>
            <a:off x="13049250" y="5334000"/>
            <a:ext cx="2381250" cy="1428750"/>
          </a:xfrm>
          <a:prstGeom prst="roundRect">
            <a:avLst>
              <a:gd name="adj" fmla="val 12000"/>
            </a:avLst>
          </a:prstGeom>
          <a:solidFill>
            <a:srgbClr val="00D4FF">
              <a:alpha val="10000"/>
            </a:srgbClr>
          </a:solidFill>
          <a:ln w="13335">
            <a:solidFill>
              <a:srgbClr val="00D4FF">
                <a:alpha val="42000"/>
              </a:srgbClr>
            </a:solidFill>
            <a:prstDash val="solid"/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13258800" y="5562600"/>
            <a:ext cx="19621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⑧ 生成</a:t>
            </a:r>
            <a:endParaRPr sz="1875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13258800" y="5962650"/>
            <a:ext cx="1962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8000"/>
              </a:lnSpc>
              <a:buNone/>
              <a:def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LLM流式</a:t>
            </a:r>
            <a:endParaRPr sz="15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8000"/>
              </a:lnSpc>
              <a:buNone/>
              <a:def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Guard</a:t>
            </a:r>
            <a:endParaRPr sz="15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05" name="直接箭头连接符 204"/>
          <p:cNvCxnSpPr>
            <a:stCxn id="64" idx="3"/>
            <a:endCxn id="65" idx="1"/>
          </p:cNvCxnSpPr>
          <p:nvPr/>
        </p:nvCxnSpPr>
        <p:spPr>
          <a:xfrm flipV="1">
            <a:off x="2762250" y="3476625"/>
            <a:ext cx="857250" cy="371475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06" name="直接箭头连接符 205"/>
          <p:cNvCxnSpPr>
            <a:stCxn id="65" idx="3"/>
            <a:endCxn id="68" idx="1"/>
          </p:cNvCxnSpPr>
          <p:nvPr/>
        </p:nvCxnSpPr>
        <p:spPr>
          <a:xfrm>
            <a:off x="6000750" y="3476625"/>
            <a:ext cx="762000" cy="0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07" name="直接箭头连接符 206"/>
          <p:cNvCxnSpPr>
            <a:stCxn id="68" idx="3"/>
            <a:endCxn id="71" idx="1"/>
          </p:cNvCxnSpPr>
          <p:nvPr/>
        </p:nvCxnSpPr>
        <p:spPr>
          <a:xfrm>
            <a:off x="9144000" y="3476625"/>
            <a:ext cx="762000" cy="0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08" name="直接箭头连接符 207"/>
          <p:cNvCxnSpPr>
            <a:stCxn id="71" idx="3"/>
            <a:endCxn id="74" idx="1"/>
          </p:cNvCxnSpPr>
          <p:nvPr/>
        </p:nvCxnSpPr>
        <p:spPr>
          <a:xfrm>
            <a:off x="12287250" y="3476625"/>
            <a:ext cx="762000" cy="0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09" name="肘形连接符 208"/>
          <p:cNvCxnSpPr>
            <a:stCxn id="74" idx="2"/>
            <a:endCxn id="77" idx="0"/>
          </p:cNvCxnSpPr>
          <p:nvPr/>
        </p:nvCxnSpPr>
        <p:spPr>
          <a:xfrm flipH="1">
            <a:off x="4810125" y="4191000"/>
            <a:ext cx="9429750" cy="1143000"/>
          </a:xfrm>
          <a:prstGeom prst="bentConnector4">
            <a:avLst>
              <a:gd name="adj1" fmla="val 0"/>
              <a:gd name="adj2" fmla="val 50000"/>
            </a:avLst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0" name="直接箭头连接符 209"/>
          <p:cNvCxnSpPr>
            <a:stCxn id="77" idx="3"/>
            <a:endCxn id="80" idx="1"/>
          </p:cNvCxnSpPr>
          <p:nvPr/>
        </p:nvCxnSpPr>
        <p:spPr>
          <a:xfrm>
            <a:off x="6000750" y="6048375"/>
            <a:ext cx="762000" cy="0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1" name="直接箭头连接符 210"/>
          <p:cNvCxnSpPr>
            <a:stCxn id="80" idx="3"/>
            <a:endCxn id="83" idx="1"/>
          </p:cNvCxnSpPr>
          <p:nvPr/>
        </p:nvCxnSpPr>
        <p:spPr>
          <a:xfrm>
            <a:off x="9144000" y="6048375"/>
            <a:ext cx="762000" cy="0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12" name="直接箭头连接符 211"/>
          <p:cNvCxnSpPr>
            <a:stCxn id="83" idx="3"/>
            <a:endCxn id="86" idx="1"/>
          </p:cNvCxnSpPr>
          <p:nvPr/>
        </p:nvCxnSpPr>
        <p:spPr>
          <a:xfrm>
            <a:off x="12287250" y="6048375"/>
            <a:ext cx="762000" cy="0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97" name="直接连接符 96"/>
          <p:cNvSpPr>
            <a:spLocks noGrp="1"/>
          </p:cNvSpPr>
          <p:nvPr/>
        </p:nvSpPr>
        <p:spPr>
          <a:xfrm>
            <a:off x="4857750" y="7239000"/>
            <a:ext cx="10668000" cy="0"/>
          </a:xfrm>
          <a:prstGeom prst="line">
            <a:avLst/>
          </a:prstGeom>
          <a:noFill/>
          <a:ln w="19050">
            <a:solidFill>
              <a:srgbClr val="7C3AED">
                <a:alpha val="70000"/>
              </a:srgbClr>
            </a:solidFill>
            <a:prstDash val="dash"/>
          </a:ln>
        </p:spPr>
      </p:sp>
      <p:sp>
        <p:nvSpPr>
          <p:cNvPr id="98" name="矩形 97"/>
          <p:cNvSpPr>
            <a:spLocks noGrp="1"/>
          </p:cNvSpPr>
          <p:nvPr/>
        </p:nvSpPr>
        <p:spPr>
          <a:xfrm>
            <a:off x="7953375" y="70675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95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95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全链路 1-4s</a:t>
            </a:r>
            <a:endParaRPr sz="1950" b="1">
              <a:solidFill>
                <a:srgbClr val="00D4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9" name="圆角矩形 98"/>
          <p:cNvSpPr>
            <a:spLocks noGrp="1"/>
          </p:cNvSpPr>
          <p:nvPr/>
        </p:nvSpPr>
        <p:spPr>
          <a:xfrm>
            <a:off x="1143000" y="8096250"/>
            <a:ext cx="2381250" cy="1000125"/>
          </a:xfrm>
          <a:prstGeom prst="roundRect">
            <a:avLst>
              <a:gd name="adj" fmla="val 13333"/>
            </a:avLst>
          </a:prstGeom>
          <a:solidFill>
            <a:srgbClr val="161B22">
              <a:alpha val="8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0" name="矩形 99"/>
          <p:cNvSpPr>
            <a:spLocks noGrp="1"/>
          </p:cNvSpPr>
          <p:nvPr/>
        </p:nvSpPr>
        <p:spPr>
          <a:xfrm>
            <a:off x="1314450" y="82677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225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25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105件商品</a:t>
            </a:r>
            <a:endParaRPr sz="2250" b="1">
              <a:solidFill>
                <a:srgbClr val="00D4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01" name="矩形 100"/>
          <p:cNvSpPr>
            <a:spLocks noGrp="1"/>
          </p:cNvSpPr>
          <p:nvPr/>
        </p:nvSpPr>
        <p:spPr>
          <a:xfrm>
            <a:off x="1314450" y="874395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商品库</a:t>
            </a:r>
            <a:endParaRPr sz="135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圆角矩形 101"/>
          <p:cNvSpPr>
            <a:spLocks noGrp="1"/>
          </p:cNvSpPr>
          <p:nvPr/>
        </p:nvSpPr>
        <p:spPr>
          <a:xfrm>
            <a:off x="3952875" y="8096250"/>
            <a:ext cx="2381250" cy="1000125"/>
          </a:xfrm>
          <a:prstGeom prst="roundRect">
            <a:avLst>
              <a:gd name="adj" fmla="val 13333"/>
            </a:avLst>
          </a:prstGeom>
          <a:solidFill>
            <a:srgbClr val="161B22">
              <a:alpha val="8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3" name="矩形 102"/>
          <p:cNvSpPr>
            <a:spLocks noGrp="1"/>
          </p:cNvSpPr>
          <p:nvPr/>
        </p:nvSpPr>
        <p:spPr>
          <a:xfrm>
            <a:off x="4124325" y="82677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225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25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39个子品类</a:t>
            </a:r>
            <a:endParaRPr sz="2250" b="1">
              <a:solidFill>
                <a:srgbClr val="00D4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04" name="矩形 103"/>
          <p:cNvSpPr>
            <a:spLocks noGrp="1"/>
          </p:cNvSpPr>
          <p:nvPr/>
        </p:nvSpPr>
        <p:spPr>
          <a:xfrm>
            <a:off x="4124325" y="874395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细粒度分类</a:t>
            </a:r>
            <a:endParaRPr sz="135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圆角矩形 104"/>
          <p:cNvSpPr>
            <a:spLocks noGrp="1"/>
          </p:cNvSpPr>
          <p:nvPr/>
        </p:nvSpPr>
        <p:spPr>
          <a:xfrm>
            <a:off x="6762750" y="8096250"/>
            <a:ext cx="2381250" cy="1000125"/>
          </a:xfrm>
          <a:prstGeom prst="roundRect">
            <a:avLst>
              <a:gd name="adj" fmla="val 13333"/>
            </a:avLst>
          </a:prstGeom>
          <a:solidFill>
            <a:srgbClr val="161B22">
              <a:alpha val="8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6" name="矩形 105"/>
          <p:cNvSpPr>
            <a:spLocks noGrp="1"/>
          </p:cNvSpPr>
          <p:nvPr/>
        </p:nvSpPr>
        <p:spPr>
          <a:xfrm>
            <a:off x="6934200" y="82677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225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25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1024维向量</a:t>
            </a:r>
            <a:endParaRPr sz="2250" b="1">
              <a:solidFill>
                <a:srgbClr val="00D4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07" name="矩形 106"/>
          <p:cNvSpPr>
            <a:spLocks noGrp="1"/>
          </p:cNvSpPr>
          <p:nvPr/>
        </p:nvSpPr>
        <p:spPr>
          <a:xfrm>
            <a:off x="6934200" y="874395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embedding</a:t>
            </a:r>
            <a:endParaRPr sz="135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圆角矩形 107"/>
          <p:cNvSpPr>
            <a:spLocks noGrp="1"/>
          </p:cNvSpPr>
          <p:nvPr/>
        </p:nvSpPr>
        <p:spPr>
          <a:xfrm>
            <a:off x="9572625" y="8096250"/>
            <a:ext cx="2381250" cy="1000125"/>
          </a:xfrm>
          <a:prstGeom prst="roundRect">
            <a:avLst>
              <a:gd name="adj" fmla="val 13333"/>
            </a:avLst>
          </a:prstGeom>
          <a:solidFill>
            <a:srgbClr val="161B22">
              <a:alpha val="8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9" name="矩形 108"/>
          <p:cNvSpPr>
            <a:spLocks noGrp="1"/>
          </p:cNvSpPr>
          <p:nvPr/>
        </p:nvSpPr>
        <p:spPr>
          <a:xfrm>
            <a:off x="9744075" y="82677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225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25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4大品类</a:t>
            </a:r>
            <a:endParaRPr sz="2250" b="1">
              <a:solidFill>
                <a:srgbClr val="00D4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10" name="矩形 109"/>
          <p:cNvSpPr>
            <a:spLocks noGrp="1"/>
          </p:cNvSpPr>
          <p:nvPr/>
        </p:nvSpPr>
        <p:spPr>
          <a:xfrm>
            <a:off x="9744075" y="874395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覆盖范围</a:t>
            </a:r>
            <a:endParaRPr sz="135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" name="圆角矩形 110"/>
          <p:cNvSpPr>
            <a:spLocks noGrp="1"/>
          </p:cNvSpPr>
          <p:nvPr/>
        </p:nvSpPr>
        <p:spPr>
          <a:xfrm>
            <a:off x="12382500" y="8096250"/>
            <a:ext cx="2381250" cy="1000125"/>
          </a:xfrm>
          <a:prstGeom prst="roundRect">
            <a:avLst>
              <a:gd name="adj" fmla="val 13333"/>
            </a:avLst>
          </a:prstGeom>
          <a:solidFill>
            <a:srgbClr val="161B22">
              <a:alpha val="8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2" name="矩形 111"/>
          <p:cNvSpPr>
            <a:spLocks noGrp="1"/>
          </p:cNvSpPr>
          <p:nvPr/>
        </p:nvSpPr>
        <p:spPr>
          <a:xfrm>
            <a:off x="12553950" y="82677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225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25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双集合索引</a:t>
            </a:r>
            <a:endParaRPr sz="2250" b="1">
              <a:solidFill>
                <a:srgbClr val="00D4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13" name="矩形 112"/>
          <p:cNvSpPr>
            <a:spLocks noGrp="1"/>
          </p:cNvSpPr>
          <p:nvPr/>
        </p:nvSpPr>
        <p:spPr>
          <a:xfrm>
            <a:off x="12553950" y="874395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召回+精确</a:t>
            </a:r>
            <a:endParaRPr sz="135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圆角矩形 113"/>
          <p:cNvSpPr>
            <a:spLocks noGrp="1"/>
          </p:cNvSpPr>
          <p:nvPr/>
        </p:nvSpPr>
        <p:spPr>
          <a:xfrm>
            <a:off x="15192375" y="8096250"/>
            <a:ext cx="2381250" cy="1000125"/>
          </a:xfrm>
          <a:prstGeom prst="roundRect">
            <a:avLst>
              <a:gd name="adj" fmla="val 13333"/>
            </a:avLst>
          </a:prstGeom>
          <a:solidFill>
            <a:srgbClr val="161B22">
              <a:alpha val="8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5" name="矩形 114"/>
          <p:cNvSpPr>
            <a:spLocks noGrp="1"/>
          </p:cNvSpPr>
          <p:nvPr/>
        </p:nvSpPr>
        <p:spPr>
          <a:xfrm>
            <a:off x="15363825" y="8267700"/>
            <a:ext cx="20383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225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25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余弦相似度</a:t>
            </a:r>
            <a:endParaRPr sz="2250" b="1">
              <a:solidFill>
                <a:srgbClr val="00D4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16" name="矩形 115"/>
          <p:cNvSpPr>
            <a:spLocks noGrp="1"/>
          </p:cNvSpPr>
          <p:nvPr/>
        </p:nvSpPr>
        <p:spPr>
          <a:xfrm>
            <a:off x="15363825" y="8743950"/>
            <a:ext cx="2038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Qdrant ANN</a:t>
            </a:r>
            <a:endParaRPr sz="135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117"/>
              </a:gs>
              <a:gs pos="46000">
                <a:srgbClr val="11111F"/>
              </a:gs>
              <a:gs pos="100000">
                <a:srgbClr val="06151A"/>
              </a:gs>
            </a:gsLst>
            <a:lin ang="7800000"/>
          </a:gradFill>
          <a:ln w="0">
            <a:noFill/>
            <a:prstDash val="solid"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-3429000" y="-3143250"/>
            <a:ext cx="9334500" cy="8382000"/>
          </a:xfrm>
          <a:prstGeom prst="ellipse">
            <a:avLst/>
          </a:prstGeom>
          <a:gradFill>
            <a:gsLst>
              <a:gs pos="0">
                <a:srgbClr val="A855F7">
                  <a:alpha val="30000"/>
                </a:srgbClr>
              </a:gs>
              <a:gs pos="42000">
                <a:srgbClr val="7C3AED">
                  <a:alpha val="14000"/>
                </a:srgbClr>
              </a:gs>
              <a:gs pos="74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10572750" y="-2476500"/>
            <a:ext cx="9906000" cy="8572500"/>
          </a:xfrm>
          <a:prstGeom prst="ellipse">
            <a:avLst/>
          </a:prstGeom>
          <a:gradFill>
            <a:gsLst>
              <a:gs pos="0">
                <a:srgbClr val="60A5FA">
                  <a:alpha val="22000"/>
                </a:srgbClr>
              </a:gs>
              <a:gs pos="46000">
                <a:srgbClr val="00D4FF">
                  <a:alpha val="9000"/>
                </a:srgbClr>
              </a:gs>
              <a:gs pos="78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5715000" y="6477000"/>
            <a:ext cx="7810500" cy="4953000"/>
          </a:xfrm>
          <a:prstGeom prst="ellipse">
            <a:avLst/>
          </a:prstGeom>
          <a:gradFill>
            <a:gsLst>
              <a:gs pos="0">
                <a:srgbClr val="34D399">
                  <a:alpha val="13000"/>
                </a:srgbClr>
              </a:gs>
              <a:gs pos="72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71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143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714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2286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2857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3429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4000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4572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5143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5715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6286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6858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7429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8001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8572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9144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9715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10287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10858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11430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12001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12573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13144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13716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14287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14859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15430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16002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16573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17145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17716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18288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9" name="直接连接符 38"/>
          <p:cNvSpPr>
            <a:spLocks noGrp="1"/>
          </p:cNvSpPr>
          <p:nvPr/>
        </p:nvSpPr>
        <p:spPr>
          <a:xfrm>
            <a:off x="0" y="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0" y="571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0" y="1143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0" y="1714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3" name="直接连接符 42"/>
          <p:cNvSpPr>
            <a:spLocks noGrp="1"/>
          </p:cNvSpPr>
          <p:nvPr/>
        </p:nvSpPr>
        <p:spPr>
          <a:xfrm>
            <a:off x="0" y="2286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4" name="直接连接符 43"/>
          <p:cNvSpPr>
            <a:spLocks noGrp="1"/>
          </p:cNvSpPr>
          <p:nvPr/>
        </p:nvSpPr>
        <p:spPr>
          <a:xfrm>
            <a:off x="0" y="2857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5" name="直接连接符 44"/>
          <p:cNvSpPr>
            <a:spLocks noGrp="1"/>
          </p:cNvSpPr>
          <p:nvPr/>
        </p:nvSpPr>
        <p:spPr>
          <a:xfrm>
            <a:off x="0" y="3429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0" y="4000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0" y="4572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0" y="5143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9" name="直接连接符 48"/>
          <p:cNvSpPr>
            <a:spLocks noGrp="1"/>
          </p:cNvSpPr>
          <p:nvPr/>
        </p:nvSpPr>
        <p:spPr>
          <a:xfrm>
            <a:off x="0" y="5715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0" name="直接连接符 49"/>
          <p:cNvSpPr>
            <a:spLocks noGrp="1"/>
          </p:cNvSpPr>
          <p:nvPr/>
        </p:nvSpPr>
        <p:spPr>
          <a:xfrm>
            <a:off x="0" y="6286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1" name="直接连接符 50"/>
          <p:cNvSpPr>
            <a:spLocks noGrp="1"/>
          </p:cNvSpPr>
          <p:nvPr/>
        </p:nvSpPr>
        <p:spPr>
          <a:xfrm>
            <a:off x="0" y="6858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2" name="直接连接符 51"/>
          <p:cNvSpPr>
            <a:spLocks noGrp="1"/>
          </p:cNvSpPr>
          <p:nvPr/>
        </p:nvSpPr>
        <p:spPr>
          <a:xfrm>
            <a:off x="0" y="7429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3" name="直接连接符 52"/>
          <p:cNvSpPr>
            <a:spLocks noGrp="1"/>
          </p:cNvSpPr>
          <p:nvPr/>
        </p:nvSpPr>
        <p:spPr>
          <a:xfrm>
            <a:off x="0" y="8001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4" name="直接连接符 53"/>
          <p:cNvSpPr>
            <a:spLocks noGrp="1"/>
          </p:cNvSpPr>
          <p:nvPr/>
        </p:nvSpPr>
        <p:spPr>
          <a:xfrm>
            <a:off x="0" y="8572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5" name="直接连接符 54"/>
          <p:cNvSpPr>
            <a:spLocks noGrp="1"/>
          </p:cNvSpPr>
          <p:nvPr/>
        </p:nvSpPr>
        <p:spPr>
          <a:xfrm>
            <a:off x="0" y="9144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6" name="直接连接符 55"/>
          <p:cNvSpPr>
            <a:spLocks noGrp="1"/>
          </p:cNvSpPr>
          <p:nvPr/>
        </p:nvSpPr>
        <p:spPr>
          <a:xfrm>
            <a:off x="0" y="9715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7" name="直接连接符 56"/>
          <p:cNvSpPr>
            <a:spLocks noGrp="1"/>
          </p:cNvSpPr>
          <p:nvPr/>
        </p:nvSpPr>
        <p:spPr>
          <a:xfrm>
            <a:off x="0" y="10287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117">
                  <a:alpha val="0"/>
                </a:srgbClr>
              </a:gs>
              <a:gs pos="100000">
                <a:srgbClr val="0D1117">
                  <a:alpha val="4500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59" name="圆角矩形 58"/>
          <p:cNvSpPr>
            <a:spLocks noGrp="1"/>
          </p:cNvSpPr>
          <p:nvPr/>
        </p:nvSpPr>
        <p:spPr>
          <a:xfrm>
            <a:off x="819150" y="590550"/>
            <a:ext cx="3867150" cy="419100"/>
          </a:xfrm>
          <a:prstGeom prst="roundRect">
            <a:avLst>
              <a:gd name="adj" fmla="val 50000"/>
            </a:avLst>
          </a:prstGeom>
          <a:solidFill>
            <a:srgbClr val="A855F7">
              <a:alpha val="18000"/>
            </a:srgbClr>
          </a:solidFill>
          <a:ln w="9525">
            <a:solidFill>
              <a:srgbClr val="A855F7">
                <a:alpha val="55000"/>
              </a:srgbClr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13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P6 · Retrieval Core</a:t>
            </a:r>
            <a:endParaRPr sz="1350" b="1">
              <a:solidFill>
                <a:srgbClr val="C084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819150" y="1123950"/>
            <a:ext cx="12382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buNone/>
              <a:defRPr sz="4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gradFill>
                  <a:gsLst>
                    <a:gs pos="0">
                      <a:srgbClr val="A855F7"/>
                    </a:gs>
                    <a:gs pos="52000">
                      <a:srgbClr val="60A5FA"/>
                    </a:gs>
                    <a:gs pos="100000">
                      <a:srgbClr val="34D399"/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双集合向量检索 + Reranker 精排</a:t>
            </a:r>
            <a:endParaRPr sz="4200" b="1">
              <a:gradFill>
                <a:gsLst>
                  <a:gs pos="0">
                    <a:srgbClr val="A855F7"/>
                  </a:gs>
                  <a:gs pos="52000">
                    <a:srgbClr val="60A5FA"/>
                  </a:gs>
                  <a:gs pos="100000">
                    <a:srgbClr val="34D399"/>
                  </a:gs>
                </a:gsLst>
                <a:lin ang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857250" y="1847850"/>
            <a:ext cx="1314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105 件商品中精准命中 Top 5</a:t>
            </a:r>
            <a:endParaRPr sz="180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819150" y="96202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OmniCart Agent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16192500" y="96202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06 / 16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4" name="直接连接符 63"/>
          <p:cNvSpPr>
            <a:spLocks noGrp="1"/>
          </p:cNvSpPr>
          <p:nvPr/>
        </p:nvSpPr>
        <p:spPr>
          <a:xfrm>
            <a:off x="819150" y="9166225"/>
            <a:ext cx="16649700" cy="0"/>
          </a:xfrm>
          <a:prstGeom prst="line">
            <a:avLst/>
          </a:prstGeom>
          <a:noFill/>
          <a:ln w="9525">
            <a:solidFill>
              <a:srgbClr val="30363D">
                <a:alpha val="70000"/>
              </a:srgbClr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1000125" y="2333625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双集合检索</a:t>
            </a:r>
            <a:endParaRPr sz="22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圆角矩形 65"/>
          <p:cNvSpPr>
            <a:spLocks noGrp="1"/>
          </p:cNvSpPr>
          <p:nvPr/>
        </p:nvSpPr>
        <p:spPr>
          <a:xfrm>
            <a:off x="952500" y="2857500"/>
            <a:ext cx="7334250" cy="2426335"/>
          </a:xfrm>
          <a:prstGeom prst="roundRect">
            <a:avLst>
              <a:gd name="adj" fmla="val 653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7" name="矩形 66"/>
          <p:cNvSpPr>
            <a:spLocks noGrp="1"/>
          </p:cNvSpPr>
          <p:nvPr/>
        </p:nvSpPr>
        <p:spPr>
          <a:xfrm>
            <a:off x="952500" y="2857500"/>
            <a:ext cx="66675" cy="2333625"/>
          </a:xfrm>
          <a:prstGeom prst="rect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68" name="椭圆 67"/>
          <p:cNvSpPr>
            <a:spLocks noGrp="1"/>
          </p:cNvSpPr>
          <p:nvPr/>
        </p:nvSpPr>
        <p:spPr>
          <a:xfrm>
            <a:off x="1238250" y="3067050"/>
            <a:ext cx="114300" cy="114300"/>
          </a:xfrm>
          <a:prstGeom prst="ellipse">
            <a:avLst/>
          </a:prstGeom>
          <a:solidFill>
            <a:srgbClr val="FF7B72"/>
          </a:solidFill>
          <a:ln w="0">
            <a:noFill/>
            <a:prstDash val="solid"/>
          </a:ln>
        </p:spPr>
      </p:sp>
      <p:sp>
        <p:nvSpPr>
          <p:cNvPr id="69" name="椭圆 68"/>
          <p:cNvSpPr>
            <a:spLocks noGrp="1"/>
          </p:cNvSpPr>
          <p:nvPr/>
        </p:nvSpPr>
        <p:spPr>
          <a:xfrm>
            <a:off x="1466850" y="3067050"/>
            <a:ext cx="114300" cy="114300"/>
          </a:xfrm>
          <a:prstGeom prst="ellipse">
            <a:avLst/>
          </a:prstGeom>
          <a:solidFill>
            <a:srgbClr val="FFA657"/>
          </a:solidFill>
          <a:ln w="0">
            <a:noFill/>
            <a:prstDash val="solid"/>
          </a:ln>
        </p:spPr>
      </p:sp>
      <p:sp>
        <p:nvSpPr>
          <p:cNvPr id="70" name="椭圆 69"/>
          <p:cNvSpPr>
            <a:spLocks noGrp="1"/>
          </p:cNvSpPr>
          <p:nvPr/>
        </p:nvSpPr>
        <p:spPr>
          <a:xfrm>
            <a:off x="1695450" y="3067050"/>
            <a:ext cx="114300" cy="114300"/>
          </a:xfrm>
          <a:prstGeom prst="ellipse">
            <a:avLst/>
          </a:prstGeom>
          <a:solidFill>
            <a:srgbClr val="7EE787"/>
          </a:solidFill>
          <a:ln w="0">
            <a:noFill/>
            <a:prstDash val="solid"/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1238250" y="3352800"/>
            <a:ext cx="6781800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7000"/>
              </a:lnSpc>
              <a:buNone/>
              <a:defRPr sz="15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5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products collection (105)</a:t>
            </a:r>
            <a:endParaRPr sz="1500" b="0">
              <a:solidFill>
                <a:srgbClr val="C9D1D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lnSpc>
                <a:spcPct val="117000"/>
              </a:lnSpc>
              <a:buNone/>
              <a:defRPr sz="15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5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title + description + FAQ + reviews</a:t>
            </a:r>
            <a:endParaRPr sz="1500" b="0">
              <a:solidFill>
                <a:srgbClr val="C9D1D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lnSpc>
                <a:spcPct val="117000"/>
              </a:lnSpc>
              <a:buNone/>
              <a:defRPr sz="15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5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-&gt; one 1024d product embedding</a:t>
            </a:r>
            <a:endParaRPr sz="1500" b="0">
              <a:solidFill>
                <a:srgbClr val="C9D1D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endParaRPr sz="1500"/>
          </a:p>
          <a:p>
            <a:pPr algn="l">
              <a:lnSpc>
                <a:spcPct val="117000"/>
              </a:lnSpc>
              <a:buNone/>
              <a:defRPr sz="15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5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example: QCY MeloBuds ANC</a:t>
            </a:r>
            <a:endParaRPr sz="1500" b="0">
              <a:solidFill>
                <a:srgbClr val="C9D1D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lnSpc>
                <a:spcPct val="117000"/>
              </a:lnSpc>
              <a:buNone/>
              <a:defRPr sz="15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5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"40dB降噪 Hi-Res音质..."</a:t>
            </a:r>
            <a:endParaRPr sz="1500" b="0">
              <a:solidFill>
                <a:srgbClr val="C9D1D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lnSpc>
                <a:spcPct val="117000"/>
              </a:lnSpc>
              <a:buNone/>
              <a:defRPr sz="15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5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-&gt; [0.023, -0.015, ..., 0.041]</a:t>
            </a:r>
            <a:endParaRPr sz="1500" b="0">
              <a:solidFill>
                <a:srgbClr val="C9D1D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2857500" y="53594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检索结果 &lt; 3 件时触发补召回</a:t>
            </a:r>
            <a:endParaRPr sz="135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圆角矩形 72"/>
          <p:cNvSpPr>
            <a:spLocks noGrp="1"/>
          </p:cNvSpPr>
          <p:nvPr/>
        </p:nvSpPr>
        <p:spPr>
          <a:xfrm>
            <a:off x="952500" y="5715000"/>
            <a:ext cx="7334250" cy="2333625"/>
          </a:xfrm>
          <a:prstGeom prst="roundRect">
            <a:avLst>
              <a:gd name="adj" fmla="val 653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4" name="矩形 73"/>
          <p:cNvSpPr>
            <a:spLocks noGrp="1"/>
          </p:cNvSpPr>
          <p:nvPr/>
        </p:nvSpPr>
        <p:spPr>
          <a:xfrm>
            <a:off x="952500" y="5715000"/>
            <a:ext cx="66675" cy="2333625"/>
          </a:xfrm>
          <a:prstGeom prst="rect">
            <a:avLst/>
          </a:prstGeom>
          <a:solidFill>
            <a:srgbClr val="00D4FF"/>
          </a:solidFill>
          <a:ln w="0">
            <a:noFill/>
            <a:prstDash val="solid"/>
          </a:ln>
        </p:spPr>
      </p:sp>
      <p:sp>
        <p:nvSpPr>
          <p:cNvPr id="75" name="椭圆 74"/>
          <p:cNvSpPr>
            <a:spLocks noGrp="1"/>
          </p:cNvSpPr>
          <p:nvPr/>
        </p:nvSpPr>
        <p:spPr>
          <a:xfrm>
            <a:off x="1238250" y="5924550"/>
            <a:ext cx="114300" cy="114300"/>
          </a:xfrm>
          <a:prstGeom prst="ellipse">
            <a:avLst/>
          </a:prstGeom>
          <a:solidFill>
            <a:srgbClr val="FF7B72"/>
          </a:solidFill>
          <a:ln w="0">
            <a:noFill/>
            <a:prstDash val="solid"/>
          </a:ln>
        </p:spPr>
      </p:sp>
      <p:sp>
        <p:nvSpPr>
          <p:cNvPr id="76" name="椭圆 75"/>
          <p:cNvSpPr>
            <a:spLocks noGrp="1"/>
          </p:cNvSpPr>
          <p:nvPr/>
        </p:nvSpPr>
        <p:spPr>
          <a:xfrm>
            <a:off x="1466850" y="5924550"/>
            <a:ext cx="114300" cy="114300"/>
          </a:xfrm>
          <a:prstGeom prst="ellipse">
            <a:avLst/>
          </a:prstGeom>
          <a:solidFill>
            <a:srgbClr val="FFA657"/>
          </a:solidFill>
          <a:ln w="0">
            <a:noFill/>
            <a:prstDash val="solid"/>
          </a:ln>
        </p:spPr>
      </p:sp>
      <p:sp>
        <p:nvSpPr>
          <p:cNvPr id="77" name="椭圆 76"/>
          <p:cNvSpPr>
            <a:spLocks noGrp="1"/>
          </p:cNvSpPr>
          <p:nvPr/>
        </p:nvSpPr>
        <p:spPr>
          <a:xfrm>
            <a:off x="1695450" y="5924550"/>
            <a:ext cx="114300" cy="114300"/>
          </a:xfrm>
          <a:prstGeom prst="ellipse">
            <a:avLst/>
          </a:prstGeom>
          <a:solidFill>
            <a:srgbClr val="7EE787"/>
          </a:solidFill>
          <a:ln w="0">
            <a:noFill/>
            <a:prstDash val="solid"/>
          </a:ln>
        </p:spPr>
      </p:sp>
      <p:sp>
        <p:nvSpPr>
          <p:cNvPr id="78" name="矩形 77"/>
          <p:cNvSpPr>
            <a:spLocks noGrp="1"/>
          </p:cNvSpPr>
          <p:nvPr/>
        </p:nvSpPr>
        <p:spPr>
          <a:xfrm>
            <a:off x="1238250" y="6210300"/>
            <a:ext cx="6781800" cy="1666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7000"/>
              </a:lnSpc>
              <a:buNone/>
              <a:defRPr sz="15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5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product_chunks collection (~800)</a:t>
            </a:r>
            <a:endParaRPr sz="1500" b="0">
              <a:solidFill>
                <a:srgbClr val="C9D1D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lnSpc>
                <a:spcPct val="117000"/>
              </a:lnSpc>
              <a:buNone/>
              <a:defRPr sz="15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5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summary x1 + marketing x1 + faq xN</a:t>
            </a:r>
            <a:endParaRPr sz="1500" b="0">
              <a:solidFill>
                <a:srgbClr val="C9D1D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lnSpc>
                <a:spcPct val="117000"/>
              </a:lnSpc>
              <a:buNone/>
              <a:defRPr sz="15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5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+ review chunks with independent embeddings</a:t>
            </a:r>
            <a:endParaRPr sz="1500" b="0">
              <a:solidFill>
                <a:srgbClr val="C9D1D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endParaRPr sz="1500"/>
          </a:p>
          <a:p>
            <a:pPr algn="l">
              <a:lnSpc>
                <a:spcPct val="117000"/>
              </a:lnSpc>
              <a:buNone/>
              <a:defRPr sz="15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5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example: "Q:降噪深度? A:40dB"</a:t>
            </a:r>
            <a:endParaRPr sz="1500" b="0">
              <a:solidFill>
                <a:srgbClr val="C9D1D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lnSpc>
                <a:spcPct val="117000"/>
              </a:lnSpc>
              <a:buNone/>
              <a:defRPr sz="15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5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-&gt; similarity 0.92</a:t>
            </a:r>
            <a:endParaRPr sz="1500" b="0">
              <a:solidFill>
                <a:srgbClr val="C9D1D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9239250" y="2333625"/>
            <a:ext cx="342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22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Reranker 精排</a:t>
            </a:r>
            <a:endParaRPr sz="22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圆角矩形 79"/>
          <p:cNvSpPr>
            <a:spLocks noGrp="1"/>
          </p:cNvSpPr>
          <p:nvPr/>
        </p:nvSpPr>
        <p:spPr>
          <a:xfrm>
            <a:off x="9311005" y="2790825"/>
            <a:ext cx="2381250" cy="609600"/>
          </a:xfrm>
          <a:prstGeom prst="roundRect">
            <a:avLst>
              <a:gd name="adj" fmla="val 25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6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召回 Top-K</a:t>
            </a:r>
            <a:endParaRPr sz="16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圆角矩形 80"/>
          <p:cNvSpPr>
            <a:spLocks noGrp="1"/>
          </p:cNvSpPr>
          <p:nvPr/>
        </p:nvSpPr>
        <p:spPr>
          <a:xfrm>
            <a:off x="12168505" y="2695575"/>
            <a:ext cx="3429000" cy="819150"/>
          </a:xfrm>
          <a:prstGeom prst="roundRect">
            <a:avLst>
              <a:gd name="adj" fmla="val 20930"/>
            </a:avLst>
          </a:prstGeom>
          <a:solidFill>
            <a:srgbClr val="A855F7">
              <a:alpha val="13000"/>
            </a:srgbClr>
          </a:solidFill>
          <a:ln w="13335">
            <a:solidFill>
              <a:srgbClr val="A855F7">
                <a:alpha val="48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18000"/>
              </a:lnSpc>
              <a:buNone/>
              <a:defRPr sz="15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Qwen3-Reranker</a:t>
            </a:r>
            <a:endParaRPr sz="150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18000"/>
              </a:lnSpc>
              <a:buNone/>
              <a:defRPr sz="15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query + 商品文档 → relevance_score</a:t>
            </a:r>
            <a:endParaRPr sz="150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9" name="直接箭头连接符 178"/>
          <p:cNvCxnSpPr>
            <a:endCxn id="80" idx="1"/>
          </p:cNvCxnSpPr>
          <p:nvPr/>
        </p:nvCxnSpPr>
        <p:spPr>
          <a:xfrm>
            <a:off x="11692255" y="3095625"/>
            <a:ext cx="476250" cy="9525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82" name="圆角矩形 81"/>
          <p:cNvSpPr>
            <a:spLocks noGrp="1"/>
          </p:cNvSpPr>
          <p:nvPr/>
        </p:nvSpPr>
        <p:spPr>
          <a:xfrm>
            <a:off x="9334500" y="3808095"/>
            <a:ext cx="6286500" cy="1975485"/>
          </a:xfrm>
          <a:prstGeom prst="roundRect">
            <a:avLst>
              <a:gd name="adj" fmla="val 8649"/>
            </a:avLst>
          </a:prstGeom>
          <a:solidFill>
            <a:srgbClr val="161B22">
              <a:alpha val="9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9334500" y="3808095"/>
            <a:ext cx="76200" cy="1975485"/>
          </a:xfrm>
          <a:prstGeom prst="rect">
            <a:avLst/>
          </a:prstGeom>
          <a:solidFill>
            <a:srgbClr val="00D4FF"/>
          </a:solidFill>
          <a:ln w="0">
            <a:noFill/>
            <a:prstDash val="solid"/>
          </a:ln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9582150" y="3984625"/>
            <a:ext cx="582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分数校准</a:t>
            </a:r>
            <a:endParaRPr sz="180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9582150" y="4403725"/>
            <a:ext cx="5791200" cy="942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2000"/>
              </a:lnSpc>
              <a:buNone/>
              <a:defRPr sz="16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score = 0.68 + 0.38 × raw_score</a:t>
            </a:r>
            <a:endParaRPr sz="16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6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raw=0.3 → 0.79  弱匹配</a:t>
            </a:r>
            <a:endParaRPr sz="16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6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raw=0.5 → 0.87  中等</a:t>
            </a:r>
            <a:endParaRPr sz="16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6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raw=0.7 → 0.95  优秀</a:t>
            </a:r>
            <a:endParaRPr sz="16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圆角矩形 85"/>
          <p:cNvSpPr>
            <a:spLocks noGrp="1"/>
          </p:cNvSpPr>
          <p:nvPr/>
        </p:nvSpPr>
        <p:spPr>
          <a:xfrm>
            <a:off x="9334500" y="5927725"/>
            <a:ext cx="6286500" cy="1391285"/>
          </a:xfrm>
          <a:prstGeom prst="roundRect">
            <a:avLst>
              <a:gd name="adj" fmla="val 13333"/>
            </a:avLst>
          </a:prstGeom>
          <a:solidFill>
            <a:srgbClr val="161B22">
              <a:alpha val="92000"/>
            </a:srgbClr>
          </a:solidFill>
          <a:ln w="9525">
            <a:solidFill>
              <a:srgbClr val="30363D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9334500" y="5927725"/>
            <a:ext cx="80010" cy="1391285"/>
          </a:xfrm>
          <a:prstGeom prst="rect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9582150" y="6032500"/>
            <a:ext cx="5829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排序约束</a:t>
            </a:r>
            <a:endParaRPr sz="180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9582150" y="6451600"/>
            <a:ext cx="5791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6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视觉精确匹配 → 强制置顶 0.99</a:t>
            </a:r>
            <a:endParaRPr sz="16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6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避雷标签匹配 → 直接移除</a:t>
            </a:r>
            <a:endParaRPr sz="16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圆角矩形 90"/>
          <p:cNvSpPr>
            <a:spLocks noGrp="1"/>
          </p:cNvSpPr>
          <p:nvPr/>
        </p:nvSpPr>
        <p:spPr>
          <a:xfrm>
            <a:off x="9563100" y="7848600"/>
            <a:ext cx="1314450" cy="971550"/>
          </a:xfrm>
          <a:prstGeom prst="roundRect">
            <a:avLst>
              <a:gd name="adj" fmla="val 13725"/>
            </a:avLst>
          </a:prstGeom>
          <a:gradFill>
            <a:gsLst>
              <a:gs pos="0">
                <a:srgbClr val="1F6FEB"/>
              </a:gs>
              <a:gs pos="55000">
                <a:srgbClr val="A855F7"/>
              </a:gs>
              <a:gs pos="100000">
                <a:srgbClr val="34D399"/>
              </a:gs>
            </a:gsLst>
            <a:lin ang="8100000"/>
          </a:gradFill>
          <a:ln w="0">
            <a:noFill/>
            <a:prstDash val="solid"/>
          </a:ln>
        </p:spPr>
      </p:sp>
      <p:sp>
        <p:nvSpPr>
          <p:cNvPr id="92" name="矩形 91"/>
          <p:cNvSpPr>
            <a:spLocks noGrp="1"/>
          </p:cNvSpPr>
          <p:nvPr/>
        </p:nvSpPr>
        <p:spPr>
          <a:xfrm>
            <a:off x="9753600" y="8210550"/>
            <a:ext cx="9334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2100" b="1">
                <a:solidFill>
                  <a:srgbClr val="F0F6F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100" b="1">
                <a:solidFill>
                  <a:srgbClr val="F0F6F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QCY</a:t>
            </a:r>
            <a:endParaRPr sz="2100" b="1">
              <a:solidFill>
                <a:srgbClr val="F0F6F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  <a:p>
            <a:pPr algn="ctr">
              <a:lnSpc>
                <a:spcPct val="105000"/>
              </a:lnSpc>
              <a:buNone/>
              <a:defRPr sz="2100" b="1">
                <a:solidFill>
                  <a:srgbClr val="F0F6F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100" b="1">
                <a:solidFill>
                  <a:srgbClr val="F0F6F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ANC</a:t>
            </a:r>
            <a:endParaRPr sz="2100" b="1">
              <a:solidFill>
                <a:srgbClr val="F0F6F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4" name="矩形 93"/>
          <p:cNvSpPr>
            <a:spLocks noGrp="1"/>
          </p:cNvSpPr>
          <p:nvPr/>
        </p:nvSpPr>
        <p:spPr>
          <a:xfrm>
            <a:off x="11125200" y="7886700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/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QCY MeloBuds ANC</a:t>
            </a:r>
            <a:endParaRPr sz="16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矩形 94"/>
          <p:cNvSpPr>
            <a:spLocks noGrp="1"/>
          </p:cNvSpPr>
          <p:nvPr/>
        </p:nvSpPr>
        <p:spPr>
          <a:xfrm>
            <a:off x="11125200" y="8286750"/>
            <a:ext cx="40481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蓝牙耳机 · 40dB降噪 · Hi-Res</a:t>
            </a:r>
            <a:endParaRPr sz="120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11125200" y="8686800"/>
            <a:ext cx="114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2400" b="1">
                <a:solidFill>
                  <a:srgbClr val="FF7B72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400" b="1">
                <a:solidFill>
                  <a:srgbClr val="FF7B72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¥299</a:t>
            </a:r>
            <a:endParaRPr sz="2400" b="1">
              <a:solidFill>
                <a:srgbClr val="FF7B72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12477750" y="8753475"/>
            <a:ext cx="1238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65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8.8 / 10</a:t>
            </a:r>
            <a:endParaRPr sz="1650" b="1">
              <a:solidFill>
                <a:srgbClr val="00D4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13525500" y="8239760"/>
            <a:ext cx="197548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  <a:buNone/>
              <a:defRPr sz="165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 → 精排 → 展示</a:t>
            </a:r>
            <a:endParaRPr sz="165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0" name="图片 9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4500" y="7447915"/>
            <a:ext cx="3886200" cy="1993900"/>
          </a:xfrm>
          <a:prstGeom prst="round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117"/>
              </a:gs>
              <a:gs pos="46000">
                <a:srgbClr val="11111F"/>
              </a:gs>
              <a:gs pos="100000">
                <a:srgbClr val="06151A"/>
              </a:gs>
            </a:gsLst>
            <a:lin ang="7800000"/>
          </a:gradFill>
          <a:ln w="0">
            <a:noFill/>
            <a:prstDash val="solid"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-3429000" y="-3143250"/>
            <a:ext cx="9334500" cy="8382000"/>
          </a:xfrm>
          <a:prstGeom prst="ellipse">
            <a:avLst/>
          </a:prstGeom>
          <a:gradFill>
            <a:gsLst>
              <a:gs pos="0">
                <a:srgbClr val="A855F7">
                  <a:alpha val="30000"/>
                </a:srgbClr>
              </a:gs>
              <a:gs pos="42000">
                <a:srgbClr val="7C3AED">
                  <a:alpha val="14000"/>
                </a:srgbClr>
              </a:gs>
              <a:gs pos="74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10572750" y="-2476500"/>
            <a:ext cx="9906000" cy="8572500"/>
          </a:xfrm>
          <a:prstGeom prst="ellipse">
            <a:avLst/>
          </a:prstGeom>
          <a:gradFill>
            <a:gsLst>
              <a:gs pos="0">
                <a:srgbClr val="60A5FA">
                  <a:alpha val="22000"/>
                </a:srgbClr>
              </a:gs>
              <a:gs pos="46000">
                <a:srgbClr val="00D4FF">
                  <a:alpha val="9000"/>
                </a:srgbClr>
              </a:gs>
              <a:gs pos="78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5715000" y="6477000"/>
            <a:ext cx="7810500" cy="4953000"/>
          </a:xfrm>
          <a:prstGeom prst="ellipse">
            <a:avLst/>
          </a:prstGeom>
          <a:gradFill>
            <a:gsLst>
              <a:gs pos="0">
                <a:srgbClr val="34D399">
                  <a:alpha val="13000"/>
                </a:srgbClr>
              </a:gs>
              <a:gs pos="72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71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143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714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2286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2857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3429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4000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4572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5143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5715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6286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6858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7429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8001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8572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9144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9715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10287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10858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11430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12001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12573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13144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13716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14287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14859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15430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16002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16573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17145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17716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18288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9" name="直接连接符 38"/>
          <p:cNvSpPr>
            <a:spLocks noGrp="1"/>
          </p:cNvSpPr>
          <p:nvPr/>
        </p:nvSpPr>
        <p:spPr>
          <a:xfrm>
            <a:off x="0" y="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0" y="571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0" y="1143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0" y="1714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3" name="直接连接符 42"/>
          <p:cNvSpPr>
            <a:spLocks noGrp="1"/>
          </p:cNvSpPr>
          <p:nvPr/>
        </p:nvSpPr>
        <p:spPr>
          <a:xfrm>
            <a:off x="0" y="2286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4" name="直接连接符 43"/>
          <p:cNvSpPr>
            <a:spLocks noGrp="1"/>
          </p:cNvSpPr>
          <p:nvPr/>
        </p:nvSpPr>
        <p:spPr>
          <a:xfrm>
            <a:off x="0" y="2857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5" name="直接连接符 44"/>
          <p:cNvSpPr>
            <a:spLocks noGrp="1"/>
          </p:cNvSpPr>
          <p:nvPr/>
        </p:nvSpPr>
        <p:spPr>
          <a:xfrm>
            <a:off x="0" y="3429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0" y="4000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0" y="4572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0" y="5143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9" name="直接连接符 48"/>
          <p:cNvSpPr>
            <a:spLocks noGrp="1"/>
          </p:cNvSpPr>
          <p:nvPr/>
        </p:nvSpPr>
        <p:spPr>
          <a:xfrm>
            <a:off x="0" y="5715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0" name="直接连接符 49"/>
          <p:cNvSpPr>
            <a:spLocks noGrp="1"/>
          </p:cNvSpPr>
          <p:nvPr/>
        </p:nvSpPr>
        <p:spPr>
          <a:xfrm>
            <a:off x="0" y="6286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1" name="直接连接符 50"/>
          <p:cNvSpPr>
            <a:spLocks noGrp="1"/>
          </p:cNvSpPr>
          <p:nvPr/>
        </p:nvSpPr>
        <p:spPr>
          <a:xfrm>
            <a:off x="0" y="6858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2" name="直接连接符 51"/>
          <p:cNvSpPr>
            <a:spLocks noGrp="1"/>
          </p:cNvSpPr>
          <p:nvPr/>
        </p:nvSpPr>
        <p:spPr>
          <a:xfrm>
            <a:off x="0" y="7429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3" name="直接连接符 52"/>
          <p:cNvSpPr>
            <a:spLocks noGrp="1"/>
          </p:cNvSpPr>
          <p:nvPr/>
        </p:nvSpPr>
        <p:spPr>
          <a:xfrm>
            <a:off x="0" y="8001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4" name="直接连接符 53"/>
          <p:cNvSpPr>
            <a:spLocks noGrp="1"/>
          </p:cNvSpPr>
          <p:nvPr/>
        </p:nvSpPr>
        <p:spPr>
          <a:xfrm>
            <a:off x="0" y="8572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5" name="直接连接符 54"/>
          <p:cNvSpPr>
            <a:spLocks noGrp="1"/>
          </p:cNvSpPr>
          <p:nvPr/>
        </p:nvSpPr>
        <p:spPr>
          <a:xfrm>
            <a:off x="0" y="9144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6" name="直接连接符 55"/>
          <p:cNvSpPr>
            <a:spLocks noGrp="1"/>
          </p:cNvSpPr>
          <p:nvPr/>
        </p:nvSpPr>
        <p:spPr>
          <a:xfrm>
            <a:off x="0" y="9715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7" name="直接连接符 56"/>
          <p:cNvSpPr>
            <a:spLocks noGrp="1"/>
          </p:cNvSpPr>
          <p:nvPr/>
        </p:nvSpPr>
        <p:spPr>
          <a:xfrm>
            <a:off x="0" y="10287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117">
                  <a:alpha val="0"/>
                </a:srgbClr>
              </a:gs>
              <a:gs pos="100000">
                <a:srgbClr val="0D1117">
                  <a:alpha val="4500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59" name="圆角矩形 58"/>
          <p:cNvSpPr>
            <a:spLocks noGrp="1"/>
          </p:cNvSpPr>
          <p:nvPr/>
        </p:nvSpPr>
        <p:spPr>
          <a:xfrm>
            <a:off x="819150" y="590550"/>
            <a:ext cx="4724400" cy="419100"/>
          </a:xfrm>
          <a:prstGeom prst="roundRect">
            <a:avLst>
              <a:gd name="adj" fmla="val 50000"/>
            </a:avLst>
          </a:prstGeom>
          <a:solidFill>
            <a:srgbClr val="A855F7">
              <a:alpha val="18000"/>
            </a:srgbClr>
          </a:solidFill>
          <a:ln w="9525">
            <a:solidFill>
              <a:srgbClr val="A855F7">
                <a:alpha val="55000"/>
              </a:srgbClr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13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P7 · Evidence &amp; Fallback</a:t>
            </a:r>
            <a:endParaRPr sz="1350" b="1">
              <a:solidFill>
                <a:srgbClr val="C084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819150" y="1123950"/>
            <a:ext cx="12382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buNone/>
              <a:defRPr sz="4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gradFill>
                  <a:gsLst>
                    <a:gs pos="0">
                      <a:srgbClr val="A855F7"/>
                    </a:gs>
                    <a:gs pos="52000">
                      <a:srgbClr val="60A5FA"/>
                    </a:gs>
                    <a:gs pos="100000">
                      <a:srgbClr val="34D399"/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三通道证据 + 四级缓存 + 三级降级</a:t>
            </a:r>
            <a:endParaRPr sz="4200" b="1">
              <a:gradFill>
                <a:gsLst>
                  <a:gs pos="0">
                    <a:srgbClr val="A855F7"/>
                  </a:gs>
                  <a:gs pos="52000">
                    <a:srgbClr val="60A5FA"/>
                  </a:gs>
                  <a:gs pos="100000">
                    <a:srgbClr val="34D399"/>
                  </a:gs>
                </a:gsLst>
                <a:lin ang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857250" y="1847850"/>
            <a:ext cx="1314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Retrieval Agent 的质量与韧性设计</a:t>
            </a:r>
            <a:endParaRPr sz="180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819150" y="96202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OmniCart Agent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16192500" y="96202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07 / 16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4" name="直接连接符 63"/>
          <p:cNvSpPr>
            <a:spLocks noGrp="1"/>
          </p:cNvSpPr>
          <p:nvPr/>
        </p:nvSpPr>
        <p:spPr>
          <a:xfrm>
            <a:off x="819150" y="9486900"/>
            <a:ext cx="16649700" cy="0"/>
          </a:xfrm>
          <a:prstGeom prst="line">
            <a:avLst/>
          </a:prstGeom>
          <a:noFill/>
          <a:ln w="9525">
            <a:solidFill>
              <a:srgbClr val="30363D">
                <a:alpha val="70000"/>
              </a:srgbClr>
            </a:solidFill>
            <a:prstDash val="solid"/>
          </a:ln>
        </p:spPr>
      </p:sp>
      <p:sp>
        <p:nvSpPr>
          <p:cNvPr id="65" name="圆角矩形 64"/>
          <p:cNvSpPr>
            <a:spLocks noGrp="1"/>
          </p:cNvSpPr>
          <p:nvPr/>
        </p:nvSpPr>
        <p:spPr>
          <a:xfrm>
            <a:off x="1047750" y="2476500"/>
            <a:ext cx="4762500" cy="2476500"/>
          </a:xfrm>
          <a:prstGeom prst="roundRect">
            <a:avLst>
              <a:gd name="adj" fmla="val 6154"/>
            </a:avLst>
          </a:prstGeom>
          <a:solidFill>
            <a:srgbClr val="161B22">
              <a:alpha val="9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1047750" y="2476500"/>
            <a:ext cx="66675" cy="2476500"/>
          </a:xfrm>
          <a:prstGeom prst="rect">
            <a:avLst/>
          </a:prstGeom>
          <a:solidFill>
            <a:srgbClr val="00D4FF"/>
          </a:solidFill>
          <a:ln w="0">
            <a:noFill/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1295400" y="2686050"/>
            <a:ext cx="430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Text Channel</a:t>
            </a:r>
            <a:endParaRPr sz="180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1295400" y="3105150"/>
            <a:ext cx="426720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4000"/>
              </a:lnSpc>
              <a:buNone/>
              <a:defRPr sz="17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主通道 · 先执行</a:t>
            </a:r>
            <a:endParaRPr sz="172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4000"/>
              </a:lnSpc>
              <a:buNone/>
              <a:defRPr sz="17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embedding语义搜索</a:t>
            </a:r>
            <a:endParaRPr sz="172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4000"/>
              </a:lnSpc>
              <a:buNone/>
              <a:defRPr sz="17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品类/价格过滤</a:t>
            </a:r>
            <a:endParaRPr sz="172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4000"/>
              </a:lnSpc>
              <a:buNone/>
              <a:defRPr sz="17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产出 E-MKT 证据</a:t>
            </a:r>
            <a:endParaRPr sz="172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圆角矩形 68"/>
          <p:cNvSpPr>
            <a:spLocks noGrp="1"/>
          </p:cNvSpPr>
          <p:nvPr/>
        </p:nvSpPr>
        <p:spPr>
          <a:xfrm>
            <a:off x="6762750" y="2476500"/>
            <a:ext cx="4762500" cy="2476500"/>
          </a:xfrm>
          <a:prstGeom prst="roundRect">
            <a:avLst>
              <a:gd name="adj" fmla="val 6154"/>
            </a:avLst>
          </a:prstGeom>
          <a:solidFill>
            <a:srgbClr val="161B22">
              <a:alpha val="9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6762750" y="2476500"/>
            <a:ext cx="66675" cy="2476500"/>
          </a:xfrm>
          <a:prstGeom prst="rect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7010400" y="2686050"/>
            <a:ext cx="430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Review Channel</a:t>
            </a:r>
            <a:endParaRPr sz="180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7010400" y="3105150"/>
            <a:ext cx="426720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4000"/>
              </a:lnSpc>
              <a:buNone/>
              <a:defRPr sz="17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并行通道</a:t>
            </a:r>
            <a:endParaRPr sz="172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4000"/>
              </a:lnSpc>
              <a:buNone/>
              <a:defRPr sz="17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≤2★差评 · 3★中性 · ≥4★好评</a:t>
            </a:r>
            <a:endParaRPr sz="172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4000"/>
              </a:lnSpc>
              <a:buNone/>
              <a:defRPr sz="17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产出 R-{pid}-{i}</a:t>
            </a:r>
            <a:endParaRPr sz="172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圆角矩形 72"/>
          <p:cNvSpPr>
            <a:spLocks noGrp="1"/>
          </p:cNvSpPr>
          <p:nvPr/>
        </p:nvSpPr>
        <p:spPr>
          <a:xfrm>
            <a:off x="12477750" y="2476500"/>
            <a:ext cx="4762500" cy="2476500"/>
          </a:xfrm>
          <a:prstGeom prst="roundRect">
            <a:avLst>
              <a:gd name="adj" fmla="val 6154"/>
            </a:avLst>
          </a:prstGeom>
          <a:solidFill>
            <a:srgbClr val="161B22">
              <a:alpha val="9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12477750" y="2476500"/>
            <a:ext cx="66675" cy="2476500"/>
          </a:xfrm>
          <a:prstGeom prst="rect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12725400" y="2686050"/>
            <a:ext cx="430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Policy Channel</a:t>
            </a:r>
            <a:endParaRPr sz="180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12725400" y="3105150"/>
            <a:ext cx="4267200" cy="1657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4000"/>
              </a:lnSpc>
              <a:buNone/>
              <a:defRPr sz="17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并行通道</a:t>
            </a:r>
            <a:endParaRPr sz="172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4000"/>
              </a:lnSpc>
              <a:buNone/>
              <a:defRPr sz="17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FAQ官方问答提取</a:t>
            </a:r>
            <a:endParaRPr sz="172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4000"/>
              </a:lnSpc>
              <a:buNone/>
              <a:defRPr sz="17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产出 POL-{pid}-{i}</a:t>
            </a:r>
            <a:endParaRPr sz="172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圆角矩形 76"/>
          <p:cNvSpPr>
            <a:spLocks noGrp="1"/>
          </p:cNvSpPr>
          <p:nvPr/>
        </p:nvSpPr>
        <p:spPr>
          <a:xfrm>
            <a:off x="1047750" y="5715000"/>
            <a:ext cx="2190750" cy="457200"/>
          </a:xfrm>
          <a:prstGeom prst="roundRect">
            <a:avLst>
              <a:gd name="adj" fmla="val 0"/>
            </a:avLst>
          </a:prstGeom>
          <a:solidFill>
            <a:srgbClr val="21262D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8" name="矩形 77"/>
          <p:cNvSpPr>
            <a:spLocks noGrp="1"/>
          </p:cNvSpPr>
          <p:nvPr/>
        </p:nvSpPr>
        <p:spPr>
          <a:xfrm>
            <a:off x="1143000" y="582930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缓存层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圆角矩形 78"/>
          <p:cNvSpPr>
            <a:spLocks noGrp="1"/>
          </p:cNvSpPr>
          <p:nvPr/>
        </p:nvSpPr>
        <p:spPr>
          <a:xfrm>
            <a:off x="3238500" y="5715000"/>
            <a:ext cx="1238250" cy="457200"/>
          </a:xfrm>
          <a:prstGeom prst="roundRect">
            <a:avLst>
              <a:gd name="adj" fmla="val 0"/>
            </a:avLst>
          </a:prstGeom>
          <a:solidFill>
            <a:srgbClr val="21262D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0" name="矩形 79"/>
          <p:cNvSpPr>
            <a:spLocks noGrp="1"/>
          </p:cNvSpPr>
          <p:nvPr/>
        </p:nvSpPr>
        <p:spPr>
          <a:xfrm>
            <a:off x="3333750" y="5829300"/>
            <a:ext cx="104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TTL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圆角矩形 80"/>
          <p:cNvSpPr>
            <a:spLocks noGrp="1"/>
          </p:cNvSpPr>
          <p:nvPr/>
        </p:nvSpPr>
        <p:spPr>
          <a:xfrm>
            <a:off x="4476750" y="5715000"/>
            <a:ext cx="3905250" cy="457200"/>
          </a:xfrm>
          <a:prstGeom prst="roundRect">
            <a:avLst>
              <a:gd name="adj" fmla="val 0"/>
            </a:avLst>
          </a:prstGeom>
          <a:solidFill>
            <a:srgbClr val="21262D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2" name="矩形 81"/>
          <p:cNvSpPr>
            <a:spLocks noGrp="1"/>
          </p:cNvSpPr>
          <p:nvPr/>
        </p:nvSpPr>
        <p:spPr>
          <a:xfrm>
            <a:off x="4572000" y="582930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圆角矩形 82"/>
          <p:cNvSpPr>
            <a:spLocks noGrp="1"/>
          </p:cNvSpPr>
          <p:nvPr/>
        </p:nvSpPr>
        <p:spPr>
          <a:xfrm>
            <a:off x="8382000" y="5715000"/>
            <a:ext cx="2095500" cy="457200"/>
          </a:xfrm>
          <a:prstGeom prst="roundRect">
            <a:avLst>
              <a:gd name="adj" fmla="val 0"/>
            </a:avLst>
          </a:prstGeom>
          <a:solidFill>
            <a:srgbClr val="21262D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8477250" y="5829300"/>
            <a:ext cx="190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命中效果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圆角矩形 84"/>
          <p:cNvSpPr>
            <a:spLocks noGrp="1"/>
          </p:cNvSpPr>
          <p:nvPr/>
        </p:nvSpPr>
        <p:spPr>
          <a:xfrm>
            <a:off x="1047750" y="6172200"/>
            <a:ext cx="2190750" cy="647700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86" name="矩形 85"/>
          <p:cNvSpPr>
            <a:spLocks noGrp="1"/>
          </p:cNvSpPr>
          <p:nvPr/>
        </p:nvSpPr>
        <p:spPr>
          <a:xfrm>
            <a:off x="1162050" y="6267450"/>
            <a:ext cx="1962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Visual 视觉</a:t>
            </a:r>
            <a:endParaRPr sz="1350" b="1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圆角矩形 86"/>
          <p:cNvSpPr>
            <a:spLocks noGrp="1"/>
          </p:cNvSpPr>
          <p:nvPr/>
        </p:nvSpPr>
        <p:spPr>
          <a:xfrm>
            <a:off x="3238500" y="6172200"/>
            <a:ext cx="1238250" cy="647700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3352800" y="6267450"/>
            <a:ext cx="1009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1h</a:t>
            </a:r>
            <a:endParaRPr sz="13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圆角矩形 88"/>
          <p:cNvSpPr>
            <a:spLocks noGrp="1"/>
          </p:cNvSpPr>
          <p:nvPr/>
        </p:nvSpPr>
        <p:spPr>
          <a:xfrm>
            <a:off x="4476750" y="6172200"/>
            <a:ext cx="3905250" cy="647700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90" name="矩形 89"/>
          <p:cNvSpPr>
            <a:spLocks noGrp="1"/>
          </p:cNvSpPr>
          <p:nvPr/>
        </p:nvSpPr>
        <p:spPr>
          <a:xfrm>
            <a:off x="4591050" y="6267450"/>
            <a:ext cx="3676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同一张图重复上传</a:t>
            </a:r>
            <a:endParaRPr sz="13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圆角矩形 90"/>
          <p:cNvSpPr>
            <a:spLocks noGrp="1"/>
          </p:cNvSpPr>
          <p:nvPr/>
        </p:nvSpPr>
        <p:spPr>
          <a:xfrm>
            <a:off x="8382000" y="6172200"/>
            <a:ext cx="2095500" cy="647700"/>
          </a:xfrm>
          <a:prstGeom prst="roundRect">
            <a:avLst>
              <a:gd name="adj" fmla="val 0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35000"/>
              </a:srgbClr>
            </a:solidFill>
            <a:prstDash val="solid"/>
          </a:ln>
        </p:spPr>
      </p:sp>
      <p:sp>
        <p:nvSpPr>
          <p:cNvPr id="92" name="矩形 91"/>
          <p:cNvSpPr>
            <a:spLocks noGrp="1"/>
          </p:cNvSpPr>
          <p:nvPr/>
        </p:nvSpPr>
        <p:spPr>
          <a:xfrm>
            <a:off x="8496300" y="6267450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 2-5s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圆角矩形 92"/>
          <p:cNvSpPr>
            <a:spLocks noGrp="1"/>
          </p:cNvSpPr>
          <p:nvPr/>
        </p:nvSpPr>
        <p:spPr>
          <a:xfrm>
            <a:off x="1047750" y="6819900"/>
            <a:ext cx="2190750" cy="647700"/>
          </a:xfrm>
          <a:prstGeom prst="roundRect">
            <a:avLst>
              <a:gd name="adj" fmla="val 0"/>
            </a:avLst>
          </a:prstGeom>
          <a:solidFill>
            <a:srgbClr val="0D1117">
              <a:alpha val="4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94" name="矩形 93"/>
          <p:cNvSpPr>
            <a:spLocks noGrp="1"/>
          </p:cNvSpPr>
          <p:nvPr/>
        </p:nvSpPr>
        <p:spPr>
          <a:xfrm>
            <a:off x="1162050" y="6915150"/>
            <a:ext cx="1962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Search 搜索</a:t>
            </a:r>
            <a:endParaRPr sz="1350" b="1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圆角矩形 94"/>
          <p:cNvSpPr>
            <a:spLocks noGrp="1"/>
          </p:cNvSpPr>
          <p:nvPr/>
        </p:nvSpPr>
        <p:spPr>
          <a:xfrm>
            <a:off x="3238500" y="6819900"/>
            <a:ext cx="1238250" cy="647700"/>
          </a:xfrm>
          <a:prstGeom prst="roundRect">
            <a:avLst>
              <a:gd name="adj" fmla="val 0"/>
            </a:avLst>
          </a:prstGeom>
          <a:solidFill>
            <a:srgbClr val="0D1117">
              <a:alpha val="4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96" name="矩形 95"/>
          <p:cNvSpPr>
            <a:spLocks noGrp="1"/>
          </p:cNvSpPr>
          <p:nvPr/>
        </p:nvSpPr>
        <p:spPr>
          <a:xfrm>
            <a:off x="3352800" y="6915150"/>
            <a:ext cx="1009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5min</a:t>
            </a:r>
            <a:endParaRPr sz="13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圆角矩形 96"/>
          <p:cNvSpPr>
            <a:spLocks noGrp="1"/>
          </p:cNvSpPr>
          <p:nvPr/>
        </p:nvSpPr>
        <p:spPr>
          <a:xfrm>
            <a:off x="4476750" y="6819900"/>
            <a:ext cx="3905250" cy="647700"/>
          </a:xfrm>
          <a:prstGeom prst="roundRect">
            <a:avLst>
              <a:gd name="adj" fmla="val 0"/>
            </a:avLst>
          </a:prstGeom>
          <a:solidFill>
            <a:srgbClr val="0D1117">
              <a:alpha val="4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98" name="矩形 97"/>
          <p:cNvSpPr>
            <a:spLocks noGrp="1"/>
          </p:cNvSpPr>
          <p:nvPr/>
        </p:nvSpPr>
        <p:spPr>
          <a:xfrm>
            <a:off x="4591050" y="6915150"/>
            <a:ext cx="3676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相同 query 重复搜</a:t>
            </a:r>
            <a:endParaRPr sz="13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圆角矩形 98"/>
          <p:cNvSpPr>
            <a:spLocks noGrp="1"/>
          </p:cNvSpPr>
          <p:nvPr/>
        </p:nvSpPr>
        <p:spPr>
          <a:xfrm>
            <a:off x="8382000" y="6819900"/>
            <a:ext cx="2095500" cy="647700"/>
          </a:xfrm>
          <a:prstGeom prst="roundRect">
            <a:avLst>
              <a:gd name="adj" fmla="val 0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35000"/>
              </a:srgbClr>
            </a:solidFill>
            <a:prstDash val="solid"/>
          </a:ln>
        </p:spPr>
      </p:sp>
      <p:sp>
        <p:nvSpPr>
          <p:cNvPr id="100" name="矩形 99"/>
          <p:cNvSpPr>
            <a:spLocks noGrp="1"/>
          </p:cNvSpPr>
          <p:nvPr/>
        </p:nvSpPr>
        <p:spPr>
          <a:xfrm>
            <a:off x="8496300" y="6915150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 ~400ms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圆角矩形 100"/>
          <p:cNvSpPr>
            <a:spLocks noGrp="1"/>
          </p:cNvSpPr>
          <p:nvPr/>
        </p:nvSpPr>
        <p:spPr>
          <a:xfrm>
            <a:off x="1047750" y="7467600"/>
            <a:ext cx="2190750" cy="647700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102" name="矩形 101"/>
          <p:cNvSpPr>
            <a:spLocks noGrp="1"/>
          </p:cNvSpPr>
          <p:nvPr/>
        </p:nvSpPr>
        <p:spPr>
          <a:xfrm>
            <a:off x="1162050" y="7562850"/>
            <a:ext cx="1962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Rewrite 改写</a:t>
            </a:r>
            <a:endParaRPr sz="1350" b="1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圆角矩形 102"/>
          <p:cNvSpPr>
            <a:spLocks noGrp="1"/>
          </p:cNvSpPr>
          <p:nvPr/>
        </p:nvSpPr>
        <p:spPr>
          <a:xfrm>
            <a:off x="3238500" y="7467600"/>
            <a:ext cx="1238250" cy="647700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104" name="矩形 103"/>
          <p:cNvSpPr>
            <a:spLocks noGrp="1"/>
          </p:cNvSpPr>
          <p:nvPr/>
        </p:nvSpPr>
        <p:spPr>
          <a:xfrm>
            <a:off x="3352800" y="7562850"/>
            <a:ext cx="1009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30min</a:t>
            </a:r>
            <a:endParaRPr sz="13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圆角矩形 104"/>
          <p:cNvSpPr>
            <a:spLocks noGrp="1"/>
          </p:cNvSpPr>
          <p:nvPr/>
        </p:nvSpPr>
        <p:spPr>
          <a:xfrm>
            <a:off x="4476750" y="7467600"/>
            <a:ext cx="3905250" cy="647700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106" name="矩形 105"/>
          <p:cNvSpPr>
            <a:spLocks noGrp="1"/>
          </p:cNvSpPr>
          <p:nvPr/>
        </p:nvSpPr>
        <p:spPr>
          <a:xfrm>
            <a:off x="4591050" y="7562850"/>
            <a:ext cx="3676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相同口语查询</a:t>
            </a:r>
            <a:endParaRPr sz="13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圆角矩形 106"/>
          <p:cNvSpPr>
            <a:spLocks noGrp="1"/>
          </p:cNvSpPr>
          <p:nvPr/>
        </p:nvSpPr>
        <p:spPr>
          <a:xfrm>
            <a:off x="8382000" y="7467600"/>
            <a:ext cx="2095500" cy="647700"/>
          </a:xfrm>
          <a:prstGeom prst="roundRect">
            <a:avLst>
              <a:gd name="adj" fmla="val 0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35000"/>
              </a:srgbClr>
            </a:solidFill>
            <a:prstDash val="solid"/>
          </a:ln>
        </p:spPr>
      </p:sp>
      <p:sp>
        <p:nvSpPr>
          <p:cNvPr id="108" name="矩形 107"/>
          <p:cNvSpPr>
            <a:spLocks noGrp="1"/>
          </p:cNvSpPr>
          <p:nvPr/>
        </p:nvSpPr>
        <p:spPr>
          <a:xfrm>
            <a:off x="8496300" y="7562850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 ~600ms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圆角矩形 108"/>
          <p:cNvSpPr>
            <a:spLocks noGrp="1"/>
          </p:cNvSpPr>
          <p:nvPr/>
        </p:nvSpPr>
        <p:spPr>
          <a:xfrm>
            <a:off x="1047750" y="8115300"/>
            <a:ext cx="2190750" cy="647700"/>
          </a:xfrm>
          <a:prstGeom prst="roundRect">
            <a:avLst>
              <a:gd name="adj" fmla="val 0"/>
            </a:avLst>
          </a:prstGeom>
          <a:solidFill>
            <a:srgbClr val="0D1117">
              <a:alpha val="4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110" name="矩形 109"/>
          <p:cNvSpPr>
            <a:spLocks noGrp="1"/>
          </p:cNvSpPr>
          <p:nvPr/>
        </p:nvSpPr>
        <p:spPr>
          <a:xfrm>
            <a:off x="1162050" y="8210550"/>
            <a:ext cx="19621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Workflow 工作流</a:t>
            </a:r>
            <a:endParaRPr sz="1350" b="1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" name="圆角矩形 110"/>
          <p:cNvSpPr>
            <a:spLocks noGrp="1"/>
          </p:cNvSpPr>
          <p:nvPr/>
        </p:nvSpPr>
        <p:spPr>
          <a:xfrm>
            <a:off x="3238500" y="8115300"/>
            <a:ext cx="1238250" cy="647700"/>
          </a:xfrm>
          <a:prstGeom prst="roundRect">
            <a:avLst>
              <a:gd name="adj" fmla="val 0"/>
            </a:avLst>
          </a:prstGeom>
          <a:solidFill>
            <a:srgbClr val="0D1117">
              <a:alpha val="4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112" name="矩形 111"/>
          <p:cNvSpPr>
            <a:spLocks noGrp="1"/>
          </p:cNvSpPr>
          <p:nvPr/>
        </p:nvSpPr>
        <p:spPr>
          <a:xfrm>
            <a:off x="3352800" y="8210550"/>
            <a:ext cx="1009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5min</a:t>
            </a:r>
            <a:endParaRPr sz="13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圆角矩形 112"/>
          <p:cNvSpPr>
            <a:spLocks noGrp="1"/>
          </p:cNvSpPr>
          <p:nvPr/>
        </p:nvSpPr>
        <p:spPr>
          <a:xfrm>
            <a:off x="4476750" y="8115300"/>
            <a:ext cx="3905250" cy="647700"/>
          </a:xfrm>
          <a:prstGeom prst="roundRect">
            <a:avLst>
              <a:gd name="adj" fmla="val 0"/>
            </a:avLst>
          </a:prstGeom>
          <a:solidFill>
            <a:srgbClr val="0D1117">
              <a:alpha val="4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114" name="矩形 113"/>
          <p:cNvSpPr>
            <a:spLocks noGrp="1"/>
          </p:cNvSpPr>
          <p:nvPr/>
        </p:nvSpPr>
        <p:spPr>
          <a:xfrm>
            <a:off x="4591050" y="8210550"/>
            <a:ext cx="3676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相同 query+image</a:t>
            </a:r>
            <a:endParaRPr sz="13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圆角矩形 114"/>
          <p:cNvSpPr>
            <a:spLocks noGrp="1"/>
          </p:cNvSpPr>
          <p:nvPr/>
        </p:nvSpPr>
        <p:spPr>
          <a:xfrm>
            <a:off x="8382000" y="8115300"/>
            <a:ext cx="2095500" cy="647700"/>
          </a:xfrm>
          <a:prstGeom prst="roundRect">
            <a:avLst>
              <a:gd name="adj" fmla="val 0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35000"/>
              </a:srgbClr>
            </a:solidFill>
            <a:prstDash val="solid"/>
          </a:ln>
        </p:spPr>
      </p:sp>
      <p:sp>
        <p:nvSpPr>
          <p:cNvPr id="116" name="矩形 115"/>
          <p:cNvSpPr>
            <a:spLocks noGrp="1"/>
          </p:cNvSpPr>
          <p:nvPr/>
        </p:nvSpPr>
        <p:spPr>
          <a:xfrm>
            <a:off x="8496300" y="8210550"/>
            <a:ext cx="18669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省全部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" name="圆角矩形 116"/>
          <p:cNvSpPr>
            <a:spLocks noGrp="1"/>
          </p:cNvSpPr>
          <p:nvPr/>
        </p:nvSpPr>
        <p:spPr>
          <a:xfrm>
            <a:off x="11239500" y="5715000"/>
            <a:ext cx="5810250" cy="3048000"/>
          </a:xfrm>
          <a:prstGeom prst="roundRect">
            <a:avLst>
              <a:gd name="adj" fmla="val 5000"/>
            </a:avLst>
          </a:prstGeom>
          <a:solidFill>
            <a:srgbClr val="161B22">
              <a:alpha val="9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8" name="矩形 117"/>
          <p:cNvSpPr>
            <a:spLocks noGrp="1"/>
          </p:cNvSpPr>
          <p:nvPr/>
        </p:nvSpPr>
        <p:spPr>
          <a:xfrm>
            <a:off x="11239500" y="5715000"/>
            <a:ext cx="66675" cy="3048000"/>
          </a:xfrm>
          <a:prstGeom prst="rect">
            <a:avLst/>
          </a:prstGeom>
          <a:solidFill>
            <a:srgbClr val="FF7B72"/>
          </a:solidFill>
          <a:ln w="0">
            <a:noFill/>
            <a:prstDash val="solid"/>
          </a:ln>
        </p:spPr>
      </p:sp>
      <p:sp>
        <p:nvSpPr>
          <p:cNvPr id="119" name="矩形 118"/>
          <p:cNvSpPr>
            <a:spLocks noGrp="1"/>
          </p:cNvSpPr>
          <p:nvPr/>
        </p:nvSpPr>
        <p:spPr>
          <a:xfrm>
            <a:off x="11487150" y="5924550"/>
            <a:ext cx="535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三级降级链</a:t>
            </a:r>
            <a:endParaRPr sz="180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0" name="矩形 119"/>
          <p:cNvSpPr>
            <a:spLocks noGrp="1"/>
          </p:cNvSpPr>
          <p:nvPr/>
        </p:nvSpPr>
        <p:spPr>
          <a:xfrm>
            <a:off x="11487150" y="6343650"/>
            <a:ext cx="5314950" cy="2228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32000"/>
              </a:lnSpc>
              <a:buNone/>
              <a:defRPr sz="20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Qdrant ANN</a:t>
            </a:r>
            <a:endParaRPr sz="202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2000"/>
              </a:lnSpc>
              <a:buNone/>
              <a:defRPr sz="20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↓ 不可用</a:t>
            </a:r>
            <a:endParaRPr sz="202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2000"/>
              </a:lnSpc>
              <a:buNone/>
              <a:defRPr sz="20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 Embedding 缓存（105条暴力余弦）</a:t>
            </a:r>
            <a:endParaRPr sz="202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2000"/>
              </a:lnSpc>
              <a:buNone/>
              <a:defRPr sz="20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↓ 不可用</a:t>
            </a:r>
            <a:endParaRPr sz="202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2000"/>
              </a:lnSpc>
              <a:buNone/>
              <a:defRPr sz="20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子串关键词匹配（纯文本遍历）</a:t>
            </a:r>
            <a:endParaRPr sz="202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117"/>
              </a:gs>
              <a:gs pos="46000">
                <a:srgbClr val="11111F"/>
              </a:gs>
              <a:gs pos="100000">
                <a:srgbClr val="06151A"/>
              </a:gs>
            </a:gsLst>
            <a:lin ang="7800000"/>
          </a:gradFill>
          <a:ln w="0">
            <a:noFill/>
            <a:prstDash val="solid"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-3429000" y="-3143250"/>
            <a:ext cx="9334500" cy="8382000"/>
          </a:xfrm>
          <a:prstGeom prst="ellipse">
            <a:avLst/>
          </a:prstGeom>
          <a:gradFill>
            <a:gsLst>
              <a:gs pos="0">
                <a:srgbClr val="A855F7">
                  <a:alpha val="30000"/>
                </a:srgbClr>
              </a:gs>
              <a:gs pos="42000">
                <a:srgbClr val="7C3AED">
                  <a:alpha val="14000"/>
                </a:srgbClr>
              </a:gs>
              <a:gs pos="74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10572750" y="-2476500"/>
            <a:ext cx="9906000" cy="8572500"/>
          </a:xfrm>
          <a:prstGeom prst="ellipse">
            <a:avLst/>
          </a:prstGeom>
          <a:gradFill>
            <a:gsLst>
              <a:gs pos="0">
                <a:srgbClr val="60A5FA">
                  <a:alpha val="22000"/>
                </a:srgbClr>
              </a:gs>
              <a:gs pos="46000">
                <a:srgbClr val="00D4FF">
                  <a:alpha val="9000"/>
                </a:srgbClr>
              </a:gs>
              <a:gs pos="78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5715000" y="6477000"/>
            <a:ext cx="7810500" cy="4953000"/>
          </a:xfrm>
          <a:prstGeom prst="ellipse">
            <a:avLst/>
          </a:prstGeom>
          <a:gradFill>
            <a:gsLst>
              <a:gs pos="0">
                <a:srgbClr val="34D399">
                  <a:alpha val="13000"/>
                </a:srgbClr>
              </a:gs>
              <a:gs pos="72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71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143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714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2286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2857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3429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4000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4572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5143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5715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6286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6858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7429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8001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8572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9144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9715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10287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10858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11430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12001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12573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13144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13716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14287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14859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15430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16002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16573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17145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17716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18288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9" name="直接连接符 38"/>
          <p:cNvSpPr>
            <a:spLocks noGrp="1"/>
          </p:cNvSpPr>
          <p:nvPr/>
        </p:nvSpPr>
        <p:spPr>
          <a:xfrm>
            <a:off x="0" y="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0" y="571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0" y="1143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0" y="1714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3" name="直接连接符 42"/>
          <p:cNvSpPr>
            <a:spLocks noGrp="1"/>
          </p:cNvSpPr>
          <p:nvPr/>
        </p:nvSpPr>
        <p:spPr>
          <a:xfrm>
            <a:off x="0" y="2286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4" name="直接连接符 43"/>
          <p:cNvSpPr>
            <a:spLocks noGrp="1"/>
          </p:cNvSpPr>
          <p:nvPr/>
        </p:nvSpPr>
        <p:spPr>
          <a:xfrm>
            <a:off x="0" y="2857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5" name="直接连接符 44"/>
          <p:cNvSpPr>
            <a:spLocks noGrp="1"/>
          </p:cNvSpPr>
          <p:nvPr/>
        </p:nvSpPr>
        <p:spPr>
          <a:xfrm>
            <a:off x="0" y="3429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0" y="4000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0" y="4572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0" y="5143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9" name="直接连接符 48"/>
          <p:cNvSpPr>
            <a:spLocks noGrp="1"/>
          </p:cNvSpPr>
          <p:nvPr/>
        </p:nvSpPr>
        <p:spPr>
          <a:xfrm>
            <a:off x="0" y="5715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0" name="直接连接符 49"/>
          <p:cNvSpPr>
            <a:spLocks noGrp="1"/>
          </p:cNvSpPr>
          <p:nvPr/>
        </p:nvSpPr>
        <p:spPr>
          <a:xfrm>
            <a:off x="0" y="6286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1" name="直接连接符 50"/>
          <p:cNvSpPr>
            <a:spLocks noGrp="1"/>
          </p:cNvSpPr>
          <p:nvPr/>
        </p:nvSpPr>
        <p:spPr>
          <a:xfrm>
            <a:off x="0" y="6858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2" name="直接连接符 51"/>
          <p:cNvSpPr>
            <a:spLocks noGrp="1"/>
          </p:cNvSpPr>
          <p:nvPr/>
        </p:nvSpPr>
        <p:spPr>
          <a:xfrm>
            <a:off x="0" y="7429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3" name="直接连接符 52"/>
          <p:cNvSpPr>
            <a:spLocks noGrp="1"/>
          </p:cNvSpPr>
          <p:nvPr/>
        </p:nvSpPr>
        <p:spPr>
          <a:xfrm>
            <a:off x="0" y="8001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4" name="直接连接符 53"/>
          <p:cNvSpPr>
            <a:spLocks noGrp="1"/>
          </p:cNvSpPr>
          <p:nvPr/>
        </p:nvSpPr>
        <p:spPr>
          <a:xfrm>
            <a:off x="0" y="8572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5" name="直接连接符 54"/>
          <p:cNvSpPr>
            <a:spLocks noGrp="1"/>
          </p:cNvSpPr>
          <p:nvPr/>
        </p:nvSpPr>
        <p:spPr>
          <a:xfrm>
            <a:off x="0" y="9144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6" name="直接连接符 55"/>
          <p:cNvSpPr>
            <a:spLocks noGrp="1"/>
          </p:cNvSpPr>
          <p:nvPr/>
        </p:nvSpPr>
        <p:spPr>
          <a:xfrm>
            <a:off x="0" y="9715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7" name="直接连接符 56"/>
          <p:cNvSpPr>
            <a:spLocks noGrp="1"/>
          </p:cNvSpPr>
          <p:nvPr/>
        </p:nvSpPr>
        <p:spPr>
          <a:xfrm>
            <a:off x="0" y="10287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117">
                  <a:alpha val="0"/>
                </a:srgbClr>
              </a:gs>
              <a:gs pos="100000">
                <a:srgbClr val="0D1117">
                  <a:alpha val="4500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59" name="圆角矩形 58"/>
          <p:cNvSpPr>
            <a:spLocks noGrp="1"/>
          </p:cNvSpPr>
          <p:nvPr/>
        </p:nvSpPr>
        <p:spPr>
          <a:xfrm>
            <a:off x="819150" y="590550"/>
            <a:ext cx="3181350" cy="419100"/>
          </a:xfrm>
          <a:prstGeom prst="roundRect">
            <a:avLst>
              <a:gd name="adj" fmla="val 50000"/>
            </a:avLst>
          </a:prstGeom>
          <a:solidFill>
            <a:srgbClr val="A855F7">
              <a:alpha val="18000"/>
            </a:srgbClr>
          </a:solidFill>
          <a:ln w="9525">
            <a:solidFill>
              <a:srgbClr val="A855F7">
                <a:alpha val="55000"/>
              </a:srgbClr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13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P8 · Evaluation</a:t>
            </a:r>
            <a:endParaRPr sz="1350" b="1">
              <a:solidFill>
                <a:srgbClr val="C084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819150" y="1123950"/>
            <a:ext cx="12382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buNone/>
              <a:defRPr sz="4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gradFill>
                  <a:gsLst>
                    <a:gs pos="0">
                      <a:srgbClr val="A855F7"/>
                    </a:gs>
                    <a:gs pos="52000">
                      <a:srgbClr val="60A5FA"/>
                    </a:gs>
                    <a:gs pos="100000">
                      <a:srgbClr val="34D399"/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评测体系</a:t>
            </a:r>
            <a:endParaRPr sz="4200" b="1">
              <a:gradFill>
                <a:gsLst>
                  <a:gs pos="0">
                    <a:srgbClr val="A855F7"/>
                  </a:gs>
                  <a:gs pos="52000">
                    <a:srgbClr val="60A5FA"/>
                  </a:gs>
                  <a:gs pos="100000">
                    <a:srgbClr val="34D399"/>
                  </a:gs>
                </a:gsLst>
                <a:lin ang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857250" y="1847850"/>
            <a:ext cx="1314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 + 生成双维度评测</a:t>
            </a:r>
            <a:endParaRPr sz="180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819150" y="96202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OmniCart Agent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16192500" y="96202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08 / 16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4" name="直接连接符 63"/>
          <p:cNvSpPr>
            <a:spLocks noGrp="1"/>
          </p:cNvSpPr>
          <p:nvPr/>
        </p:nvSpPr>
        <p:spPr>
          <a:xfrm>
            <a:off x="819150" y="9486900"/>
            <a:ext cx="16649700" cy="0"/>
          </a:xfrm>
          <a:prstGeom prst="line">
            <a:avLst/>
          </a:prstGeom>
          <a:noFill/>
          <a:ln w="9525">
            <a:solidFill>
              <a:srgbClr val="30363D">
                <a:alpha val="70000"/>
              </a:srgbClr>
            </a:solidFill>
            <a:prstDash val="solid"/>
          </a:ln>
        </p:spPr>
      </p:sp>
      <p:sp>
        <p:nvSpPr>
          <p:cNvPr id="65" name="圆角矩形 64"/>
          <p:cNvSpPr>
            <a:spLocks noGrp="1"/>
          </p:cNvSpPr>
          <p:nvPr/>
        </p:nvSpPr>
        <p:spPr>
          <a:xfrm>
            <a:off x="1047750" y="2476500"/>
            <a:ext cx="7429500" cy="3238500"/>
          </a:xfrm>
          <a:prstGeom prst="roundRect">
            <a:avLst>
              <a:gd name="adj" fmla="val 4706"/>
            </a:avLst>
          </a:prstGeom>
          <a:solidFill>
            <a:srgbClr val="161B22">
              <a:alpha val="9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1047750" y="2476500"/>
            <a:ext cx="66675" cy="3238500"/>
          </a:xfrm>
          <a:prstGeom prst="rect">
            <a:avLst/>
          </a:prstGeom>
          <a:solidFill>
            <a:srgbClr val="00D4FF"/>
          </a:solidFill>
          <a:ln w="0">
            <a:noFill/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1295400" y="2686050"/>
            <a:ext cx="6972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检索评测</a:t>
            </a:r>
            <a:endParaRPr sz="180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1295400" y="3105150"/>
            <a:ext cx="6934200" cy="2419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Golden Queries × 4 品类</a:t>
            </a:r>
            <a:endParaRPr sz="19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950"/>
          </a:p>
          <a:p>
            <a:pPr algn="l">
              <a:lnSpc>
                <a:spcPct val="122000"/>
              </a:lnSpc>
              <a:buNone/>
              <a:defRPr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Recall@10     </a:t>
            </a:r>
            <a:r>
              <a:rPr lang="en-US"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</a:t>
            </a:r>
            <a:r>
              <a:rPr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0.872</a:t>
            </a:r>
            <a:endParaRPr sz="19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MRR           </a:t>
            </a:r>
            <a:r>
              <a:rPr lang="en-US"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</a:t>
            </a:r>
            <a:r>
              <a:rPr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</a:t>
            </a:r>
            <a:r>
              <a:rPr lang="en-US"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89</a:t>
            </a:r>
            <a:r>
              <a:rPr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9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NDCG@10     </a:t>
            </a:r>
            <a:r>
              <a:rPr lang="en-US"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0.</a:t>
            </a:r>
            <a:r>
              <a:rPr lang="en-US"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89</a:t>
            </a:r>
            <a:r>
              <a:rPr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9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Category     </a:t>
            </a:r>
            <a:r>
              <a:rPr lang="en-US"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</a:t>
            </a:r>
            <a:r>
              <a:rPr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94.2%</a:t>
            </a:r>
            <a:endParaRPr sz="19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P95 Latency    </a:t>
            </a:r>
            <a:r>
              <a:rPr lang="en-US"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2.8s</a:t>
            </a:r>
            <a:endParaRPr sz="19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圆角矩形 68"/>
          <p:cNvSpPr>
            <a:spLocks noGrp="1"/>
          </p:cNvSpPr>
          <p:nvPr/>
        </p:nvSpPr>
        <p:spPr>
          <a:xfrm>
            <a:off x="9810750" y="2476500"/>
            <a:ext cx="7429500" cy="3238500"/>
          </a:xfrm>
          <a:prstGeom prst="roundRect">
            <a:avLst>
              <a:gd name="adj" fmla="val 4706"/>
            </a:avLst>
          </a:prstGeom>
          <a:solidFill>
            <a:srgbClr val="161B22">
              <a:alpha val="9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9810750" y="2476500"/>
            <a:ext cx="66675" cy="3238500"/>
          </a:xfrm>
          <a:prstGeom prst="rect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10058400" y="2686050"/>
            <a:ext cx="6972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生成评测</a:t>
            </a:r>
            <a:endParaRPr sz="180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矩形 71"/>
          <p:cNvSpPr>
            <a:spLocks noGrp="1"/>
          </p:cNvSpPr>
          <p:nvPr/>
        </p:nvSpPr>
        <p:spPr>
          <a:xfrm>
            <a:off x="10058400" y="3105150"/>
            <a:ext cx="6934200" cy="2419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2000"/>
              </a:lnSpc>
              <a:buNone/>
              <a:defRPr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105条数据集 · 人工标注</a:t>
            </a:r>
            <a:endParaRPr sz="19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950"/>
          </a:p>
          <a:p>
            <a:pPr algn="l">
              <a:lnSpc>
                <a:spcPct val="122000"/>
              </a:lnSpc>
              <a:buNone/>
              <a:defRPr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Faithfulness         </a:t>
            </a:r>
            <a:r>
              <a:rPr lang="en-US"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0.913</a:t>
            </a:r>
            <a:endParaRPr sz="19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Context Precision     0.856</a:t>
            </a:r>
            <a:endParaRPr sz="19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2000"/>
              </a:lnSpc>
              <a:buNone/>
              <a:defRPr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Context Recall      </a:t>
            </a:r>
            <a:r>
              <a:rPr lang="en-US"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0.821</a:t>
            </a:r>
            <a:endParaRPr sz="19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950"/>
          </a:p>
          <a:p>
            <a:pPr algn="l">
              <a:lnSpc>
                <a:spcPct val="122000"/>
              </a:lnSpc>
              <a:buNone/>
              <a:defRPr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生成答案忠于证据，检索文档真正相关</a:t>
            </a:r>
            <a:endParaRPr sz="19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圆角矩形 72"/>
          <p:cNvSpPr>
            <a:spLocks noGrp="1"/>
          </p:cNvSpPr>
          <p:nvPr/>
        </p:nvSpPr>
        <p:spPr>
          <a:xfrm>
            <a:off x="2190750" y="6286500"/>
            <a:ext cx="13906500" cy="2924175"/>
          </a:xfrm>
          <a:prstGeom prst="roundRect">
            <a:avLst>
              <a:gd name="adj" fmla="val 7333"/>
            </a:avLst>
          </a:prstGeom>
          <a:solidFill>
            <a:srgbClr val="161B22">
              <a:alpha val="85000"/>
            </a:srgbClr>
          </a:solidFill>
          <a:ln w="9525">
            <a:solidFill>
              <a:srgbClr val="30363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5" name="圆角矩形 74"/>
          <p:cNvSpPr>
            <a:spLocks noGrp="1"/>
          </p:cNvSpPr>
          <p:nvPr/>
        </p:nvSpPr>
        <p:spPr>
          <a:xfrm>
            <a:off x="2571750" y="6762750"/>
            <a:ext cx="1762125" cy="914400"/>
          </a:xfrm>
          <a:prstGeom prst="roundRect">
            <a:avLst>
              <a:gd name="adj" fmla="val 16279"/>
            </a:avLst>
          </a:prstGeom>
          <a:solidFill>
            <a:srgbClr val="161B22">
              <a:alpha val="8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2743200" y="6934200"/>
            <a:ext cx="1419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210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10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96%</a:t>
            </a:r>
            <a:endParaRPr sz="2100" b="1">
              <a:solidFill>
                <a:srgbClr val="00D4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2743200" y="7410450"/>
            <a:ext cx="1419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通过率</a:t>
            </a:r>
            <a:endParaRPr sz="135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圆角矩形 77"/>
          <p:cNvSpPr>
            <a:spLocks noGrp="1"/>
          </p:cNvSpPr>
          <p:nvPr/>
        </p:nvSpPr>
        <p:spPr>
          <a:xfrm>
            <a:off x="4714875" y="6762750"/>
            <a:ext cx="1762125" cy="914400"/>
          </a:xfrm>
          <a:prstGeom prst="roundRect">
            <a:avLst>
              <a:gd name="adj" fmla="val 16279"/>
            </a:avLst>
          </a:prstGeom>
          <a:solidFill>
            <a:srgbClr val="161B22">
              <a:alpha val="8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4886325" y="6934200"/>
            <a:ext cx="1419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210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10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1.9s</a:t>
            </a:r>
            <a:endParaRPr sz="2100" b="1">
              <a:solidFill>
                <a:srgbClr val="00D4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0" name="矩形 79"/>
          <p:cNvSpPr>
            <a:spLocks noGrp="1"/>
          </p:cNvSpPr>
          <p:nvPr/>
        </p:nvSpPr>
        <p:spPr>
          <a:xfrm>
            <a:off x="4886325" y="7410450"/>
            <a:ext cx="1419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平均延迟</a:t>
            </a:r>
            <a:endParaRPr sz="135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圆角矩形 80"/>
          <p:cNvSpPr>
            <a:spLocks noGrp="1"/>
          </p:cNvSpPr>
          <p:nvPr/>
        </p:nvSpPr>
        <p:spPr>
          <a:xfrm>
            <a:off x="6858000" y="6762750"/>
            <a:ext cx="1762125" cy="914400"/>
          </a:xfrm>
          <a:prstGeom prst="roundRect">
            <a:avLst>
              <a:gd name="adj" fmla="val 16279"/>
            </a:avLst>
          </a:prstGeom>
          <a:solidFill>
            <a:srgbClr val="161B22">
              <a:alpha val="8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2" name="矩形 81"/>
          <p:cNvSpPr>
            <a:spLocks noGrp="1"/>
          </p:cNvSpPr>
          <p:nvPr/>
        </p:nvSpPr>
        <p:spPr>
          <a:xfrm>
            <a:off x="7029450" y="6934200"/>
            <a:ext cx="1419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210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10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2.8s</a:t>
            </a:r>
            <a:endParaRPr sz="2100" b="1">
              <a:solidFill>
                <a:srgbClr val="00D4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7029450" y="7410450"/>
            <a:ext cx="1419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P95</a:t>
            </a:r>
            <a:endParaRPr sz="135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圆角矩形 83"/>
          <p:cNvSpPr>
            <a:spLocks noGrp="1"/>
          </p:cNvSpPr>
          <p:nvPr/>
        </p:nvSpPr>
        <p:spPr>
          <a:xfrm>
            <a:off x="9001125" y="6762750"/>
            <a:ext cx="1762125" cy="914400"/>
          </a:xfrm>
          <a:prstGeom prst="roundRect">
            <a:avLst>
              <a:gd name="adj" fmla="val 16279"/>
            </a:avLst>
          </a:prstGeom>
          <a:solidFill>
            <a:srgbClr val="161B22">
              <a:alpha val="8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5" name="矩形 84"/>
          <p:cNvSpPr>
            <a:spLocks noGrp="1"/>
          </p:cNvSpPr>
          <p:nvPr/>
        </p:nvSpPr>
        <p:spPr>
          <a:xfrm>
            <a:off x="9172575" y="6934200"/>
            <a:ext cx="1419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210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10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94.2%</a:t>
            </a:r>
            <a:endParaRPr sz="2100" b="1">
              <a:solidFill>
                <a:srgbClr val="00D4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6" name="矩形 85"/>
          <p:cNvSpPr>
            <a:spLocks noGrp="1"/>
          </p:cNvSpPr>
          <p:nvPr/>
        </p:nvSpPr>
        <p:spPr>
          <a:xfrm>
            <a:off x="9172575" y="7410450"/>
            <a:ext cx="1419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品类准确率</a:t>
            </a:r>
            <a:endParaRPr sz="135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圆角矩形 86"/>
          <p:cNvSpPr>
            <a:spLocks noGrp="1"/>
          </p:cNvSpPr>
          <p:nvPr/>
        </p:nvSpPr>
        <p:spPr>
          <a:xfrm>
            <a:off x="11144250" y="6762750"/>
            <a:ext cx="1762125" cy="914400"/>
          </a:xfrm>
          <a:prstGeom prst="roundRect">
            <a:avLst>
              <a:gd name="adj" fmla="val 16279"/>
            </a:avLst>
          </a:prstGeom>
          <a:solidFill>
            <a:srgbClr val="161B22">
              <a:alpha val="8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11315700" y="6934200"/>
            <a:ext cx="1419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210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10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0.872</a:t>
            </a:r>
            <a:endParaRPr sz="2100" b="1">
              <a:solidFill>
                <a:srgbClr val="00D4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9" name="矩形 88"/>
          <p:cNvSpPr>
            <a:spLocks noGrp="1"/>
          </p:cNvSpPr>
          <p:nvPr/>
        </p:nvSpPr>
        <p:spPr>
          <a:xfrm>
            <a:off x="11315700" y="7410450"/>
            <a:ext cx="1419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Recall@10</a:t>
            </a:r>
            <a:endParaRPr sz="135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圆角矩形 89"/>
          <p:cNvSpPr>
            <a:spLocks noGrp="1"/>
          </p:cNvSpPr>
          <p:nvPr/>
        </p:nvSpPr>
        <p:spPr>
          <a:xfrm>
            <a:off x="13287375" y="6762750"/>
            <a:ext cx="1762125" cy="914400"/>
          </a:xfrm>
          <a:prstGeom prst="roundRect">
            <a:avLst>
              <a:gd name="adj" fmla="val 16279"/>
            </a:avLst>
          </a:prstGeom>
          <a:solidFill>
            <a:srgbClr val="161B22">
              <a:alpha val="8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1" name="矩形 90"/>
          <p:cNvSpPr>
            <a:spLocks noGrp="1"/>
          </p:cNvSpPr>
          <p:nvPr/>
        </p:nvSpPr>
        <p:spPr>
          <a:xfrm>
            <a:off x="13458825" y="6934200"/>
            <a:ext cx="14192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210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210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0.</a:t>
            </a:r>
            <a:r>
              <a:rPr lang="en-US" sz="210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891</a:t>
            </a:r>
            <a:endParaRPr lang="en-US" sz="2100" b="1">
              <a:solidFill>
                <a:srgbClr val="00D4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13458825" y="7410450"/>
            <a:ext cx="14192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MRR</a:t>
            </a:r>
            <a:endParaRPr sz="135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圆角矩形 92"/>
          <p:cNvSpPr>
            <a:spLocks noGrp="1"/>
          </p:cNvSpPr>
          <p:nvPr/>
        </p:nvSpPr>
        <p:spPr>
          <a:xfrm>
            <a:off x="3001010" y="7778115"/>
            <a:ext cx="876300" cy="1032510"/>
          </a:xfrm>
          <a:prstGeom prst="roundRect">
            <a:avLst>
              <a:gd name="adj" fmla="val 10870"/>
            </a:avLst>
          </a:prstGeom>
          <a:solidFill>
            <a:srgbClr val="00D4FF"/>
          </a:solidFill>
          <a:ln w="0">
            <a:noFill/>
            <a:prstDash val="solid"/>
          </a:ln>
        </p:spPr>
      </p:sp>
      <p:sp>
        <p:nvSpPr>
          <p:cNvPr id="94" name="矩形 93"/>
          <p:cNvSpPr>
            <a:spLocks noGrp="1"/>
          </p:cNvSpPr>
          <p:nvPr/>
        </p:nvSpPr>
        <p:spPr>
          <a:xfrm>
            <a:off x="2667635" y="8924925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通过率</a:t>
            </a:r>
            <a:endParaRPr sz="105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圆角矩形 94"/>
          <p:cNvSpPr>
            <a:spLocks noGrp="1"/>
          </p:cNvSpPr>
          <p:nvPr/>
        </p:nvSpPr>
        <p:spPr>
          <a:xfrm>
            <a:off x="5144770" y="8689340"/>
            <a:ext cx="876300" cy="121285"/>
          </a:xfrm>
          <a:prstGeom prst="roundRect">
            <a:avLst>
              <a:gd name="adj" fmla="val 11628"/>
            </a:avLst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96" name="矩形 95"/>
          <p:cNvSpPr>
            <a:spLocks noGrp="1"/>
          </p:cNvSpPr>
          <p:nvPr/>
        </p:nvSpPr>
        <p:spPr>
          <a:xfrm>
            <a:off x="4811395" y="8924925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平均延迟</a:t>
            </a:r>
            <a:endParaRPr sz="105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圆角矩形 96"/>
          <p:cNvSpPr>
            <a:spLocks noGrp="1"/>
          </p:cNvSpPr>
          <p:nvPr/>
        </p:nvSpPr>
        <p:spPr>
          <a:xfrm>
            <a:off x="7288530" y="8524240"/>
            <a:ext cx="876300" cy="286385"/>
          </a:xfrm>
          <a:prstGeom prst="roundRect">
            <a:avLst>
              <a:gd name="adj" fmla="val 12195"/>
            </a:avLst>
          </a:prstGeom>
          <a:solidFill>
            <a:srgbClr val="00D4FF"/>
          </a:solidFill>
          <a:ln w="0">
            <a:noFill/>
            <a:prstDash val="solid"/>
          </a:ln>
        </p:spPr>
      </p:sp>
      <p:sp>
        <p:nvSpPr>
          <p:cNvPr id="98" name="矩形 97"/>
          <p:cNvSpPr>
            <a:spLocks noGrp="1"/>
          </p:cNvSpPr>
          <p:nvPr/>
        </p:nvSpPr>
        <p:spPr>
          <a:xfrm>
            <a:off x="6955155" y="8924925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P95</a:t>
            </a:r>
            <a:endParaRPr sz="105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圆角矩形 98"/>
          <p:cNvSpPr>
            <a:spLocks noGrp="1"/>
          </p:cNvSpPr>
          <p:nvPr/>
        </p:nvSpPr>
        <p:spPr>
          <a:xfrm>
            <a:off x="9432290" y="7931150"/>
            <a:ext cx="876300" cy="879475"/>
          </a:xfrm>
          <a:prstGeom prst="roundRect">
            <a:avLst>
              <a:gd name="adj" fmla="val 13514"/>
            </a:avLst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100" name="矩形 99"/>
          <p:cNvSpPr>
            <a:spLocks noGrp="1"/>
          </p:cNvSpPr>
          <p:nvPr/>
        </p:nvSpPr>
        <p:spPr>
          <a:xfrm>
            <a:off x="9098915" y="8924925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品类准确率</a:t>
            </a:r>
            <a:endParaRPr sz="105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圆角矩形 100"/>
          <p:cNvSpPr>
            <a:spLocks noGrp="1"/>
          </p:cNvSpPr>
          <p:nvPr/>
        </p:nvSpPr>
        <p:spPr>
          <a:xfrm>
            <a:off x="11576050" y="8001635"/>
            <a:ext cx="876300" cy="808990"/>
          </a:xfrm>
          <a:prstGeom prst="roundRect">
            <a:avLst>
              <a:gd name="adj" fmla="val 10638"/>
            </a:avLst>
          </a:prstGeom>
          <a:solidFill>
            <a:srgbClr val="00D4FF"/>
          </a:solidFill>
          <a:ln w="0">
            <a:noFill/>
            <a:prstDash val="solid"/>
          </a:ln>
        </p:spPr>
      </p:sp>
      <p:sp>
        <p:nvSpPr>
          <p:cNvPr id="102" name="矩形 101"/>
          <p:cNvSpPr>
            <a:spLocks noGrp="1"/>
          </p:cNvSpPr>
          <p:nvPr/>
        </p:nvSpPr>
        <p:spPr>
          <a:xfrm>
            <a:off x="11242675" y="8924925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Recall@10</a:t>
            </a:r>
            <a:endParaRPr sz="105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圆角矩形 102"/>
          <p:cNvSpPr>
            <a:spLocks noGrp="1"/>
          </p:cNvSpPr>
          <p:nvPr/>
        </p:nvSpPr>
        <p:spPr>
          <a:xfrm>
            <a:off x="13719810" y="7954645"/>
            <a:ext cx="876300" cy="855980"/>
          </a:xfrm>
          <a:prstGeom prst="roundRect">
            <a:avLst>
              <a:gd name="adj" fmla="val 11364"/>
            </a:avLst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104" name="矩形 103"/>
          <p:cNvSpPr>
            <a:spLocks noGrp="1"/>
          </p:cNvSpPr>
          <p:nvPr/>
        </p:nvSpPr>
        <p:spPr>
          <a:xfrm>
            <a:off x="13386435" y="8924925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MRR</a:t>
            </a:r>
            <a:endParaRPr sz="105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117"/>
              </a:gs>
              <a:gs pos="46000">
                <a:srgbClr val="11111F"/>
              </a:gs>
              <a:gs pos="100000">
                <a:srgbClr val="06151A"/>
              </a:gs>
            </a:gsLst>
            <a:lin ang="7800000"/>
          </a:gradFill>
          <a:ln w="0">
            <a:noFill/>
            <a:prstDash val="solid"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-3429000" y="-3143250"/>
            <a:ext cx="9334500" cy="8382000"/>
          </a:xfrm>
          <a:prstGeom prst="ellipse">
            <a:avLst/>
          </a:prstGeom>
          <a:gradFill>
            <a:gsLst>
              <a:gs pos="0">
                <a:srgbClr val="A855F7">
                  <a:alpha val="30000"/>
                </a:srgbClr>
              </a:gs>
              <a:gs pos="42000">
                <a:srgbClr val="7C3AED">
                  <a:alpha val="14000"/>
                </a:srgbClr>
              </a:gs>
              <a:gs pos="74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10477500" y="-2286000"/>
            <a:ext cx="9906000" cy="8572500"/>
          </a:xfrm>
          <a:prstGeom prst="ellipse">
            <a:avLst/>
          </a:prstGeom>
          <a:gradFill>
            <a:gsLst>
              <a:gs pos="0">
                <a:srgbClr val="60A5FA">
                  <a:alpha val="22000"/>
                </a:srgbClr>
              </a:gs>
              <a:gs pos="46000">
                <a:srgbClr val="00D4FF">
                  <a:alpha val="9000"/>
                </a:srgbClr>
              </a:gs>
              <a:gs pos="78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" name="椭圆 4"/>
          <p:cNvSpPr>
            <a:spLocks noGrp="1"/>
          </p:cNvSpPr>
          <p:nvPr/>
        </p:nvSpPr>
        <p:spPr>
          <a:xfrm>
            <a:off x="5715000" y="6477000"/>
            <a:ext cx="7810500" cy="4953000"/>
          </a:xfrm>
          <a:prstGeom prst="ellipse">
            <a:avLst/>
          </a:prstGeom>
          <a:gradFill>
            <a:gsLst>
              <a:gs pos="0">
                <a:srgbClr val="34D399">
                  <a:alpha val="13000"/>
                </a:srgbClr>
              </a:gs>
              <a:gs pos="72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71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143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714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2286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2857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3429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4000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4572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5143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5715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6286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6858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7429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8001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8572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9144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9715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10287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10858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11430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12001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12573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13144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13716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14287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14859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15430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16002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16573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17145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17716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18288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9" name="直接连接符 38"/>
          <p:cNvSpPr>
            <a:spLocks noGrp="1"/>
          </p:cNvSpPr>
          <p:nvPr/>
        </p:nvSpPr>
        <p:spPr>
          <a:xfrm>
            <a:off x="0" y="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0" y="571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0" y="1143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0" y="1714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3" name="直接连接符 42"/>
          <p:cNvSpPr>
            <a:spLocks noGrp="1"/>
          </p:cNvSpPr>
          <p:nvPr/>
        </p:nvSpPr>
        <p:spPr>
          <a:xfrm>
            <a:off x="0" y="2286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4" name="直接连接符 43"/>
          <p:cNvSpPr>
            <a:spLocks noGrp="1"/>
          </p:cNvSpPr>
          <p:nvPr/>
        </p:nvSpPr>
        <p:spPr>
          <a:xfrm>
            <a:off x="0" y="2857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5" name="直接连接符 44"/>
          <p:cNvSpPr>
            <a:spLocks noGrp="1"/>
          </p:cNvSpPr>
          <p:nvPr/>
        </p:nvSpPr>
        <p:spPr>
          <a:xfrm>
            <a:off x="0" y="3429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0" y="4000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0" y="4572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0" y="5143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9" name="直接连接符 48"/>
          <p:cNvSpPr>
            <a:spLocks noGrp="1"/>
          </p:cNvSpPr>
          <p:nvPr/>
        </p:nvSpPr>
        <p:spPr>
          <a:xfrm>
            <a:off x="0" y="5715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0" name="直接连接符 49"/>
          <p:cNvSpPr>
            <a:spLocks noGrp="1"/>
          </p:cNvSpPr>
          <p:nvPr/>
        </p:nvSpPr>
        <p:spPr>
          <a:xfrm>
            <a:off x="0" y="6286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1" name="直接连接符 50"/>
          <p:cNvSpPr>
            <a:spLocks noGrp="1"/>
          </p:cNvSpPr>
          <p:nvPr/>
        </p:nvSpPr>
        <p:spPr>
          <a:xfrm>
            <a:off x="0" y="6858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2" name="直接连接符 51"/>
          <p:cNvSpPr>
            <a:spLocks noGrp="1"/>
          </p:cNvSpPr>
          <p:nvPr/>
        </p:nvSpPr>
        <p:spPr>
          <a:xfrm>
            <a:off x="0" y="7429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3" name="直接连接符 52"/>
          <p:cNvSpPr>
            <a:spLocks noGrp="1"/>
          </p:cNvSpPr>
          <p:nvPr/>
        </p:nvSpPr>
        <p:spPr>
          <a:xfrm>
            <a:off x="0" y="8001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4" name="直接连接符 53"/>
          <p:cNvSpPr>
            <a:spLocks noGrp="1"/>
          </p:cNvSpPr>
          <p:nvPr/>
        </p:nvSpPr>
        <p:spPr>
          <a:xfrm>
            <a:off x="0" y="8572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5" name="直接连接符 54"/>
          <p:cNvSpPr>
            <a:spLocks noGrp="1"/>
          </p:cNvSpPr>
          <p:nvPr/>
        </p:nvSpPr>
        <p:spPr>
          <a:xfrm>
            <a:off x="0" y="9144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6" name="直接连接符 55"/>
          <p:cNvSpPr>
            <a:spLocks noGrp="1"/>
          </p:cNvSpPr>
          <p:nvPr/>
        </p:nvSpPr>
        <p:spPr>
          <a:xfrm>
            <a:off x="0" y="9715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7" name="直接连接符 56"/>
          <p:cNvSpPr>
            <a:spLocks noGrp="1"/>
          </p:cNvSpPr>
          <p:nvPr/>
        </p:nvSpPr>
        <p:spPr>
          <a:xfrm>
            <a:off x="0" y="10287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-3192780" y="-7620"/>
            <a:ext cx="18288000" cy="10287000"/>
          </a:xfrm>
          <a:prstGeom prst="rect">
            <a:avLst/>
          </a:prstGeom>
          <a:gradFill>
            <a:gsLst>
              <a:gs pos="0">
                <a:srgbClr val="0D1117">
                  <a:alpha val="0"/>
                </a:srgbClr>
              </a:gs>
              <a:gs pos="100000">
                <a:srgbClr val="0D1117">
                  <a:alpha val="4500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59" name="圆角矩形 58"/>
          <p:cNvSpPr>
            <a:spLocks noGrp="1"/>
          </p:cNvSpPr>
          <p:nvPr/>
        </p:nvSpPr>
        <p:spPr>
          <a:xfrm>
            <a:off x="819150" y="590550"/>
            <a:ext cx="4552950" cy="419100"/>
          </a:xfrm>
          <a:prstGeom prst="roundRect">
            <a:avLst>
              <a:gd name="adj" fmla="val 50000"/>
            </a:avLst>
          </a:prstGeom>
          <a:solidFill>
            <a:srgbClr val="A855F7">
              <a:alpha val="18000"/>
            </a:srgbClr>
          </a:solidFill>
          <a:ln w="9525">
            <a:solidFill>
              <a:srgbClr val="A855F7">
                <a:alpha val="55000"/>
              </a:srgbClr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13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P9 · Product Experience</a:t>
            </a:r>
            <a:endParaRPr sz="1350" b="1">
              <a:solidFill>
                <a:srgbClr val="C084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819150" y="1123950"/>
            <a:ext cx="12382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buNone/>
              <a:defRPr sz="4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gradFill>
                  <a:gsLst>
                    <a:gs pos="0">
                      <a:srgbClr val="A855F7"/>
                    </a:gs>
                    <a:gs pos="52000">
                      <a:srgbClr val="60A5FA"/>
                    </a:gs>
                    <a:gs pos="100000">
                      <a:srgbClr val="34D399"/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全链路的终点</a:t>
            </a:r>
            <a:endParaRPr sz="4200" b="1">
              <a:gradFill>
                <a:gsLst>
                  <a:gs pos="0">
                    <a:srgbClr val="A855F7"/>
                  </a:gs>
                  <a:gs pos="52000">
                    <a:srgbClr val="60A5FA"/>
                  </a:gs>
                  <a:gs pos="100000">
                    <a:srgbClr val="34D399"/>
                  </a:gs>
                </a:gsLst>
                <a:lin ang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857250" y="1847850"/>
            <a:ext cx="1314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豆仔对话中的智能推荐</a:t>
            </a:r>
            <a:endParaRPr sz="180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819150" y="96202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OmniCart Agent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16192500" y="96202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09 / 16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4" name="直接连接符 63"/>
          <p:cNvSpPr>
            <a:spLocks noGrp="1"/>
          </p:cNvSpPr>
          <p:nvPr/>
        </p:nvSpPr>
        <p:spPr>
          <a:xfrm>
            <a:off x="819150" y="9486900"/>
            <a:ext cx="16649700" cy="0"/>
          </a:xfrm>
          <a:prstGeom prst="line">
            <a:avLst/>
          </a:prstGeom>
          <a:noFill/>
          <a:ln w="9525">
            <a:solidFill>
              <a:srgbClr val="30363D">
                <a:alpha val="70000"/>
              </a:srgbClr>
            </a:solidFill>
            <a:prstDash val="solid"/>
          </a:ln>
        </p:spPr>
      </p:sp>
      <p:sp>
        <p:nvSpPr>
          <p:cNvPr id="88" name="圆角矩形 87"/>
          <p:cNvSpPr>
            <a:spLocks noGrp="1"/>
          </p:cNvSpPr>
          <p:nvPr/>
        </p:nvSpPr>
        <p:spPr>
          <a:xfrm>
            <a:off x="11668125" y="6162675"/>
            <a:ext cx="881063" cy="32385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1050" b="1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FAQ</a:t>
            </a:r>
            <a:endParaRPr sz="1050" b="1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11734800" y="679132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relevance</a:t>
            </a:r>
            <a:endParaRPr sz="10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11734800" y="71532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budget</a:t>
            </a:r>
            <a:endParaRPr sz="10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矩形 99"/>
          <p:cNvSpPr>
            <a:spLocks noGrp="1"/>
          </p:cNvSpPr>
          <p:nvPr/>
        </p:nvSpPr>
        <p:spPr>
          <a:xfrm>
            <a:off x="11734800" y="751522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reviews</a:t>
            </a:r>
            <a:endParaRPr sz="10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矩形 103"/>
          <p:cNvSpPr>
            <a:spLocks noGrp="1"/>
          </p:cNvSpPr>
          <p:nvPr/>
        </p:nvSpPr>
        <p:spPr>
          <a:xfrm>
            <a:off x="11734800" y="7877175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risk</a:t>
            </a:r>
            <a:endParaRPr sz="10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圆角矩形 107"/>
          <p:cNvSpPr>
            <a:spLocks noGrp="1"/>
          </p:cNvSpPr>
          <p:nvPr/>
        </p:nvSpPr>
        <p:spPr>
          <a:xfrm>
            <a:off x="5970270" y="2676525"/>
            <a:ext cx="2286000" cy="361950"/>
          </a:xfrm>
          <a:prstGeom prst="roundRect">
            <a:avLst>
              <a:gd name="adj" fmla="val 50000"/>
            </a:avLst>
          </a:prstGeom>
          <a:solidFill>
            <a:srgbClr val="00D4FF">
              <a:alpha val="13000"/>
            </a:srgbClr>
          </a:solidFill>
          <a:ln w="9525">
            <a:solidFill>
              <a:srgbClr val="00D4FF">
                <a:alpha val="40000"/>
              </a:srgbClr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12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SSE 流式打字机效果</a:t>
            </a:r>
            <a:endParaRPr sz="12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圆角矩形 108"/>
          <p:cNvSpPr>
            <a:spLocks noGrp="1"/>
          </p:cNvSpPr>
          <p:nvPr/>
        </p:nvSpPr>
        <p:spPr>
          <a:xfrm>
            <a:off x="5903595" y="3469005"/>
            <a:ext cx="2310130" cy="1754505"/>
          </a:xfrm>
          <a:prstGeom prst="roundRect">
            <a:avLst>
              <a:gd name="adj" fmla="val 10667"/>
            </a:avLst>
          </a:prstGeom>
          <a:solidFill>
            <a:srgbClr val="161B22">
              <a:alpha val="9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0" name="矩形 109"/>
          <p:cNvSpPr>
            <a:spLocks noGrp="1"/>
          </p:cNvSpPr>
          <p:nvPr/>
        </p:nvSpPr>
        <p:spPr>
          <a:xfrm>
            <a:off x="5903595" y="3469005"/>
            <a:ext cx="76200" cy="1762125"/>
          </a:xfrm>
          <a:prstGeom prst="rect">
            <a:avLst/>
          </a:prstGeom>
          <a:solidFill>
            <a:srgbClr val="00D4FF"/>
          </a:solidFill>
          <a:ln w="0">
            <a:noFill/>
            <a:prstDash val="solid"/>
          </a:ln>
        </p:spPr>
      </p:sp>
      <p:sp>
        <p:nvSpPr>
          <p:cNvPr id="111" name="矩形 110"/>
          <p:cNvSpPr>
            <a:spLocks noGrp="1"/>
          </p:cNvSpPr>
          <p:nvPr/>
        </p:nvSpPr>
        <p:spPr>
          <a:xfrm>
            <a:off x="6151245" y="3678555"/>
            <a:ext cx="144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 1</a:t>
            </a:r>
            <a:endParaRPr sz="16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矩形 111"/>
          <p:cNvSpPr>
            <a:spLocks noGrp="1"/>
          </p:cNvSpPr>
          <p:nvPr/>
        </p:nvSpPr>
        <p:spPr>
          <a:xfrm>
            <a:off x="6151245" y="4199890"/>
            <a:ext cx="341503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Reranker 精排结果</a:t>
            </a:r>
            <a:endParaRPr sz="13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实时绑定 evidence_ids</a:t>
            </a:r>
            <a:endParaRPr sz="13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圆角矩形 112"/>
          <p:cNvSpPr>
            <a:spLocks noGrp="1"/>
          </p:cNvSpPr>
          <p:nvPr/>
        </p:nvSpPr>
        <p:spPr>
          <a:xfrm>
            <a:off x="5903595" y="5421630"/>
            <a:ext cx="2310130" cy="1428750"/>
          </a:xfrm>
          <a:prstGeom prst="roundRect">
            <a:avLst>
              <a:gd name="adj" fmla="val 10667"/>
            </a:avLst>
          </a:prstGeom>
          <a:solidFill>
            <a:srgbClr val="161B22">
              <a:alpha val="9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4" name="矩形 113"/>
          <p:cNvSpPr>
            <a:spLocks noGrp="1"/>
          </p:cNvSpPr>
          <p:nvPr/>
        </p:nvSpPr>
        <p:spPr>
          <a:xfrm>
            <a:off x="5903595" y="5421630"/>
            <a:ext cx="66675" cy="1428750"/>
          </a:xfrm>
          <a:prstGeom prst="rect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115" name="矩形 114"/>
          <p:cNvSpPr>
            <a:spLocks noGrp="1"/>
          </p:cNvSpPr>
          <p:nvPr/>
        </p:nvSpPr>
        <p:spPr>
          <a:xfrm>
            <a:off x="6151245" y="5631180"/>
            <a:ext cx="144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可解释</a:t>
            </a:r>
            <a:endParaRPr sz="16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矩形 115"/>
          <p:cNvSpPr>
            <a:spLocks noGrp="1"/>
          </p:cNvSpPr>
          <p:nvPr/>
        </p:nvSpPr>
        <p:spPr>
          <a:xfrm>
            <a:off x="6151245" y="6050280"/>
            <a:ext cx="1409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7维评分</a:t>
            </a:r>
            <a:endParaRPr sz="13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buNone/>
              <a:def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证据溯源 Tab</a:t>
            </a:r>
            <a:endParaRPr sz="13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8" name="图片 1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" y="2335530"/>
            <a:ext cx="4140200" cy="7029450"/>
          </a:xfrm>
          <a:prstGeom prst="roundRect">
            <a:avLst/>
          </a:prstGeom>
        </p:spPr>
      </p:pic>
      <p:pic>
        <p:nvPicPr>
          <p:cNvPr id="120" name="图片 119" descr="d57d1b094940342b150d767eb5e4e1aa"/>
          <p:cNvPicPr>
            <a:picLocks noChangeAspect="1"/>
          </p:cNvPicPr>
          <p:nvPr/>
        </p:nvPicPr>
        <p:blipFill>
          <a:blip r:embed="rId2"/>
          <a:srcRect t="26599"/>
          <a:stretch>
            <a:fillRect/>
          </a:stretch>
        </p:blipFill>
        <p:spPr>
          <a:xfrm>
            <a:off x="8423910" y="2407285"/>
            <a:ext cx="4315460" cy="7039610"/>
          </a:xfrm>
          <a:prstGeom prst="roundRect">
            <a:avLst/>
          </a:prstGeom>
        </p:spPr>
      </p:pic>
      <p:pic>
        <p:nvPicPr>
          <p:cNvPr id="121" name="图片 120" descr="8bb9e68f37e09c30a1973a94dbaef45f"/>
          <p:cNvPicPr>
            <a:picLocks noChangeAspect="1"/>
          </p:cNvPicPr>
          <p:nvPr/>
        </p:nvPicPr>
        <p:blipFill>
          <a:blip r:embed="rId3"/>
          <a:srcRect t="26278"/>
          <a:stretch>
            <a:fillRect/>
          </a:stretch>
        </p:blipFill>
        <p:spPr>
          <a:xfrm>
            <a:off x="13104495" y="2353310"/>
            <a:ext cx="4354195" cy="7133590"/>
          </a:xfrm>
          <a:prstGeom prst="round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117"/>
              </a:gs>
              <a:gs pos="46000">
                <a:srgbClr val="11111F"/>
              </a:gs>
              <a:gs pos="100000">
                <a:srgbClr val="06151A"/>
              </a:gs>
            </a:gsLst>
            <a:lin ang="7800000"/>
          </a:gradFill>
          <a:ln w="0">
            <a:noFill/>
            <a:prstDash val="solid"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-3429000" y="-3143250"/>
            <a:ext cx="9334500" cy="8382000"/>
          </a:xfrm>
          <a:prstGeom prst="ellipse">
            <a:avLst/>
          </a:prstGeom>
          <a:gradFill>
            <a:gsLst>
              <a:gs pos="0">
                <a:srgbClr val="A855F7">
                  <a:alpha val="30000"/>
                </a:srgbClr>
              </a:gs>
              <a:gs pos="42000">
                <a:srgbClr val="7C3AED">
                  <a:alpha val="14000"/>
                </a:srgbClr>
              </a:gs>
              <a:gs pos="74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10572750" y="-2476500"/>
            <a:ext cx="9906000" cy="8572500"/>
          </a:xfrm>
          <a:prstGeom prst="ellipse">
            <a:avLst/>
          </a:prstGeom>
          <a:gradFill>
            <a:gsLst>
              <a:gs pos="0">
                <a:srgbClr val="60A5FA">
                  <a:alpha val="22000"/>
                </a:srgbClr>
              </a:gs>
              <a:gs pos="46000">
                <a:srgbClr val="00D4FF">
                  <a:alpha val="9000"/>
                </a:srgbClr>
              </a:gs>
              <a:gs pos="78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5715000" y="6477000"/>
            <a:ext cx="7810500" cy="4953000"/>
          </a:xfrm>
          <a:prstGeom prst="ellipse">
            <a:avLst/>
          </a:prstGeom>
          <a:gradFill>
            <a:gsLst>
              <a:gs pos="0">
                <a:srgbClr val="34D399">
                  <a:alpha val="13000"/>
                </a:srgbClr>
              </a:gs>
              <a:gs pos="72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71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143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714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2286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2857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3429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4000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4572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5143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5715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6286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6858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7429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8001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8572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9144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9715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10287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10858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11430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12001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12573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13144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13716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14287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14859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15430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16002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16573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17145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17716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18288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9" name="直接连接符 38"/>
          <p:cNvSpPr>
            <a:spLocks noGrp="1"/>
          </p:cNvSpPr>
          <p:nvPr/>
        </p:nvSpPr>
        <p:spPr>
          <a:xfrm>
            <a:off x="0" y="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0" y="571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0" y="1143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0" y="1714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3" name="直接连接符 42"/>
          <p:cNvSpPr>
            <a:spLocks noGrp="1"/>
          </p:cNvSpPr>
          <p:nvPr/>
        </p:nvSpPr>
        <p:spPr>
          <a:xfrm>
            <a:off x="0" y="2286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4" name="直接连接符 43"/>
          <p:cNvSpPr>
            <a:spLocks noGrp="1"/>
          </p:cNvSpPr>
          <p:nvPr/>
        </p:nvSpPr>
        <p:spPr>
          <a:xfrm>
            <a:off x="0" y="2857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5" name="直接连接符 44"/>
          <p:cNvSpPr>
            <a:spLocks noGrp="1"/>
          </p:cNvSpPr>
          <p:nvPr/>
        </p:nvSpPr>
        <p:spPr>
          <a:xfrm>
            <a:off x="0" y="3429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0" y="4000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0" y="4572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0" y="5143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9" name="直接连接符 48"/>
          <p:cNvSpPr>
            <a:spLocks noGrp="1"/>
          </p:cNvSpPr>
          <p:nvPr/>
        </p:nvSpPr>
        <p:spPr>
          <a:xfrm>
            <a:off x="0" y="5715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0" name="直接连接符 49"/>
          <p:cNvSpPr>
            <a:spLocks noGrp="1"/>
          </p:cNvSpPr>
          <p:nvPr/>
        </p:nvSpPr>
        <p:spPr>
          <a:xfrm>
            <a:off x="0" y="6286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1" name="直接连接符 50"/>
          <p:cNvSpPr>
            <a:spLocks noGrp="1"/>
          </p:cNvSpPr>
          <p:nvPr/>
        </p:nvSpPr>
        <p:spPr>
          <a:xfrm>
            <a:off x="0" y="6858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2" name="直接连接符 51"/>
          <p:cNvSpPr>
            <a:spLocks noGrp="1"/>
          </p:cNvSpPr>
          <p:nvPr/>
        </p:nvSpPr>
        <p:spPr>
          <a:xfrm>
            <a:off x="0" y="7429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3" name="直接连接符 52"/>
          <p:cNvSpPr>
            <a:spLocks noGrp="1"/>
          </p:cNvSpPr>
          <p:nvPr/>
        </p:nvSpPr>
        <p:spPr>
          <a:xfrm>
            <a:off x="0" y="8001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4" name="直接连接符 53"/>
          <p:cNvSpPr>
            <a:spLocks noGrp="1"/>
          </p:cNvSpPr>
          <p:nvPr/>
        </p:nvSpPr>
        <p:spPr>
          <a:xfrm>
            <a:off x="0" y="8572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5" name="直接连接符 54"/>
          <p:cNvSpPr>
            <a:spLocks noGrp="1"/>
          </p:cNvSpPr>
          <p:nvPr/>
        </p:nvSpPr>
        <p:spPr>
          <a:xfrm>
            <a:off x="0" y="9144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6" name="直接连接符 55"/>
          <p:cNvSpPr>
            <a:spLocks noGrp="1"/>
          </p:cNvSpPr>
          <p:nvPr/>
        </p:nvSpPr>
        <p:spPr>
          <a:xfrm>
            <a:off x="0" y="9715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7" name="直接连接符 56"/>
          <p:cNvSpPr>
            <a:spLocks noGrp="1"/>
          </p:cNvSpPr>
          <p:nvPr/>
        </p:nvSpPr>
        <p:spPr>
          <a:xfrm>
            <a:off x="0" y="10287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117">
                  <a:alpha val="0"/>
                </a:srgbClr>
              </a:gs>
              <a:gs pos="100000">
                <a:srgbClr val="0D1117">
                  <a:alpha val="4500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59" name="圆角矩形 58"/>
          <p:cNvSpPr>
            <a:spLocks noGrp="1"/>
          </p:cNvSpPr>
          <p:nvPr/>
        </p:nvSpPr>
        <p:spPr>
          <a:xfrm>
            <a:off x="819150" y="590550"/>
            <a:ext cx="2667000" cy="419100"/>
          </a:xfrm>
          <a:prstGeom prst="roundRect">
            <a:avLst>
              <a:gd name="adj" fmla="val 50000"/>
            </a:avLst>
          </a:prstGeom>
          <a:solidFill>
            <a:srgbClr val="A855F7">
              <a:alpha val="18000"/>
            </a:srgbClr>
          </a:solidFill>
          <a:ln w="9525">
            <a:solidFill>
              <a:srgbClr val="A855F7">
                <a:alpha val="55000"/>
              </a:srgbClr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13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P10 · Memory</a:t>
            </a:r>
            <a:endParaRPr sz="1350" b="1">
              <a:solidFill>
                <a:srgbClr val="C084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819150" y="1123950"/>
            <a:ext cx="12382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buNone/>
              <a:defRPr sz="4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gradFill>
                  <a:gsLst>
                    <a:gs pos="0">
                      <a:srgbClr val="A855F7"/>
                    </a:gs>
                    <a:gs pos="52000">
                      <a:srgbClr val="60A5FA"/>
                    </a:gs>
                    <a:gs pos="100000">
                      <a:srgbClr val="34D399"/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三层记忆架构</a:t>
            </a:r>
            <a:endParaRPr sz="4200" b="1">
              <a:gradFill>
                <a:gsLst>
                  <a:gs pos="0">
                    <a:srgbClr val="A855F7"/>
                  </a:gs>
                  <a:gs pos="52000">
                    <a:srgbClr val="60A5FA"/>
                  </a:gs>
                  <a:gs pos="100000">
                    <a:srgbClr val="34D399"/>
                  </a:gs>
                </a:gsLst>
                <a:lin ang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857250" y="1847850"/>
            <a:ext cx="1314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越聊越懂你的购物导购</a:t>
            </a:r>
            <a:endParaRPr sz="180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819150" y="96202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OmniCart Agent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16192500" y="96202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10 / 16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4" name="直接连接符 63"/>
          <p:cNvSpPr>
            <a:spLocks noGrp="1"/>
          </p:cNvSpPr>
          <p:nvPr/>
        </p:nvSpPr>
        <p:spPr>
          <a:xfrm>
            <a:off x="819150" y="9486900"/>
            <a:ext cx="16649700" cy="0"/>
          </a:xfrm>
          <a:prstGeom prst="line">
            <a:avLst/>
          </a:prstGeom>
          <a:noFill/>
          <a:ln w="9525">
            <a:solidFill>
              <a:srgbClr val="30363D">
                <a:alpha val="70000"/>
              </a:srgbClr>
            </a:solidFill>
            <a:prstDash val="solid"/>
          </a:ln>
        </p:spPr>
      </p:sp>
      <p:sp>
        <p:nvSpPr>
          <p:cNvPr id="65" name="圆角矩形 64"/>
          <p:cNvSpPr>
            <a:spLocks noGrp="1"/>
          </p:cNvSpPr>
          <p:nvPr/>
        </p:nvSpPr>
        <p:spPr>
          <a:xfrm>
            <a:off x="1143000" y="2667000"/>
            <a:ext cx="10287000" cy="6096000"/>
          </a:xfrm>
          <a:prstGeom prst="roundRect">
            <a:avLst>
              <a:gd name="adj" fmla="val 5313"/>
            </a:avLst>
          </a:prstGeom>
          <a:solidFill>
            <a:srgbClr val="A855F7">
              <a:alpha val="10000"/>
            </a:srgbClr>
          </a:solidFill>
          <a:ln w="19050">
            <a:solidFill>
              <a:srgbClr val="A855F7">
                <a:alpha val="48000"/>
              </a:srgbClr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1619250" y="3000375"/>
            <a:ext cx="7239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短期记忆  context_snapshot JSONB · TTL 2h</a:t>
            </a:r>
            <a:endParaRPr sz="2025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1619250" y="3476625"/>
            <a:ext cx="8763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品类/预算/场景约束累积 · 上轮商品引用 · pending_question · 话题切换清空旧约束</a:t>
            </a:r>
            <a:endParaRPr sz="16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圆角矩形 67"/>
          <p:cNvSpPr>
            <a:spLocks noGrp="1"/>
          </p:cNvSpPr>
          <p:nvPr/>
        </p:nvSpPr>
        <p:spPr>
          <a:xfrm>
            <a:off x="2428875" y="4238625"/>
            <a:ext cx="7810500" cy="3429000"/>
          </a:xfrm>
          <a:prstGeom prst="roundRect">
            <a:avLst>
              <a:gd name="adj" fmla="val 7778"/>
            </a:avLst>
          </a:prstGeom>
          <a:solidFill>
            <a:srgbClr val="00D4FF">
              <a:alpha val="10000"/>
            </a:srgbClr>
          </a:solidFill>
          <a:ln w="1905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2857500" y="4572000"/>
            <a:ext cx="628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2025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长期记忆  user_preference_entries</a:t>
            </a:r>
            <a:endParaRPr sz="2025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2857500" y="5048250"/>
            <a:ext cx="666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条目化管理 · LLM解析品类/品牌/场景 · 品类感知注入 · 启用/禁用开关</a:t>
            </a:r>
            <a:endParaRPr sz="16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3714750" y="5810250"/>
            <a:ext cx="5238750" cy="1428750"/>
          </a:xfrm>
          <a:prstGeom prst="roundRect">
            <a:avLst>
              <a:gd name="adj" fmla="val 16000"/>
            </a:avLst>
          </a:prstGeom>
          <a:solidFill>
            <a:srgbClr val="34D399">
              <a:alpha val="10000"/>
            </a:srgbClr>
          </a:solidFill>
          <a:ln w="1905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4095750" y="609600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875" b="1">
                <a:solidFill>
                  <a:srgbClr val="34D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34D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会话记忆  conversations</a:t>
            </a:r>
            <a:endParaRPr sz="1875" b="1">
              <a:solidFill>
                <a:srgbClr val="34D3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4095750" y="6553200"/>
            <a:ext cx="4476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4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对话历史持久化 · 商品/证据引用关联 · 自动标题 · 增量压缩</a:t>
            </a:r>
            <a:endParaRPr sz="142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圆角矩形 73"/>
          <p:cNvSpPr>
            <a:spLocks noGrp="1"/>
          </p:cNvSpPr>
          <p:nvPr/>
        </p:nvSpPr>
        <p:spPr>
          <a:xfrm>
            <a:off x="12382500" y="2857500"/>
            <a:ext cx="4762500" cy="1524000"/>
          </a:xfrm>
          <a:prstGeom prst="roundRect">
            <a:avLst>
              <a:gd name="adj" fmla="val 10000"/>
            </a:avLst>
          </a:prstGeom>
          <a:solidFill>
            <a:srgbClr val="161B22">
              <a:alpha val="9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12382500" y="2857500"/>
            <a:ext cx="66675" cy="1524000"/>
          </a:xfrm>
          <a:prstGeom prst="rect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12630150" y="3067050"/>
            <a:ext cx="430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条目化而非单行 JSONB</a:t>
            </a:r>
            <a:endParaRPr sz="180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12630150" y="3486150"/>
            <a:ext cx="4267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每条偏好独立增删改，避免一个字段越写越脏。</a:t>
            </a:r>
            <a:endParaRPr sz="157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圆角矩形 77"/>
          <p:cNvSpPr>
            <a:spLocks noGrp="1"/>
          </p:cNvSpPr>
          <p:nvPr/>
        </p:nvSpPr>
        <p:spPr>
          <a:xfrm>
            <a:off x="12382500" y="4810125"/>
            <a:ext cx="4762500" cy="1524000"/>
          </a:xfrm>
          <a:prstGeom prst="roundRect">
            <a:avLst>
              <a:gd name="adj" fmla="val 10000"/>
            </a:avLst>
          </a:prstGeom>
          <a:solidFill>
            <a:srgbClr val="161B22">
              <a:alpha val="9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/>
        </p:nvSpPr>
        <p:spPr>
          <a:xfrm>
            <a:off x="12382500" y="4810125"/>
            <a:ext cx="66675" cy="1524000"/>
          </a:xfrm>
          <a:prstGeom prst="rect">
            <a:avLst/>
          </a:prstGeom>
          <a:solidFill>
            <a:srgbClr val="00D4FF"/>
          </a:solidFill>
          <a:ln w="0">
            <a:noFill/>
            <a:prstDash val="solid"/>
          </a:ln>
        </p:spPr>
      </p:sp>
      <p:sp>
        <p:nvSpPr>
          <p:cNvPr id="80" name="矩形 79"/>
          <p:cNvSpPr>
            <a:spLocks noGrp="1"/>
          </p:cNvSpPr>
          <p:nvPr/>
        </p:nvSpPr>
        <p:spPr>
          <a:xfrm>
            <a:off x="12630150" y="5019675"/>
            <a:ext cx="4305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品类感知注入</a:t>
            </a:r>
            <a:endParaRPr sz="180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12630150" y="5438775"/>
            <a:ext cx="4267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“油皮”偏好不会污染“手机”或“耳机”的搜索。</a:t>
            </a:r>
            <a:endParaRPr sz="157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圆角矩形 81"/>
          <p:cNvSpPr>
            <a:spLocks noGrp="1"/>
          </p:cNvSpPr>
          <p:nvPr/>
        </p:nvSpPr>
        <p:spPr>
          <a:xfrm>
            <a:off x="12382500" y="6762750"/>
            <a:ext cx="4762500" cy="1524000"/>
          </a:xfrm>
          <a:prstGeom prst="roundRect">
            <a:avLst>
              <a:gd name="adj" fmla="val 10000"/>
            </a:avLst>
          </a:prstGeom>
          <a:solidFill>
            <a:srgbClr val="161B22">
              <a:alpha val="9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12382500" y="6762750"/>
            <a:ext cx="66675" cy="1524000"/>
          </a:xfrm>
          <a:prstGeom prst="rect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12630150" y="6972300"/>
            <a:ext cx="446468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search_hints / context_prompt 分离</a:t>
            </a:r>
            <a:endParaRPr sz="180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12630150" y="7519670"/>
            <a:ext cx="4267200" cy="3727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5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检索召回与 LLM 理解分开控制，减少副作用。</a:t>
            </a:r>
            <a:endParaRPr sz="157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117"/>
              </a:gs>
              <a:gs pos="46000">
                <a:srgbClr val="11111F"/>
              </a:gs>
              <a:gs pos="100000">
                <a:srgbClr val="06151A"/>
              </a:gs>
            </a:gsLst>
            <a:lin ang="7800000"/>
          </a:gradFill>
          <a:ln w="0">
            <a:noFill/>
            <a:prstDash val="solid"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-3429000" y="-3143250"/>
            <a:ext cx="9334500" cy="8382000"/>
          </a:xfrm>
          <a:prstGeom prst="ellipse">
            <a:avLst/>
          </a:prstGeom>
          <a:gradFill>
            <a:gsLst>
              <a:gs pos="0">
                <a:srgbClr val="A855F7">
                  <a:alpha val="30000"/>
                </a:srgbClr>
              </a:gs>
              <a:gs pos="42000">
                <a:srgbClr val="7C3AED">
                  <a:alpha val="14000"/>
                </a:srgbClr>
              </a:gs>
              <a:gs pos="74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10572750" y="-2476500"/>
            <a:ext cx="9906000" cy="8572500"/>
          </a:xfrm>
          <a:prstGeom prst="ellipse">
            <a:avLst/>
          </a:prstGeom>
          <a:gradFill>
            <a:gsLst>
              <a:gs pos="0">
                <a:srgbClr val="60A5FA">
                  <a:alpha val="22000"/>
                </a:srgbClr>
              </a:gs>
              <a:gs pos="46000">
                <a:srgbClr val="00D4FF">
                  <a:alpha val="9000"/>
                </a:srgbClr>
              </a:gs>
              <a:gs pos="78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5715000" y="6477000"/>
            <a:ext cx="7810500" cy="4953000"/>
          </a:xfrm>
          <a:prstGeom prst="ellipse">
            <a:avLst/>
          </a:prstGeom>
          <a:gradFill>
            <a:gsLst>
              <a:gs pos="0">
                <a:srgbClr val="34D399">
                  <a:alpha val="13000"/>
                </a:srgbClr>
              </a:gs>
              <a:gs pos="72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71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143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714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2286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2857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3429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4000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4572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5143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5715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6286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6858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7429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8001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8572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9144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9715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10287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10858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11430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12001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12573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13144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13716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14287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14859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15430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16002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16573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17145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17716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18288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9" name="直接连接符 38"/>
          <p:cNvSpPr>
            <a:spLocks noGrp="1"/>
          </p:cNvSpPr>
          <p:nvPr/>
        </p:nvSpPr>
        <p:spPr>
          <a:xfrm>
            <a:off x="0" y="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0" y="571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0" y="1143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0" y="1714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3" name="直接连接符 42"/>
          <p:cNvSpPr>
            <a:spLocks noGrp="1"/>
          </p:cNvSpPr>
          <p:nvPr/>
        </p:nvSpPr>
        <p:spPr>
          <a:xfrm>
            <a:off x="0" y="2286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4" name="直接连接符 43"/>
          <p:cNvSpPr>
            <a:spLocks noGrp="1"/>
          </p:cNvSpPr>
          <p:nvPr/>
        </p:nvSpPr>
        <p:spPr>
          <a:xfrm>
            <a:off x="0" y="2857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5" name="直接连接符 44"/>
          <p:cNvSpPr>
            <a:spLocks noGrp="1"/>
          </p:cNvSpPr>
          <p:nvPr/>
        </p:nvSpPr>
        <p:spPr>
          <a:xfrm>
            <a:off x="0" y="3429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0" y="4000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0" y="4572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0" y="5143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9" name="直接连接符 48"/>
          <p:cNvSpPr>
            <a:spLocks noGrp="1"/>
          </p:cNvSpPr>
          <p:nvPr/>
        </p:nvSpPr>
        <p:spPr>
          <a:xfrm>
            <a:off x="0" y="5715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0" name="直接连接符 49"/>
          <p:cNvSpPr>
            <a:spLocks noGrp="1"/>
          </p:cNvSpPr>
          <p:nvPr/>
        </p:nvSpPr>
        <p:spPr>
          <a:xfrm>
            <a:off x="0" y="6286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1" name="直接连接符 50"/>
          <p:cNvSpPr>
            <a:spLocks noGrp="1"/>
          </p:cNvSpPr>
          <p:nvPr/>
        </p:nvSpPr>
        <p:spPr>
          <a:xfrm>
            <a:off x="0" y="6858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2" name="直接连接符 51"/>
          <p:cNvSpPr>
            <a:spLocks noGrp="1"/>
          </p:cNvSpPr>
          <p:nvPr/>
        </p:nvSpPr>
        <p:spPr>
          <a:xfrm>
            <a:off x="0" y="7429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3" name="直接连接符 52"/>
          <p:cNvSpPr>
            <a:spLocks noGrp="1"/>
          </p:cNvSpPr>
          <p:nvPr/>
        </p:nvSpPr>
        <p:spPr>
          <a:xfrm>
            <a:off x="0" y="8001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4" name="直接连接符 53"/>
          <p:cNvSpPr>
            <a:spLocks noGrp="1"/>
          </p:cNvSpPr>
          <p:nvPr/>
        </p:nvSpPr>
        <p:spPr>
          <a:xfrm>
            <a:off x="0" y="8572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5" name="直接连接符 54"/>
          <p:cNvSpPr>
            <a:spLocks noGrp="1"/>
          </p:cNvSpPr>
          <p:nvPr/>
        </p:nvSpPr>
        <p:spPr>
          <a:xfrm>
            <a:off x="0" y="9144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6" name="直接连接符 55"/>
          <p:cNvSpPr>
            <a:spLocks noGrp="1"/>
          </p:cNvSpPr>
          <p:nvPr/>
        </p:nvSpPr>
        <p:spPr>
          <a:xfrm>
            <a:off x="0" y="9715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7" name="直接连接符 56"/>
          <p:cNvSpPr>
            <a:spLocks noGrp="1"/>
          </p:cNvSpPr>
          <p:nvPr/>
        </p:nvSpPr>
        <p:spPr>
          <a:xfrm>
            <a:off x="0" y="10287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117">
                  <a:alpha val="0"/>
                </a:srgbClr>
              </a:gs>
              <a:gs pos="100000">
                <a:srgbClr val="0D1117">
                  <a:alpha val="4500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59" name="圆角矩形 58"/>
          <p:cNvSpPr>
            <a:spLocks noGrp="1"/>
          </p:cNvSpPr>
          <p:nvPr/>
        </p:nvSpPr>
        <p:spPr>
          <a:xfrm>
            <a:off x="819150" y="590550"/>
            <a:ext cx="4038600" cy="419100"/>
          </a:xfrm>
          <a:prstGeom prst="roundRect">
            <a:avLst>
              <a:gd name="adj" fmla="val 50000"/>
            </a:avLst>
          </a:prstGeom>
          <a:solidFill>
            <a:srgbClr val="A855F7">
              <a:alpha val="18000"/>
            </a:srgbClr>
          </a:solidFill>
          <a:ln w="9525">
            <a:solidFill>
              <a:srgbClr val="A855F7">
                <a:alpha val="55000"/>
              </a:srgbClr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13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P11 · FollowUpEngine</a:t>
            </a:r>
            <a:endParaRPr sz="1350" b="1">
              <a:solidFill>
                <a:srgbClr val="C084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819150" y="1123950"/>
            <a:ext cx="12382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buNone/>
              <a:defRPr sz="4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gradFill>
                  <a:gsLst>
                    <a:gs pos="0">
                      <a:srgbClr val="A855F7"/>
                    </a:gs>
                    <a:gs pos="52000">
                      <a:srgbClr val="60A5FA"/>
                    </a:gs>
                    <a:gs pos="100000">
                      <a:srgbClr val="34D399"/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种追问检测 + 品类感知注入</a:t>
            </a:r>
            <a:endParaRPr sz="4200" b="1">
              <a:gradFill>
                <a:gsLst>
                  <a:gs pos="0">
                    <a:srgbClr val="A855F7"/>
                  </a:gs>
                  <a:gs pos="52000">
                    <a:srgbClr val="60A5FA"/>
                  </a:gs>
                  <a:gs pos="100000">
                    <a:srgbClr val="34D399"/>
                  </a:gs>
                </a:gsLst>
                <a:lin ang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857250" y="1847850"/>
            <a:ext cx="1314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FollowUpEngine 让多轮购物对话保持上下文</a:t>
            </a:r>
            <a:endParaRPr sz="180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819150" y="96202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OmniCart Agent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16192500" y="96202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11 / 16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4" name="直接连接符 63"/>
          <p:cNvSpPr>
            <a:spLocks noGrp="1"/>
          </p:cNvSpPr>
          <p:nvPr/>
        </p:nvSpPr>
        <p:spPr>
          <a:xfrm>
            <a:off x="819150" y="9486900"/>
            <a:ext cx="16649700" cy="0"/>
          </a:xfrm>
          <a:prstGeom prst="line">
            <a:avLst/>
          </a:prstGeom>
          <a:noFill/>
          <a:ln w="9525">
            <a:solidFill>
              <a:srgbClr val="30363D">
                <a:alpha val="70000"/>
              </a:srgbClr>
            </a:solidFill>
            <a:prstDash val="solid"/>
          </a:ln>
        </p:spPr>
      </p:sp>
      <p:sp>
        <p:nvSpPr>
          <p:cNvPr id="65" name="圆角矩形 64"/>
          <p:cNvSpPr>
            <a:spLocks noGrp="1"/>
          </p:cNvSpPr>
          <p:nvPr/>
        </p:nvSpPr>
        <p:spPr>
          <a:xfrm>
            <a:off x="857250" y="2476500"/>
            <a:ext cx="2571750" cy="781050"/>
          </a:xfrm>
          <a:prstGeom prst="roundRect">
            <a:avLst>
              <a:gd name="adj" fmla="val 19512"/>
            </a:avLst>
          </a:prstGeom>
          <a:solidFill>
            <a:srgbClr val="161B22">
              <a:alpha val="80000"/>
            </a:srgbClr>
          </a:solidFill>
          <a:ln w="9525">
            <a:solidFill>
              <a:srgbClr val="30363D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22000"/>
              </a:lnSpc>
              <a:buNone/>
              <a:defRPr sz="1500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序数指代</a:t>
            </a:r>
            <a:endParaRPr sz="1500" b="0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2000"/>
              </a:lnSpc>
              <a:buNone/>
              <a:defRPr sz="1500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“第二个怎么样”</a:t>
            </a:r>
            <a:endParaRPr sz="1500" b="0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圆角矩形 65"/>
          <p:cNvSpPr>
            <a:spLocks noGrp="1"/>
          </p:cNvSpPr>
          <p:nvPr/>
        </p:nvSpPr>
        <p:spPr>
          <a:xfrm>
            <a:off x="3810000" y="2476500"/>
            <a:ext cx="2571750" cy="781050"/>
          </a:xfrm>
          <a:prstGeom prst="roundRect">
            <a:avLst>
              <a:gd name="adj" fmla="val 19512"/>
            </a:avLst>
          </a:prstGeom>
          <a:solidFill>
            <a:srgbClr val="161B22">
              <a:alpha val="80000"/>
            </a:srgbClr>
          </a:solidFill>
          <a:ln w="9525">
            <a:solidFill>
              <a:srgbClr val="30363D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22000"/>
              </a:lnSpc>
              <a:buNone/>
              <a:defRPr sz="1500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品牌引用</a:t>
            </a:r>
            <a:endParaRPr sz="1500" b="0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2000"/>
              </a:lnSpc>
              <a:buNone/>
              <a:defRPr sz="1500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“Sony那个”</a:t>
            </a:r>
            <a:endParaRPr sz="1500" b="0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圆角矩形 66"/>
          <p:cNvSpPr>
            <a:spLocks noGrp="1"/>
          </p:cNvSpPr>
          <p:nvPr/>
        </p:nvSpPr>
        <p:spPr>
          <a:xfrm>
            <a:off x="6762750" y="2476500"/>
            <a:ext cx="2571750" cy="781050"/>
          </a:xfrm>
          <a:prstGeom prst="roundRect">
            <a:avLst>
              <a:gd name="adj" fmla="val 19512"/>
            </a:avLst>
          </a:prstGeom>
          <a:solidFill>
            <a:srgbClr val="161B22">
              <a:alpha val="80000"/>
            </a:srgbClr>
          </a:solidFill>
          <a:ln w="9525">
            <a:solidFill>
              <a:srgbClr val="30363D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22000"/>
              </a:lnSpc>
              <a:buNone/>
              <a:defRPr sz="1500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上次引用</a:t>
            </a:r>
            <a:endParaRPr sz="1500" b="0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2000"/>
              </a:lnSpc>
              <a:buNone/>
              <a:defRPr sz="1500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“刚才那个”</a:t>
            </a:r>
            <a:endParaRPr sz="1500" b="0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圆角矩形 67"/>
          <p:cNvSpPr>
            <a:spLocks noGrp="1"/>
          </p:cNvSpPr>
          <p:nvPr/>
        </p:nvSpPr>
        <p:spPr>
          <a:xfrm>
            <a:off x="9715500" y="2476500"/>
            <a:ext cx="2571750" cy="781050"/>
          </a:xfrm>
          <a:prstGeom prst="roundRect">
            <a:avLst>
              <a:gd name="adj" fmla="val 19512"/>
            </a:avLst>
          </a:prstGeom>
          <a:solidFill>
            <a:srgbClr val="161B22">
              <a:alpha val="80000"/>
            </a:srgbClr>
          </a:solidFill>
          <a:ln w="9525">
            <a:solidFill>
              <a:srgbClr val="30363D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22000"/>
              </a:lnSpc>
              <a:buNone/>
              <a:defRPr sz="1500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预算更新</a:t>
            </a:r>
            <a:endParaRPr sz="1500" b="0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2000"/>
              </a:lnSpc>
              <a:buNone/>
              <a:defRPr sz="1500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“换成200以内”</a:t>
            </a:r>
            <a:endParaRPr sz="1500" b="0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圆角矩形 68"/>
          <p:cNvSpPr>
            <a:spLocks noGrp="1"/>
          </p:cNvSpPr>
          <p:nvPr/>
        </p:nvSpPr>
        <p:spPr>
          <a:xfrm>
            <a:off x="857250" y="3524250"/>
            <a:ext cx="2571750" cy="781050"/>
          </a:xfrm>
          <a:prstGeom prst="roundRect">
            <a:avLst>
              <a:gd name="adj" fmla="val 19512"/>
            </a:avLst>
          </a:prstGeom>
          <a:solidFill>
            <a:srgbClr val="161B22">
              <a:alpha val="80000"/>
            </a:srgbClr>
          </a:solidFill>
          <a:ln w="9525">
            <a:solidFill>
              <a:srgbClr val="30363D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22000"/>
              </a:lnSpc>
              <a:buNone/>
              <a:defRPr sz="1500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购物车意图</a:t>
            </a:r>
            <a:endParaRPr sz="1500" b="0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2000"/>
              </a:lnSpc>
              <a:buNone/>
              <a:defRPr sz="1500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“加入购物车”</a:t>
            </a:r>
            <a:endParaRPr sz="1500" b="0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圆角矩形 69"/>
          <p:cNvSpPr>
            <a:spLocks noGrp="1"/>
          </p:cNvSpPr>
          <p:nvPr/>
        </p:nvSpPr>
        <p:spPr>
          <a:xfrm>
            <a:off x="3810000" y="3524250"/>
            <a:ext cx="2571750" cy="781050"/>
          </a:xfrm>
          <a:prstGeom prst="roundRect">
            <a:avLst>
              <a:gd name="adj" fmla="val 19512"/>
            </a:avLst>
          </a:prstGeom>
          <a:solidFill>
            <a:srgbClr val="161B22">
              <a:alpha val="80000"/>
            </a:srgbClr>
          </a:solidFill>
          <a:ln w="9525">
            <a:solidFill>
              <a:srgbClr val="30363D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22000"/>
              </a:lnSpc>
              <a:buNone/>
              <a:defRPr sz="1500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 对比意图</a:t>
            </a:r>
            <a:endParaRPr sz="1500" b="0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2000"/>
              </a:lnSpc>
              <a:buNone/>
              <a:defRPr sz="1500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“哪个更好”</a:t>
            </a:r>
            <a:endParaRPr sz="1500" b="0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6762750" y="3524250"/>
            <a:ext cx="2571750" cy="781050"/>
          </a:xfrm>
          <a:prstGeom prst="roundRect">
            <a:avLst>
              <a:gd name="adj" fmla="val 19512"/>
            </a:avLst>
          </a:prstGeom>
          <a:solidFill>
            <a:srgbClr val="161B22">
              <a:alpha val="80000"/>
            </a:srgbClr>
          </a:solidFill>
          <a:ln w="9525">
            <a:solidFill>
              <a:srgbClr val="30363D"/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22000"/>
              </a:lnSpc>
              <a:buNone/>
              <a:defRPr sz="1500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 模糊追问</a:t>
            </a:r>
            <a:endParaRPr sz="1500" b="0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2000"/>
              </a:lnSpc>
              <a:buNone/>
              <a:defRPr sz="1500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“便宜一点”</a:t>
            </a:r>
            <a:endParaRPr sz="1500" b="0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圆角矩形 71"/>
          <p:cNvSpPr>
            <a:spLocks noGrp="1"/>
          </p:cNvSpPr>
          <p:nvPr/>
        </p:nvSpPr>
        <p:spPr>
          <a:xfrm>
            <a:off x="1143000" y="5524500"/>
            <a:ext cx="1524000" cy="552450"/>
          </a:xfrm>
          <a:prstGeom prst="roundRect">
            <a:avLst>
              <a:gd name="adj" fmla="val 27586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40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query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圆角矩形 72"/>
          <p:cNvSpPr>
            <a:spLocks noGrp="1"/>
          </p:cNvSpPr>
          <p:nvPr/>
        </p:nvSpPr>
        <p:spPr>
          <a:xfrm>
            <a:off x="3143250" y="5524500"/>
            <a:ext cx="1524000" cy="552450"/>
          </a:xfrm>
          <a:prstGeom prst="roundRect">
            <a:avLst>
              <a:gd name="adj" fmla="val 27586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40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序数指代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圆角矩形 73"/>
          <p:cNvSpPr>
            <a:spLocks noGrp="1"/>
          </p:cNvSpPr>
          <p:nvPr/>
        </p:nvSpPr>
        <p:spPr>
          <a:xfrm>
            <a:off x="5143500" y="5524500"/>
            <a:ext cx="1524000" cy="552450"/>
          </a:xfrm>
          <a:prstGeom prst="roundRect">
            <a:avLst>
              <a:gd name="adj" fmla="val 27586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40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品牌/标题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7143750" y="5524500"/>
            <a:ext cx="1524000" cy="552450"/>
          </a:xfrm>
          <a:prstGeom prst="roundRect">
            <a:avLst>
              <a:gd name="adj" fmla="val 27586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40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预算更新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圆角矩形 75"/>
          <p:cNvSpPr>
            <a:spLocks noGrp="1"/>
          </p:cNvSpPr>
          <p:nvPr/>
        </p:nvSpPr>
        <p:spPr>
          <a:xfrm>
            <a:off x="9144000" y="5524500"/>
            <a:ext cx="1524000" cy="552450"/>
          </a:xfrm>
          <a:prstGeom prst="roundRect">
            <a:avLst>
              <a:gd name="adj" fmla="val 27586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40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is_follow_up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圆角矩形 76"/>
          <p:cNvSpPr>
            <a:spLocks noGrp="1"/>
          </p:cNvSpPr>
          <p:nvPr/>
        </p:nvSpPr>
        <p:spPr>
          <a:xfrm>
            <a:off x="11144250" y="5524500"/>
            <a:ext cx="1524000" cy="552450"/>
          </a:xfrm>
          <a:prstGeom prst="roundRect">
            <a:avLst>
              <a:gd name="adj" fmla="val 27586"/>
            </a:avLst>
          </a:prstGeom>
          <a:solidFill>
            <a:srgbClr val="34D399">
              <a:alpha val="12000"/>
            </a:srgbClr>
          </a:solidFill>
          <a:ln w="9525">
            <a:solidFill>
              <a:srgbClr val="34D399">
                <a:alpha val="45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注入 Router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1" name="直接箭头连接符 180"/>
          <p:cNvCxnSpPr>
            <a:stCxn id="71" idx="3"/>
            <a:endCxn id="72" idx="1"/>
          </p:cNvCxnSpPr>
          <p:nvPr/>
        </p:nvCxnSpPr>
        <p:spPr>
          <a:xfrm>
            <a:off x="2667000" y="5800725"/>
            <a:ext cx="476250" cy="0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82" name="直接箭头连接符 181"/>
          <p:cNvCxnSpPr>
            <a:stCxn id="72" idx="3"/>
            <a:endCxn id="73" idx="1"/>
          </p:cNvCxnSpPr>
          <p:nvPr/>
        </p:nvCxnSpPr>
        <p:spPr>
          <a:xfrm>
            <a:off x="4667250" y="5800725"/>
            <a:ext cx="476250" cy="0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83" name="直接箭头连接符 182"/>
          <p:cNvCxnSpPr>
            <a:stCxn id="73" idx="3"/>
            <a:endCxn id="74" idx="1"/>
          </p:cNvCxnSpPr>
          <p:nvPr/>
        </p:nvCxnSpPr>
        <p:spPr>
          <a:xfrm>
            <a:off x="6667500" y="5800725"/>
            <a:ext cx="476250" cy="0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84" name="直接箭头连接符 183"/>
          <p:cNvCxnSpPr>
            <a:stCxn id="74" idx="3"/>
            <a:endCxn id="75" idx="1"/>
          </p:cNvCxnSpPr>
          <p:nvPr/>
        </p:nvCxnSpPr>
        <p:spPr>
          <a:xfrm>
            <a:off x="8667750" y="5800725"/>
            <a:ext cx="476250" cy="0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85" name="直接箭头连接符 184"/>
          <p:cNvCxnSpPr>
            <a:stCxn id="75" idx="3"/>
            <a:endCxn id="76" idx="1"/>
          </p:cNvCxnSpPr>
          <p:nvPr/>
        </p:nvCxnSpPr>
        <p:spPr>
          <a:xfrm>
            <a:off x="10668000" y="5800725"/>
            <a:ext cx="476250" cy="0"/>
          </a:xfrm>
          <a:prstGeom prst="straightConnector1">
            <a:avLst/>
          </a:prstGeom>
          <a:ln w="28575">
            <a:solidFill>
              <a:srgbClr val="7C3AE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82" name="圆角矩形 81"/>
          <p:cNvSpPr>
            <a:spLocks noGrp="1"/>
          </p:cNvSpPr>
          <p:nvPr/>
        </p:nvSpPr>
        <p:spPr>
          <a:xfrm>
            <a:off x="1143000" y="6667500"/>
            <a:ext cx="12001500" cy="1524000"/>
          </a:xfrm>
          <a:prstGeom prst="roundRect">
            <a:avLst>
              <a:gd name="adj" fmla="val 10000"/>
            </a:avLst>
          </a:prstGeom>
          <a:solidFill>
            <a:srgbClr val="161B22">
              <a:alpha val="9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1143000" y="6667500"/>
            <a:ext cx="66675" cy="1524000"/>
          </a:xfrm>
          <a:prstGeom prst="rect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1390650" y="6877050"/>
            <a:ext cx="11544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命中即停</a:t>
            </a:r>
            <a:endParaRPr sz="180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1390650" y="7296150"/>
            <a:ext cx="11506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8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resolved_product_id / updated_constraints / context_prompt 会写回 WorkflowState，继续原有 Agent 链路，不另起黑盒分支。</a:t>
            </a:r>
            <a:endParaRPr sz="18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圆角矩形 85"/>
          <p:cNvSpPr>
            <a:spLocks noGrp="1"/>
          </p:cNvSpPr>
          <p:nvPr/>
        </p:nvSpPr>
        <p:spPr>
          <a:xfrm>
            <a:off x="13906500" y="2476500"/>
            <a:ext cx="3143250" cy="5905500"/>
          </a:xfrm>
          <a:prstGeom prst="roundRect">
            <a:avLst>
              <a:gd name="adj" fmla="val 11515"/>
            </a:avLst>
          </a:prstGeom>
          <a:solidFill>
            <a:srgbClr val="05070D"/>
          </a:solidFill>
          <a:ln w="19050">
            <a:solidFill>
              <a:srgbClr val="30363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sp>
        <p:nvSpPr>
          <p:cNvPr id="87" name="圆角矩形 86"/>
          <p:cNvSpPr>
            <a:spLocks noGrp="1"/>
          </p:cNvSpPr>
          <p:nvPr/>
        </p:nvSpPr>
        <p:spPr>
          <a:xfrm>
            <a:off x="14049375" y="2619375"/>
            <a:ext cx="2857500" cy="5619750"/>
          </a:xfrm>
          <a:prstGeom prst="roundRect">
            <a:avLst>
              <a:gd name="adj" fmla="val 9333"/>
            </a:avLst>
          </a:prstGeom>
          <a:solidFill>
            <a:srgbClr val="0D111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14230350" y="2838450"/>
            <a:ext cx="24955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购物偏好</a:t>
            </a:r>
            <a:endParaRPr sz="150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直接连接符 88"/>
          <p:cNvSpPr>
            <a:spLocks noGrp="1"/>
          </p:cNvSpPr>
          <p:nvPr/>
        </p:nvSpPr>
        <p:spPr>
          <a:xfrm>
            <a:off x="14192250" y="3257550"/>
            <a:ext cx="257175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90" name="圆角矩形 89"/>
          <p:cNvSpPr>
            <a:spLocks noGrp="1"/>
          </p:cNvSpPr>
          <p:nvPr/>
        </p:nvSpPr>
        <p:spPr>
          <a:xfrm>
            <a:off x="14268450" y="3638550"/>
            <a:ext cx="2419350" cy="111506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1" name="圆角矩形 90"/>
          <p:cNvSpPr>
            <a:spLocks noGrp="1"/>
          </p:cNvSpPr>
          <p:nvPr/>
        </p:nvSpPr>
        <p:spPr>
          <a:xfrm>
            <a:off x="14439900" y="3810000"/>
            <a:ext cx="1047750" cy="304800"/>
          </a:xfrm>
          <a:prstGeom prst="roundRect">
            <a:avLst>
              <a:gd name="adj" fmla="val 50000"/>
            </a:avLst>
          </a:prstGeom>
          <a:solidFill>
            <a:srgbClr val="A855F7">
              <a:alpha val="16000"/>
            </a:srgbClr>
          </a:solidFill>
          <a:ln w="9525">
            <a:solidFill>
              <a:srgbClr val="A855F7">
                <a:alpha val="55000"/>
              </a:srgbClr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10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数码电子</a:t>
            </a:r>
            <a:endParaRPr sz="1050" b="1">
              <a:solidFill>
                <a:srgbClr val="C084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矩形 91"/>
          <p:cNvSpPr>
            <a:spLocks noGrp="1"/>
          </p:cNvSpPr>
          <p:nvPr/>
        </p:nvSpPr>
        <p:spPr>
          <a:xfrm>
            <a:off x="14458950" y="41910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Sony, Apple</a:t>
            </a:r>
            <a:endParaRPr sz="1275" b="0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矩形 92"/>
          <p:cNvSpPr>
            <a:spLocks noGrp="1"/>
          </p:cNvSpPr>
          <p:nvPr/>
        </p:nvSpPr>
        <p:spPr>
          <a:xfrm>
            <a:off x="14458950" y="4448175"/>
            <a:ext cx="2038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预算 300-800</a:t>
            </a:r>
            <a:endParaRPr sz="1125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圆角矩形 93"/>
          <p:cNvSpPr>
            <a:spLocks noGrp="1"/>
          </p:cNvSpPr>
          <p:nvPr/>
        </p:nvSpPr>
        <p:spPr>
          <a:xfrm>
            <a:off x="16268700" y="3867150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34D399">
              <a:alpha val="45000"/>
            </a:srgbClr>
          </a:solidFill>
          <a:ln w="0">
            <a:noFill/>
            <a:prstDash val="solid"/>
          </a:ln>
        </p:spPr>
      </p:sp>
      <p:sp>
        <p:nvSpPr>
          <p:cNvPr id="95" name="圆角矩形 94"/>
          <p:cNvSpPr>
            <a:spLocks noGrp="1"/>
          </p:cNvSpPr>
          <p:nvPr/>
        </p:nvSpPr>
        <p:spPr>
          <a:xfrm>
            <a:off x="14268450" y="4857750"/>
            <a:ext cx="2419350" cy="111506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6" name="圆角矩形 95"/>
          <p:cNvSpPr>
            <a:spLocks noGrp="1"/>
          </p:cNvSpPr>
          <p:nvPr/>
        </p:nvSpPr>
        <p:spPr>
          <a:xfrm>
            <a:off x="14439900" y="5029200"/>
            <a:ext cx="1047750" cy="304800"/>
          </a:xfrm>
          <a:prstGeom prst="roundRect">
            <a:avLst>
              <a:gd name="adj" fmla="val 50000"/>
            </a:avLst>
          </a:prstGeom>
          <a:solidFill>
            <a:srgbClr val="A855F7">
              <a:alpha val="16000"/>
            </a:srgbClr>
          </a:solidFill>
          <a:ln w="9525">
            <a:solidFill>
              <a:srgbClr val="A855F7">
                <a:alpha val="55000"/>
              </a:srgbClr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10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美妆护肤</a:t>
            </a:r>
            <a:endParaRPr sz="1050" b="1">
              <a:solidFill>
                <a:srgbClr val="C084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14458950" y="54102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兰蔻, 资生堂</a:t>
            </a:r>
            <a:endParaRPr sz="1275" b="0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14458950" y="5667375"/>
            <a:ext cx="2038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避雷：韩系品牌</a:t>
            </a:r>
            <a:endParaRPr sz="1125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圆角矩形 98"/>
          <p:cNvSpPr>
            <a:spLocks noGrp="1"/>
          </p:cNvSpPr>
          <p:nvPr/>
        </p:nvSpPr>
        <p:spPr>
          <a:xfrm>
            <a:off x="16268700" y="5086350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30363D"/>
          </a:solidFill>
          <a:ln w="0">
            <a:noFill/>
            <a:prstDash val="solid"/>
          </a:ln>
        </p:spPr>
      </p:sp>
      <p:sp>
        <p:nvSpPr>
          <p:cNvPr id="100" name="圆角矩形 99"/>
          <p:cNvSpPr>
            <a:spLocks noGrp="1"/>
          </p:cNvSpPr>
          <p:nvPr/>
        </p:nvSpPr>
        <p:spPr>
          <a:xfrm>
            <a:off x="14268450" y="6076950"/>
            <a:ext cx="2419350" cy="1123950"/>
          </a:xfrm>
          <a:prstGeom prst="roundRect">
            <a:avLst>
              <a:gd name="adj" fmla="val 18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1" name="圆角矩形 100"/>
          <p:cNvSpPr>
            <a:spLocks noGrp="1"/>
          </p:cNvSpPr>
          <p:nvPr/>
        </p:nvSpPr>
        <p:spPr>
          <a:xfrm>
            <a:off x="14439900" y="6248400"/>
            <a:ext cx="1047750" cy="304800"/>
          </a:xfrm>
          <a:prstGeom prst="roundRect">
            <a:avLst>
              <a:gd name="adj" fmla="val 50000"/>
            </a:avLst>
          </a:prstGeom>
          <a:solidFill>
            <a:srgbClr val="A855F7">
              <a:alpha val="16000"/>
            </a:srgbClr>
          </a:solidFill>
          <a:ln w="9525">
            <a:solidFill>
              <a:srgbClr val="A855F7">
                <a:alpha val="55000"/>
              </a:srgbClr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10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运动户外</a:t>
            </a:r>
            <a:endParaRPr sz="1050" b="1">
              <a:solidFill>
                <a:srgbClr val="C084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矩形 101"/>
          <p:cNvSpPr>
            <a:spLocks noGrp="1"/>
          </p:cNvSpPr>
          <p:nvPr/>
        </p:nvSpPr>
        <p:spPr>
          <a:xfrm>
            <a:off x="14458950" y="6629400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轻量、防水</a:t>
            </a:r>
            <a:endParaRPr sz="1275" b="0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矩形 102"/>
          <p:cNvSpPr>
            <a:spLocks noGrp="1"/>
          </p:cNvSpPr>
          <p:nvPr/>
        </p:nvSpPr>
        <p:spPr>
          <a:xfrm>
            <a:off x="14458950" y="6886575"/>
            <a:ext cx="2038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启用</a:t>
            </a:r>
            <a:endParaRPr sz="1125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圆角矩形 103"/>
          <p:cNvSpPr>
            <a:spLocks noGrp="1"/>
          </p:cNvSpPr>
          <p:nvPr/>
        </p:nvSpPr>
        <p:spPr>
          <a:xfrm>
            <a:off x="16268700" y="6305550"/>
            <a:ext cx="400050" cy="209550"/>
          </a:xfrm>
          <a:prstGeom prst="roundRect">
            <a:avLst>
              <a:gd name="adj" fmla="val 50000"/>
            </a:avLst>
          </a:prstGeom>
          <a:solidFill>
            <a:srgbClr val="34D399">
              <a:alpha val="45000"/>
            </a:srgbClr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117"/>
              </a:gs>
              <a:gs pos="46000">
                <a:srgbClr val="11111F"/>
              </a:gs>
              <a:gs pos="100000">
                <a:srgbClr val="06151A"/>
              </a:gs>
            </a:gsLst>
            <a:lin ang="7800000"/>
          </a:gradFill>
          <a:ln w="0">
            <a:noFill/>
            <a:prstDash val="solid"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-3429000" y="-3143250"/>
            <a:ext cx="9334500" cy="8382000"/>
          </a:xfrm>
          <a:prstGeom prst="ellipse">
            <a:avLst/>
          </a:prstGeom>
          <a:gradFill>
            <a:gsLst>
              <a:gs pos="0">
                <a:srgbClr val="A855F7">
                  <a:alpha val="30000"/>
                </a:srgbClr>
              </a:gs>
              <a:gs pos="42000">
                <a:srgbClr val="7C3AED">
                  <a:alpha val="14000"/>
                </a:srgbClr>
              </a:gs>
              <a:gs pos="74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10572750" y="-2476500"/>
            <a:ext cx="9906000" cy="8572500"/>
          </a:xfrm>
          <a:prstGeom prst="ellipse">
            <a:avLst/>
          </a:prstGeom>
          <a:gradFill>
            <a:gsLst>
              <a:gs pos="0">
                <a:srgbClr val="60A5FA">
                  <a:alpha val="22000"/>
                </a:srgbClr>
              </a:gs>
              <a:gs pos="46000">
                <a:srgbClr val="00D4FF">
                  <a:alpha val="9000"/>
                </a:srgbClr>
              </a:gs>
              <a:gs pos="78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5715000" y="6477000"/>
            <a:ext cx="7810500" cy="4953000"/>
          </a:xfrm>
          <a:prstGeom prst="ellipse">
            <a:avLst/>
          </a:prstGeom>
          <a:gradFill>
            <a:gsLst>
              <a:gs pos="0">
                <a:srgbClr val="34D399">
                  <a:alpha val="13000"/>
                </a:srgbClr>
              </a:gs>
              <a:gs pos="72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71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143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714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2286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2857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3429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4000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4572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5143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5715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6286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6858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7429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8001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8572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9144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9715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10287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10858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11430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12001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12573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13144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13716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14287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14859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15430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16002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16573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17145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17716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18288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9" name="直接连接符 38"/>
          <p:cNvSpPr>
            <a:spLocks noGrp="1"/>
          </p:cNvSpPr>
          <p:nvPr/>
        </p:nvSpPr>
        <p:spPr>
          <a:xfrm>
            <a:off x="0" y="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0" y="571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0" y="1143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0" y="1714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3" name="直接连接符 42"/>
          <p:cNvSpPr>
            <a:spLocks noGrp="1"/>
          </p:cNvSpPr>
          <p:nvPr/>
        </p:nvSpPr>
        <p:spPr>
          <a:xfrm>
            <a:off x="0" y="2286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4" name="直接连接符 43"/>
          <p:cNvSpPr>
            <a:spLocks noGrp="1"/>
          </p:cNvSpPr>
          <p:nvPr/>
        </p:nvSpPr>
        <p:spPr>
          <a:xfrm>
            <a:off x="0" y="2857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5" name="直接连接符 44"/>
          <p:cNvSpPr>
            <a:spLocks noGrp="1"/>
          </p:cNvSpPr>
          <p:nvPr/>
        </p:nvSpPr>
        <p:spPr>
          <a:xfrm>
            <a:off x="0" y="3429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0" y="4000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0" y="4572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0" y="5143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9" name="直接连接符 48"/>
          <p:cNvSpPr>
            <a:spLocks noGrp="1"/>
          </p:cNvSpPr>
          <p:nvPr/>
        </p:nvSpPr>
        <p:spPr>
          <a:xfrm>
            <a:off x="0" y="5715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0" name="直接连接符 49"/>
          <p:cNvSpPr>
            <a:spLocks noGrp="1"/>
          </p:cNvSpPr>
          <p:nvPr/>
        </p:nvSpPr>
        <p:spPr>
          <a:xfrm>
            <a:off x="0" y="6286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1" name="直接连接符 50"/>
          <p:cNvSpPr>
            <a:spLocks noGrp="1"/>
          </p:cNvSpPr>
          <p:nvPr/>
        </p:nvSpPr>
        <p:spPr>
          <a:xfrm>
            <a:off x="0" y="6858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2" name="直接连接符 51"/>
          <p:cNvSpPr>
            <a:spLocks noGrp="1"/>
          </p:cNvSpPr>
          <p:nvPr/>
        </p:nvSpPr>
        <p:spPr>
          <a:xfrm>
            <a:off x="0" y="7429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3" name="直接连接符 52"/>
          <p:cNvSpPr>
            <a:spLocks noGrp="1"/>
          </p:cNvSpPr>
          <p:nvPr/>
        </p:nvSpPr>
        <p:spPr>
          <a:xfrm>
            <a:off x="0" y="8001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4" name="直接连接符 53"/>
          <p:cNvSpPr>
            <a:spLocks noGrp="1"/>
          </p:cNvSpPr>
          <p:nvPr/>
        </p:nvSpPr>
        <p:spPr>
          <a:xfrm>
            <a:off x="0" y="8572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5" name="直接连接符 54"/>
          <p:cNvSpPr>
            <a:spLocks noGrp="1"/>
          </p:cNvSpPr>
          <p:nvPr/>
        </p:nvSpPr>
        <p:spPr>
          <a:xfrm>
            <a:off x="0" y="9144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6" name="直接连接符 55"/>
          <p:cNvSpPr>
            <a:spLocks noGrp="1"/>
          </p:cNvSpPr>
          <p:nvPr/>
        </p:nvSpPr>
        <p:spPr>
          <a:xfrm>
            <a:off x="0" y="9715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7" name="直接连接符 56"/>
          <p:cNvSpPr>
            <a:spLocks noGrp="1"/>
          </p:cNvSpPr>
          <p:nvPr/>
        </p:nvSpPr>
        <p:spPr>
          <a:xfrm>
            <a:off x="0" y="10287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117">
                  <a:alpha val="0"/>
                </a:srgbClr>
              </a:gs>
              <a:gs pos="100000">
                <a:srgbClr val="0D1117">
                  <a:alpha val="4500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59" name="圆角矩形 58"/>
          <p:cNvSpPr>
            <a:spLocks noGrp="1"/>
          </p:cNvSpPr>
          <p:nvPr/>
        </p:nvSpPr>
        <p:spPr>
          <a:xfrm>
            <a:off x="819150" y="590550"/>
            <a:ext cx="4381500" cy="419100"/>
          </a:xfrm>
          <a:prstGeom prst="roundRect">
            <a:avLst>
              <a:gd name="adj" fmla="val 50000"/>
            </a:avLst>
          </a:prstGeom>
          <a:solidFill>
            <a:srgbClr val="A855F7">
              <a:alpha val="18000"/>
            </a:srgbClr>
          </a:solidFill>
          <a:ln w="9525">
            <a:solidFill>
              <a:srgbClr val="A855F7">
                <a:alpha val="55000"/>
              </a:srgbClr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13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P12 · Decision Scoring</a:t>
            </a:r>
            <a:endParaRPr sz="1350" b="1">
              <a:solidFill>
                <a:srgbClr val="C084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819150" y="1123950"/>
            <a:ext cx="12382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buNone/>
              <a:defRPr sz="4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gradFill>
                  <a:gsLst>
                    <a:gs pos="0">
                      <a:srgbClr val="A855F7"/>
                    </a:gs>
                    <a:gs pos="52000">
                      <a:srgbClr val="60A5FA"/>
                    </a:gs>
                    <a:gs pos="100000">
                      <a:srgbClr val="34D399"/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7维可解释评分</a:t>
            </a:r>
            <a:endParaRPr sz="4200" b="1">
              <a:gradFill>
                <a:gsLst>
                  <a:gs pos="0">
                    <a:srgbClr val="A855F7"/>
                  </a:gs>
                  <a:gs pos="52000">
                    <a:srgbClr val="60A5FA"/>
                  </a:gs>
                  <a:gs pos="100000">
                    <a:srgbClr val="34D399"/>
                  </a:gs>
                </a:gsLst>
                <a:lin ang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857250" y="1847850"/>
            <a:ext cx="1314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每个分数都可追溯到证据</a:t>
            </a:r>
            <a:endParaRPr sz="180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819150" y="96202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OmniCart Agent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16192500" y="96202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12 / 16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4" name="直接连接符 63"/>
          <p:cNvSpPr>
            <a:spLocks noGrp="1"/>
          </p:cNvSpPr>
          <p:nvPr/>
        </p:nvSpPr>
        <p:spPr>
          <a:xfrm>
            <a:off x="819150" y="9486900"/>
            <a:ext cx="16649700" cy="0"/>
          </a:xfrm>
          <a:prstGeom prst="line">
            <a:avLst/>
          </a:prstGeom>
          <a:noFill/>
          <a:ln w="9525">
            <a:solidFill>
              <a:srgbClr val="30363D">
                <a:alpha val="70000"/>
              </a:srgbClr>
            </a:solidFill>
            <a:prstDash val="solid"/>
          </a:ln>
        </p:spPr>
      </p:sp>
      <p:sp>
        <p:nvSpPr>
          <p:cNvPr id="65" name="圆角矩形 64"/>
          <p:cNvSpPr>
            <a:spLocks noGrp="1"/>
          </p:cNvSpPr>
          <p:nvPr/>
        </p:nvSpPr>
        <p:spPr>
          <a:xfrm>
            <a:off x="952500" y="2286000"/>
            <a:ext cx="16383000" cy="3714750"/>
          </a:xfrm>
          <a:prstGeom prst="roundRect">
            <a:avLst>
              <a:gd name="adj" fmla="val 410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66" name="矩形 65"/>
          <p:cNvSpPr>
            <a:spLocks noGrp="1"/>
          </p:cNvSpPr>
          <p:nvPr/>
        </p:nvSpPr>
        <p:spPr>
          <a:xfrm>
            <a:off x="952500" y="2286000"/>
            <a:ext cx="66675" cy="3714750"/>
          </a:xfrm>
          <a:prstGeom prst="rect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67" name="椭圆 66"/>
          <p:cNvSpPr>
            <a:spLocks noGrp="1"/>
          </p:cNvSpPr>
          <p:nvPr/>
        </p:nvSpPr>
        <p:spPr>
          <a:xfrm>
            <a:off x="1238250" y="2495550"/>
            <a:ext cx="114300" cy="114300"/>
          </a:xfrm>
          <a:prstGeom prst="ellipse">
            <a:avLst/>
          </a:prstGeom>
          <a:solidFill>
            <a:srgbClr val="FF7B72"/>
          </a:solidFill>
          <a:ln w="0">
            <a:noFill/>
            <a:prstDash val="solid"/>
          </a:ln>
        </p:spPr>
      </p:sp>
      <p:sp>
        <p:nvSpPr>
          <p:cNvPr id="68" name="椭圆 67"/>
          <p:cNvSpPr>
            <a:spLocks noGrp="1"/>
          </p:cNvSpPr>
          <p:nvPr/>
        </p:nvSpPr>
        <p:spPr>
          <a:xfrm>
            <a:off x="1466850" y="2495550"/>
            <a:ext cx="114300" cy="114300"/>
          </a:xfrm>
          <a:prstGeom prst="ellipse">
            <a:avLst/>
          </a:prstGeom>
          <a:solidFill>
            <a:srgbClr val="FFA657"/>
          </a:solidFill>
          <a:ln w="0">
            <a:noFill/>
            <a:prstDash val="solid"/>
          </a:ln>
        </p:spPr>
      </p:sp>
      <p:sp>
        <p:nvSpPr>
          <p:cNvPr id="69" name="椭圆 68"/>
          <p:cNvSpPr>
            <a:spLocks noGrp="1"/>
          </p:cNvSpPr>
          <p:nvPr/>
        </p:nvSpPr>
        <p:spPr>
          <a:xfrm>
            <a:off x="1695450" y="2495550"/>
            <a:ext cx="114300" cy="114300"/>
          </a:xfrm>
          <a:prstGeom prst="ellipse">
            <a:avLst/>
          </a:prstGeom>
          <a:solidFill>
            <a:srgbClr val="7EE787"/>
          </a:solidFill>
          <a:ln w="0">
            <a:noFill/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1238250" y="2781300"/>
            <a:ext cx="1583055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9000"/>
              </a:lnSpc>
              <a:buNone/>
              <a:defRPr sz="18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8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final = 0.45 × relevance    ← RAG 语义相关度</a:t>
            </a:r>
            <a:endParaRPr sz="1800" b="0">
              <a:solidFill>
                <a:srgbClr val="C9D1D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lnSpc>
                <a:spcPct val="109000"/>
              </a:lnSpc>
              <a:buNone/>
              <a:defRPr sz="18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8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  + 0.20 × budget_fit   ← 价格匹配度</a:t>
            </a:r>
            <a:endParaRPr sz="1800" b="0">
              <a:solidFill>
                <a:srgbClr val="C9D1D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lnSpc>
                <a:spcPct val="109000"/>
              </a:lnSpc>
              <a:buNone/>
              <a:defRPr sz="18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8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  + 0.12 × user_sat     ← 用户口碑 (Bayesian平滑)</a:t>
            </a:r>
            <a:endParaRPr sz="1800" b="0">
              <a:solidFill>
                <a:srgbClr val="C9D1D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lnSpc>
                <a:spcPct val="109000"/>
              </a:lnSpc>
              <a:buNone/>
              <a:defRPr sz="18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8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  + 0.10 × value_score  ← 性价比 (39子品类基准)</a:t>
            </a:r>
            <a:endParaRPr sz="1800" b="0">
              <a:solidFill>
                <a:srgbClr val="C9D1D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lnSpc>
                <a:spcPct val="109000"/>
              </a:lnSpc>
              <a:buNone/>
              <a:defRPr sz="18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8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  + 0.08 × spec_quality ← 规格品质</a:t>
            </a:r>
            <a:endParaRPr sz="1800" b="0">
              <a:solidFill>
                <a:srgbClr val="C9D1D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lnSpc>
                <a:spcPct val="109000"/>
              </a:lnSpc>
              <a:buNone/>
              <a:defRPr sz="18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8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  + 0.05 × scenario_fit ← 场景适配</a:t>
            </a:r>
            <a:endParaRPr sz="1800" b="0">
              <a:solidFill>
                <a:srgbClr val="C9D1D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lnSpc>
                <a:spcPct val="109000"/>
              </a:lnSpc>
              <a:buNone/>
              <a:defRPr sz="18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8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  + preference_bonus    ← 偏好加成 (≤ +0.10)</a:t>
            </a:r>
            <a:endParaRPr sz="1800" b="0">
              <a:solidFill>
                <a:srgbClr val="C9D1D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lnSpc>
                <a:spcPct val="109000"/>
              </a:lnSpc>
              <a:buNone/>
              <a:defRPr sz="18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8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  - risk_penalty        ← 风险扣分 (≤ -0.20)</a:t>
            </a:r>
            <a:endParaRPr sz="1800" b="0">
              <a:solidFill>
                <a:srgbClr val="C9D1D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endParaRPr sz="1800"/>
          </a:p>
          <a:p>
            <a:pPr algn="l">
              <a:lnSpc>
                <a:spcPct val="109000"/>
              </a:lnSpc>
              <a:buNone/>
              <a:defRPr sz="18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80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display_score = final × 10 → 0.0 ~ 10.0</a:t>
            </a:r>
            <a:endParaRPr sz="1800" b="0">
              <a:solidFill>
                <a:srgbClr val="C9D1D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952500" y="6381750"/>
            <a:ext cx="7810500" cy="2952750"/>
          </a:xfrm>
          <a:prstGeom prst="roundRect">
            <a:avLst>
              <a:gd name="adj" fmla="val 5161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</p:sp>
      <p:sp>
        <p:nvSpPr>
          <p:cNvPr id="72" name="矩形 71"/>
          <p:cNvSpPr>
            <a:spLocks noGrp="1"/>
          </p:cNvSpPr>
          <p:nvPr/>
        </p:nvSpPr>
        <p:spPr>
          <a:xfrm>
            <a:off x="952500" y="6381750"/>
            <a:ext cx="66675" cy="2952750"/>
          </a:xfrm>
          <a:prstGeom prst="rect">
            <a:avLst/>
          </a:prstGeom>
          <a:solidFill>
            <a:srgbClr val="00D4FF"/>
          </a:solidFill>
          <a:ln w="0">
            <a:noFill/>
            <a:prstDash val="solid"/>
          </a:ln>
        </p:spPr>
      </p:sp>
      <p:sp>
        <p:nvSpPr>
          <p:cNvPr id="73" name="椭圆 72"/>
          <p:cNvSpPr>
            <a:spLocks noGrp="1"/>
          </p:cNvSpPr>
          <p:nvPr/>
        </p:nvSpPr>
        <p:spPr>
          <a:xfrm>
            <a:off x="1238250" y="6591300"/>
            <a:ext cx="114300" cy="114300"/>
          </a:xfrm>
          <a:prstGeom prst="ellipse">
            <a:avLst/>
          </a:prstGeom>
          <a:solidFill>
            <a:srgbClr val="FF7B72"/>
          </a:solidFill>
          <a:ln w="0">
            <a:noFill/>
            <a:prstDash val="solid"/>
          </a:ln>
        </p:spPr>
      </p:sp>
      <p:sp>
        <p:nvSpPr>
          <p:cNvPr id="74" name="椭圆 73"/>
          <p:cNvSpPr>
            <a:spLocks noGrp="1"/>
          </p:cNvSpPr>
          <p:nvPr/>
        </p:nvSpPr>
        <p:spPr>
          <a:xfrm>
            <a:off x="1466850" y="6591300"/>
            <a:ext cx="114300" cy="114300"/>
          </a:xfrm>
          <a:prstGeom prst="ellipse">
            <a:avLst/>
          </a:prstGeom>
          <a:solidFill>
            <a:srgbClr val="FFA657"/>
          </a:solidFill>
          <a:ln w="0">
            <a:noFill/>
            <a:prstDash val="solid"/>
          </a:ln>
        </p:spPr>
      </p:sp>
      <p:sp>
        <p:nvSpPr>
          <p:cNvPr id="75" name="椭圆 74"/>
          <p:cNvSpPr>
            <a:spLocks noGrp="1"/>
          </p:cNvSpPr>
          <p:nvPr/>
        </p:nvSpPr>
        <p:spPr>
          <a:xfrm>
            <a:off x="1695450" y="6591300"/>
            <a:ext cx="114300" cy="114300"/>
          </a:xfrm>
          <a:prstGeom prst="ellipse">
            <a:avLst/>
          </a:prstGeom>
          <a:solidFill>
            <a:srgbClr val="7EE787"/>
          </a:solidFill>
          <a:ln w="0">
            <a:noFill/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1238250" y="6877050"/>
            <a:ext cx="7258050" cy="2286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2000"/>
              </a:lnSpc>
              <a:buNone/>
              <a:defRPr sz="135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35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{</a:t>
            </a:r>
            <a:endParaRPr sz="1350" b="0">
              <a:solidFill>
                <a:srgbClr val="C9D1D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lnSpc>
                <a:spcPct val="112000"/>
              </a:lnSpc>
              <a:buNone/>
              <a:defRPr sz="135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35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"relevance": {</a:t>
            </a:r>
            <a:endParaRPr sz="1350" b="0">
              <a:solidFill>
                <a:srgbClr val="C9D1D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lnSpc>
                <a:spcPct val="112000"/>
              </a:lnSpc>
              <a:buNone/>
              <a:defRPr sz="135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35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"score": 0.82, "weight": 0.45,</a:t>
            </a:r>
            <a:endParaRPr sz="1350" b="0">
              <a:solidFill>
                <a:srgbClr val="C9D1D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lnSpc>
                <a:spcPct val="112000"/>
              </a:lnSpc>
              <a:buNone/>
              <a:defRPr sz="135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35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"method": "reranker_score",</a:t>
            </a:r>
            <a:endParaRPr sz="1350" b="0">
              <a:solidFill>
                <a:srgbClr val="C9D1D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lnSpc>
                <a:spcPct val="112000"/>
              </a:lnSpc>
              <a:buNone/>
              <a:defRPr sz="135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35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"evidence_ids": ["E-MKT-P001-0"]</a:t>
            </a:r>
            <a:endParaRPr sz="1350" b="0">
              <a:solidFill>
                <a:srgbClr val="C9D1D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lnSpc>
                <a:spcPct val="112000"/>
              </a:lnSpc>
              <a:buNone/>
              <a:defRPr sz="135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35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},</a:t>
            </a:r>
            <a:endParaRPr sz="1350" b="0">
              <a:solidFill>
                <a:srgbClr val="C9D1D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lnSpc>
                <a:spcPct val="112000"/>
              </a:lnSpc>
              <a:buNone/>
              <a:defRPr sz="135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35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"risk_penalty": {</a:t>
            </a:r>
            <a:endParaRPr sz="1350" b="0">
              <a:solidFill>
                <a:srgbClr val="C9D1D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lnSpc>
                <a:spcPct val="112000"/>
              </a:lnSpc>
              <a:buNone/>
              <a:defRPr sz="135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35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"method": "negative_review",</a:t>
            </a:r>
            <a:endParaRPr sz="1350" b="0">
              <a:solidFill>
                <a:srgbClr val="C9D1D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lnSpc>
                <a:spcPct val="112000"/>
              </a:lnSpc>
              <a:buNone/>
              <a:defRPr sz="135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35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  "evidence_ids": ["R-P001-3"]</a:t>
            </a:r>
            <a:endParaRPr sz="1350" b="0">
              <a:solidFill>
                <a:srgbClr val="C9D1D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lnSpc>
                <a:spcPct val="112000"/>
              </a:lnSpc>
              <a:buNone/>
              <a:defRPr sz="135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35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  }</a:t>
            </a:r>
            <a:endParaRPr sz="1350" b="0">
              <a:solidFill>
                <a:srgbClr val="C9D1D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  <a:p>
            <a:pPr algn="l">
              <a:lnSpc>
                <a:spcPct val="112000"/>
              </a:lnSpc>
              <a:buNone/>
              <a:defRPr sz="135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defRPr>
            </a:pPr>
            <a:r>
              <a:rPr sz="1350" b="0">
                <a:solidFill>
                  <a:srgbClr val="C9D1D9"/>
                </a:solidFill>
                <a:latin typeface="Cascadia Mono" panose="020B0609020000020004"/>
                <a:ea typeface="Cascadia Mono" panose="020B0609020000020004"/>
                <a:cs typeface="Cascadia Mono" panose="020B0609020000020004"/>
              </a:rPr>
              <a:t>}</a:t>
            </a:r>
            <a:endParaRPr sz="1350" b="0">
              <a:solidFill>
                <a:srgbClr val="C9D1D9"/>
              </a:solidFill>
              <a:latin typeface="Cascadia Mono" panose="020B0609020000020004"/>
              <a:ea typeface="Cascadia Mono" panose="020B0609020000020004"/>
              <a:cs typeface="Cascadia Mono" panose="020B0609020000020004"/>
            </a:endParaRPr>
          </a:p>
        </p:txBody>
      </p:sp>
      <p:sp>
        <p:nvSpPr>
          <p:cNvPr id="77" name="圆角矩形 76"/>
          <p:cNvSpPr>
            <a:spLocks noGrp="1"/>
          </p:cNvSpPr>
          <p:nvPr/>
        </p:nvSpPr>
        <p:spPr>
          <a:xfrm>
            <a:off x="9620250" y="6381750"/>
            <a:ext cx="7715250" cy="2952750"/>
          </a:xfrm>
          <a:prstGeom prst="roundRect">
            <a:avLst>
              <a:gd name="adj" fmla="val 5806"/>
            </a:avLst>
          </a:prstGeom>
          <a:solidFill>
            <a:srgbClr val="161B22">
              <a:alpha val="88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8" name="矩形 77"/>
          <p:cNvSpPr>
            <a:spLocks noGrp="1"/>
          </p:cNvSpPr>
          <p:nvPr/>
        </p:nvSpPr>
        <p:spPr>
          <a:xfrm>
            <a:off x="9953625" y="66484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725" b="1">
                <a:solidFill>
                  <a:srgbClr val="F0F6F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725" b="1">
                <a:solidFill>
                  <a:srgbClr val="F0F6F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ScoreBreakdownPanel Mock</a:t>
            </a:r>
            <a:endParaRPr sz="1725" b="1">
              <a:solidFill>
                <a:srgbClr val="F0F6F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9953625" y="71247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relevance</a:t>
            </a:r>
            <a:endParaRPr sz="12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圆角矩形 79"/>
          <p:cNvSpPr>
            <a:spLocks noGrp="1"/>
          </p:cNvSpPr>
          <p:nvPr/>
        </p:nvSpPr>
        <p:spPr>
          <a:xfrm>
            <a:off x="11763375" y="7191375"/>
            <a:ext cx="4667250" cy="133350"/>
          </a:xfrm>
          <a:prstGeom prst="roundRect">
            <a:avLst>
              <a:gd name="adj" fmla="val 50000"/>
            </a:avLst>
          </a:prstGeom>
          <a:solidFill>
            <a:srgbClr val="30363D">
              <a:alpha val="70000"/>
            </a:srgbClr>
          </a:solidFill>
          <a:ln w="0">
            <a:noFill/>
            <a:prstDash val="solid"/>
          </a:ln>
        </p:spPr>
      </p:sp>
      <p:sp>
        <p:nvSpPr>
          <p:cNvPr id="81" name="圆角矩形 80"/>
          <p:cNvSpPr>
            <a:spLocks noGrp="1"/>
          </p:cNvSpPr>
          <p:nvPr/>
        </p:nvSpPr>
        <p:spPr>
          <a:xfrm>
            <a:off x="11763375" y="7191375"/>
            <a:ext cx="4107180" cy="13335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 w="0">
            <a:noFill/>
            <a:prstDash val="solid"/>
          </a:ln>
        </p:spPr>
      </p:sp>
      <p:sp>
        <p:nvSpPr>
          <p:cNvPr id="82" name="矩形 81"/>
          <p:cNvSpPr>
            <a:spLocks noGrp="1"/>
          </p:cNvSpPr>
          <p:nvPr/>
        </p:nvSpPr>
        <p:spPr>
          <a:xfrm>
            <a:off x="16430625" y="71247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88%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9953625" y="73914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budget_fit</a:t>
            </a:r>
            <a:endParaRPr sz="12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圆角矩形 83"/>
          <p:cNvSpPr>
            <a:spLocks noGrp="1"/>
          </p:cNvSpPr>
          <p:nvPr/>
        </p:nvSpPr>
        <p:spPr>
          <a:xfrm>
            <a:off x="11763375" y="7458075"/>
            <a:ext cx="4667250" cy="133350"/>
          </a:xfrm>
          <a:prstGeom prst="roundRect">
            <a:avLst>
              <a:gd name="adj" fmla="val 50000"/>
            </a:avLst>
          </a:prstGeom>
          <a:solidFill>
            <a:srgbClr val="30363D">
              <a:alpha val="70000"/>
            </a:srgbClr>
          </a:solidFill>
          <a:ln w="0">
            <a:noFill/>
            <a:prstDash val="solid"/>
          </a:ln>
        </p:spPr>
      </p:sp>
      <p:sp>
        <p:nvSpPr>
          <p:cNvPr id="85" name="圆角矩形 84"/>
          <p:cNvSpPr>
            <a:spLocks noGrp="1"/>
          </p:cNvSpPr>
          <p:nvPr/>
        </p:nvSpPr>
        <p:spPr>
          <a:xfrm>
            <a:off x="11763375" y="7458075"/>
            <a:ext cx="4387215" cy="13335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0">
            <a:noFill/>
            <a:prstDash val="solid"/>
          </a:ln>
        </p:spPr>
      </p:sp>
      <p:sp>
        <p:nvSpPr>
          <p:cNvPr id="86" name="矩形 85"/>
          <p:cNvSpPr>
            <a:spLocks noGrp="1"/>
          </p:cNvSpPr>
          <p:nvPr/>
        </p:nvSpPr>
        <p:spPr>
          <a:xfrm>
            <a:off x="16430625" y="73914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94%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9953625" y="76581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user_sat</a:t>
            </a:r>
            <a:endParaRPr sz="12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圆角矩形 87"/>
          <p:cNvSpPr>
            <a:spLocks noGrp="1"/>
          </p:cNvSpPr>
          <p:nvPr/>
        </p:nvSpPr>
        <p:spPr>
          <a:xfrm>
            <a:off x="11763375" y="7724775"/>
            <a:ext cx="4667250" cy="133350"/>
          </a:xfrm>
          <a:prstGeom prst="roundRect">
            <a:avLst>
              <a:gd name="adj" fmla="val 50000"/>
            </a:avLst>
          </a:prstGeom>
          <a:solidFill>
            <a:srgbClr val="30363D">
              <a:alpha val="70000"/>
            </a:srgbClr>
          </a:solidFill>
          <a:ln w="0">
            <a:noFill/>
            <a:prstDash val="solid"/>
          </a:ln>
        </p:spPr>
      </p:sp>
      <p:sp>
        <p:nvSpPr>
          <p:cNvPr id="89" name="圆角矩形 88"/>
          <p:cNvSpPr>
            <a:spLocks noGrp="1"/>
          </p:cNvSpPr>
          <p:nvPr/>
        </p:nvSpPr>
        <p:spPr>
          <a:xfrm>
            <a:off x="11763375" y="7724775"/>
            <a:ext cx="4060508" cy="13335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 w="0">
            <a:noFill/>
            <a:prstDash val="solid"/>
          </a:ln>
        </p:spPr>
      </p:sp>
      <p:sp>
        <p:nvSpPr>
          <p:cNvPr id="90" name="矩形 89"/>
          <p:cNvSpPr>
            <a:spLocks noGrp="1"/>
          </p:cNvSpPr>
          <p:nvPr/>
        </p:nvSpPr>
        <p:spPr>
          <a:xfrm>
            <a:off x="16430625" y="76581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87%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9953625" y="79248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value_score</a:t>
            </a:r>
            <a:endParaRPr sz="12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圆角矩形 91"/>
          <p:cNvSpPr>
            <a:spLocks noGrp="1"/>
          </p:cNvSpPr>
          <p:nvPr/>
        </p:nvSpPr>
        <p:spPr>
          <a:xfrm>
            <a:off x="11763375" y="7991475"/>
            <a:ext cx="4667250" cy="133350"/>
          </a:xfrm>
          <a:prstGeom prst="roundRect">
            <a:avLst>
              <a:gd name="adj" fmla="val 50000"/>
            </a:avLst>
          </a:prstGeom>
          <a:solidFill>
            <a:srgbClr val="30363D">
              <a:alpha val="70000"/>
            </a:srgbClr>
          </a:solidFill>
          <a:ln w="0">
            <a:noFill/>
            <a:prstDash val="solid"/>
          </a:ln>
        </p:spPr>
      </p:sp>
      <p:sp>
        <p:nvSpPr>
          <p:cNvPr id="93" name="圆角矩形 92"/>
          <p:cNvSpPr>
            <a:spLocks noGrp="1"/>
          </p:cNvSpPr>
          <p:nvPr/>
        </p:nvSpPr>
        <p:spPr>
          <a:xfrm>
            <a:off x="11763375" y="7991475"/>
            <a:ext cx="3733800" cy="13335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0">
            <a:noFill/>
            <a:prstDash val="solid"/>
          </a:ln>
        </p:spPr>
      </p:sp>
      <p:sp>
        <p:nvSpPr>
          <p:cNvPr id="94" name="矩形 93"/>
          <p:cNvSpPr>
            <a:spLocks noGrp="1"/>
          </p:cNvSpPr>
          <p:nvPr/>
        </p:nvSpPr>
        <p:spPr>
          <a:xfrm>
            <a:off x="16430625" y="79248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80%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5" name="矩形 94"/>
          <p:cNvSpPr>
            <a:spLocks noGrp="1"/>
          </p:cNvSpPr>
          <p:nvPr/>
        </p:nvSpPr>
        <p:spPr>
          <a:xfrm>
            <a:off x="9953625" y="81915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spec_quality</a:t>
            </a:r>
            <a:endParaRPr sz="12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圆角矩形 95"/>
          <p:cNvSpPr>
            <a:spLocks noGrp="1"/>
          </p:cNvSpPr>
          <p:nvPr/>
        </p:nvSpPr>
        <p:spPr>
          <a:xfrm>
            <a:off x="11763375" y="8258175"/>
            <a:ext cx="4667250" cy="133350"/>
          </a:xfrm>
          <a:prstGeom prst="roundRect">
            <a:avLst>
              <a:gd name="adj" fmla="val 50000"/>
            </a:avLst>
          </a:prstGeom>
          <a:solidFill>
            <a:srgbClr val="30363D">
              <a:alpha val="70000"/>
            </a:srgbClr>
          </a:solidFill>
          <a:ln w="0">
            <a:noFill/>
            <a:prstDash val="solid"/>
          </a:ln>
        </p:spPr>
      </p:sp>
      <p:sp>
        <p:nvSpPr>
          <p:cNvPr id="97" name="圆角矩形 96"/>
          <p:cNvSpPr>
            <a:spLocks noGrp="1"/>
          </p:cNvSpPr>
          <p:nvPr/>
        </p:nvSpPr>
        <p:spPr>
          <a:xfrm>
            <a:off x="11763375" y="8258175"/>
            <a:ext cx="3547110" cy="133350"/>
          </a:xfrm>
          <a:prstGeom prst="roundRect">
            <a:avLst>
              <a:gd name="adj" fmla="val 50000"/>
            </a:avLst>
          </a:prstGeom>
          <a:solidFill>
            <a:srgbClr val="00D4FF"/>
          </a:solidFill>
          <a:ln w="0">
            <a:noFill/>
            <a:prstDash val="solid"/>
          </a:ln>
        </p:spPr>
      </p:sp>
      <p:sp>
        <p:nvSpPr>
          <p:cNvPr id="98" name="矩形 97"/>
          <p:cNvSpPr>
            <a:spLocks noGrp="1"/>
          </p:cNvSpPr>
          <p:nvPr/>
        </p:nvSpPr>
        <p:spPr>
          <a:xfrm>
            <a:off x="16430625" y="81915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76%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9" name="矩形 98"/>
          <p:cNvSpPr>
            <a:spLocks noGrp="1"/>
          </p:cNvSpPr>
          <p:nvPr/>
        </p:nvSpPr>
        <p:spPr>
          <a:xfrm>
            <a:off x="9953625" y="84582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scenario_fit</a:t>
            </a:r>
            <a:endParaRPr sz="12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圆角矩形 99"/>
          <p:cNvSpPr>
            <a:spLocks noGrp="1"/>
          </p:cNvSpPr>
          <p:nvPr/>
        </p:nvSpPr>
        <p:spPr>
          <a:xfrm>
            <a:off x="11763375" y="8524875"/>
            <a:ext cx="4667250" cy="133350"/>
          </a:xfrm>
          <a:prstGeom prst="roundRect">
            <a:avLst>
              <a:gd name="adj" fmla="val 50000"/>
            </a:avLst>
          </a:prstGeom>
          <a:solidFill>
            <a:srgbClr val="30363D">
              <a:alpha val="70000"/>
            </a:srgbClr>
          </a:solidFill>
          <a:ln w="0">
            <a:noFill/>
            <a:prstDash val="solid"/>
          </a:ln>
        </p:spPr>
      </p:sp>
      <p:sp>
        <p:nvSpPr>
          <p:cNvPr id="101" name="圆角矩形 100"/>
          <p:cNvSpPr>
            <a:spLocks noGrp="1"/>
          </p:cNvSpPr>
          <p:nvPr/>
        </p:nvSpPr>
        <p:spPr>
          <a:xfrm>
            <a:off x="11763375" y="8524875"/>
            <a:ext cx="3360420" cy="133350"/>
          </a:xfrm>
          <a:prstGeom prst="roundRect">
            <a:avLst>
              <a:gd name="adj" fmla="val 50000"/>
            </a:avLst>
          </a:prstGeom>
          <a:solidFill>
            <a:srgbClr val="60A5FA"/>
          </a:solidFill>
          <a:ln w="0">
            <a:noFill/>
            <a:prstDash val="solid"/>
          </a:ln>
        </p:spPr>
      </p:sp>
      <p:sp>
        <p:nvSpPr>
          <p:cNvPr id="102" name="矩形 101"/>
          <p:cNvSpPr>
            <a:spLocks noGrp="1"/>
          </p:cNvSpPr>
          <p:nvPr/>
        </p:nvSpPr>
        <p:spPr>
          <a:xfrm>
            <a:off x="16430625" y="84582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72%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03" name="矩形 102"/>
          <p:cNvSpPr>
            <a:spLocks noGrp="1"/>
          </p:cNvSpPr>
          <p:nvPr/>
        </p:nvSpPr>
        <p:spPr>
          <a:xfrm>
            <a:off x="9953625" y="872490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risk_penalty</a:t>
            </a:r>
            <a:endParaRPr sz="12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圆角矩形 103"/>
          <p:cNvSpPr>
            <a:spLocks noGrp="1"/>
          </p:cNvSpPr>
          <p:nvPr/>
        </p:nvSpPr>
        <p:spPr>
          <a:xfrm>
            <a:off x="11763375" y="8791575"/>
            <a:ext cx="4667250" cy="133350"/>
          </a:xfrm>
          <a:prstGeom prst="roundRect">
            <a:avLst>
              <a:gd name="adj" fmla="val 50000"/>
            </a:avLst>
          </a:prstGeom>
          <a:solidFill>
            <a:srgbClr val="30363D">
              <a:alpha val="70000"/>
            </a:srgbClr>
          </a:solidFill>
          <a:ln w="0">
            <a:noFill/>
            <a:prstDash val="solid"/>
          </a:ln>
        </p:spPr>
      </p:sp>
      <p:sp>
        <p:nvSpPr>
          <p:cNvPr id="105" name="圆角矩形 104"/>
          <p:cNvSpPr>
            <a:spLocks noGrp="1"/>
          </p:cNvSpPr>
          <p:nvPr/>
        </p:nvSpPr>
        <p:spPr>
          <a:xfrm>
            <a:off x="11763375" y="8791575"/>
            <a:ext cx="560070" cy="133350"/>
          </a:xfrm>
          <a:prstGeom prst="roundRect">
            <a:avLst>
              <a:gd name="adj" fmla="val 50000"/>
            </a:avLst>
          </a:prstGeom>
          <a:solidFill>
            <a:srgbClr val="FF7B72"/>
          </a:solidFill>
          <a:ln w="0">
            <a:noFill/>
            <a:prstDash val="solid"/>
          </a:ln>
        </p:spPr>
      </p:sp>
      <p:sp>
        <p:nvSpPr>
          <p:cNvPr id="106" name="矩形 105"/>
          <p:cNvSpPr>
            <a:spLocks noGrp="1"/>
          </p:cNvSpPr>
          <p:nvPr/>
        </p:nvSpPr>
        <p:spPr>
          <a:xfrm>
            <a:off x="16430625" y="87249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12%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07" name="矩形 106"/>
          <p:cNvSpPr>
            <a:spLocks noGrp="1"/>
          </p:cNvSpPr>
          <p:nvPr/>
        </p:nvSpPr>
        <p:spPr>
          <a:xfrm>
            <a:off x="12573000" y="6667500"/>
            <a:ext cx="428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  <a:buNone/>
              <a:defRPr sz="12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每个维度可追溯支撑证据 ID</a:t>
            </a:r>
            <a:endParaRPr sz="120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117"/>
              </a:gs>
              <a:gs pos="46000">
                <a:srgbClr val="11111F"/>
              </a:gs>
              <a:gs pos="100000">
                <a:srgbClr val="06151A"/>
              </a:gs>
            </a:gsLst>
            <a:lin ang="7800000"/>
          </a:gradFill>
          <a:ln w="0">
            <a:noFill/>
            <a:prstDash val="solid"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-3429000" y="-3143250"/>
            <a:ext cx="9334500" cy="8382000"/>
          </a:xfrm>
          <a:prstGeom prst="ellipse">
            <a:avLst/>
          </a:prstGeom>
          <a:gradFill>
            <a:gsLst>
              <a:gs pos="0">
                <a:srgbClr val="A855F7">
                  <a:alpha val="30000"/>
                </a:srgbClr>
              </a:gs>
              <a:gs pos="42000">
                <a:srgbClr val="7C3AED">
                  <a:alpha val="14000"/>
                </a:srgbClr>
              </a:gs>
              <a:gs pos="74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10572750" y="-2476500"/>
            <a:ext cx="9906000" cy="8572500"/>
          </a:xfrm>
          <a:prstGeom prst="ellipse">
            <a:avLst/>
          </a:prstGeom>
          <a:gradFill>
            <a:gsLst>
              <a:gs pos="0">
                <a:srgbClr val="60A5FA">
                  <a:alpha val="22000"/>
                </a:srgbClr>
              </a:gs>
              <a:gs pos="46000">
                <a:srgbClr val="00D4FF">
                  <a:alpha val="9000"/>
                </a:srgbClr>
              </a:gs>
              <a:gs pos="78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5715000" y="6477000"/>
            <a:ext cx="7810500" cy="4953000"/>
          </a:xfrm>
          <a:prstGeom prst="ellipse">
            <a:avLst/>
          </a:prstGeom>
          <a:gradFill>
            <a:gsLst>
              <a:gs pos="0">
                <a:srgbClr val="34D399">
                  <a:alpha val="13000"/>
                </a:srgbClr>
              </a:gs>
              <a:gs pos="72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71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143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714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2286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2857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3429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4000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4572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5143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5715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6286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6858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7429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8001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8572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9144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9715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10287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10858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11430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12001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12573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13144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13716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14287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14859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15430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16002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16573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17145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17716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18288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9" name="直接连接符 38"/>
          <p:cNvSpPr>
            <a:spLocks noGrp="1"/>
          </p:cNvSpPr>
          <p:nvPr/>
        </p:nvSpPr>
        <p:spPr>
          <a:xfrm>
            <a:off x="0" y="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0" y="571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0" y="1143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0" y="1714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3" name="直接连接符 42"/>
          <p:cNvSpPr>
            <a:spLocks noGrp="1"/>
          </p:cNvSpPr>
          <p:nvPr/>
        </p:nvSpPr>
        <p:spPr>
          <a:xfrm>
            <a:off x="0" y="2286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4" name="直接连接符 43"/>
          <p:cNvSpPr>
            <a:spLocks noGrp="1"/>
          </p:cNvSpPr>
          <p:nvPr/>
        </p:nvSpPr>
        <p:spPr>
          <a:xfrm>
            <a:off x="0" y="2857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5" name="直接连接符 44"/>
          <p:cNvSpPr>
            <a:spLocks noGrp="1"/>
          </p:cNvSpPr>
          <p:nvPr/>
        </p:nvSpPr>
        <p:spPr>
          <a:xfrm>
            <a:off x="0" y="3429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0" y="4000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0" y="4572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0" y="5143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9" name="直接连接符 48"/>
          <p:cNvSpPr>
            <a:spLocks noGrp="1"/>
          </p:cNvSpPr>
          <p:nvPr/>
        </p:nvSpPr>
        <p:spPr>
          <a:xfrm>
            <a:off x="0" y="5715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0" name="直接连接符 49"/>
          <p:cNvSpPr>
            <a:spLocks noGrp="1"/>
          </p:cNvSpPr>
          <p:nvPr/>
        </p:nvSpPr>
        <p:spPr>
          <a:xfrm>
            <a:off x="0" y="6286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1" name="直接连接符 50"/>
          <p:cNvSpPr>
            <a:spLocks noGrp="1"/>
          </p:cNvSpPr>
          <p:nvPr/>
        </p:nvSpPr>
        <p:spPr>
          <a:xfrm>
            <a:off x="0" y="6858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2" name="直接连接符 51"/>
          <p:cNvSpPr>
            <a:spLocks noGrp="1"/>
          </p:cNvSpPr>
          <p:nvPr/>
        </p:nvSpPr>
        <p:spPr>
          <a:xfrm>
            <a:off x="0" y="7429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3" name="直接连接符 52"/>
          <p:cNvSpPr>
            <a:spLocks noGrp="1"/>
          </p:cNvSpPr>
          <p:nvPr/>
        </p:nvSpPr>
        <p:spPr>
          <a:xfrm>
            <a:off x="0" y="8001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4" name="直接连接符 53"/>
          <p:cNvSpPr>
            <a:spLocks noGrp="1"/>
          </p:cNvSpPr>
          <p:nvPr/>
        </p:nvSpPr>
        <p:spPr>
          <a:xfrm>
            <a:off x="0" y="8572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5" name="直接连接符 54"/>
          <p:cNvSpPr>
            <a:spLocks noGrp="1"/>
          </p:cNvSpPr>
          <p:nvPr/>
        </p:nvSpPr>
        <p:spPr>
          <a:xfrm>
            <a:off x="0" y="9144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6" name="直接连接符 55"/>
          <p:cNvSpPr>
            <a:spLocks noGrp="1"/>
          </p:cNvSpPr>
          <p:nvPr/>
        </p:nvSpPr>
        <p:spPr>
          <a:xfrm>
            <a:off x="0" y="9715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7" name="直接连接符 56"/>
          <p:cNvSpPr>
            <a:spLocks noGrp="1"/>
          </p:cNvSpPr>
          <p:nvPr/>
        </p:nvSpPr>
        <p:spPr>
          <a:xfrm>
            <a:off x="0" y="10287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117">
                  <a:alpha val="0"/>
                </a:srgbClr>
              </a:gs>
              <a:gs pos="100000">
                <a:srgbClr val="0D1117">
                  <a:alpha val="4500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59" name="圆角矩形 58"/>
          <p:cNvSpPr>
            <a:spLocks noGrp="1"/>
          </p:cNvSpPr>
          <p:nvPr/>
        </p:nvSpPr>
        <p:spPr>
          <a:xfrm>
            <a:off x="819150" y="590550"/>
            <a:ext cx="4038600" cy="419100"/>
          </a:xfrm>
          <a:prstGeom prst="roundRect">
            <a:avLst>
              <a:gd name="adj" fmla="val 50000"/>
            </a:avLst>
          </a:prstGeom>
          <a:solidFill>
            <a:srgbClr val="A855F7">
              <a:alpha val="18000"/>
            </a:srgbClr>
          </a:solidFill>
          <a:ln w="9525">
            <a:solidFill>
              <a:srgbClr val="A855F7">
                <a:alpha val="55000"/>
              </a:srgbClr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13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P13 · Response Guard</a:t>
            </a:r>
            <a:endParaRPr sz="1350" b="1">
              <a:solidFill>
                <a:srgbClr val="C084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819150" y="1123950"/>
            <a:ext cx="12382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buNone/>
              <a:defRPr sz="4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gradFill>
                  <a:gsLst>
                    <a:gs pos="0">
                      <a:srgbClr val="A855F7"/>
                    </a:gs>
                    <a:gs pos="52000">
                      <a:srgbClr val="60A5FA"/>
                    </a:gs>
                    <a:gs pos="100000">
                      <a:srgbClr val="34D399"/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幻觉防控四道防线</a:t>
            </a:r>
            <a:endParaRPr sz="4200" b="1">
              <a:gradFill>
                <a:gsLst>
                  <a:gs pos="0">
                    <a:srgbClr val="A855F7"/>
                  </a:gs>
                  <a:gs pos="52000">
                    <a:srgbClr val="60A5FA"/>
                  </a:gs>
                  <a:gs pos="100000">
                    <a:srgbClr val="34D399"/>
                  </a:gs>
                </a:gsLst>
                <a:lin ang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857250" y="1847850"/>
            <a:ext cx="1314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推荐的每一句话都必须有据可查</a:t>
            </a:r>
            <a:endParaRPr sz="180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819150" y="96202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OmniCart Agent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16192500" y="96202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13 / 16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4" name="直接连接符 63"/>
          <p:cNvSpPr>
            <a:spLocks noGrp="1"/>
          </p:cNvSpPr>
          <p:nvPr/>
        </p:nvSpPr>
        <p:spPr>
          <a:xfrm>
            <a:off x="819150" y="9486900"/>
            <a:ext cx="16649700" cy="0"/>
          </a:xfrm>
          <a:prstGeom prst="line">
            <a:avLst/>
          </a:prstGeom>
          <a:noFill/>
          <a:ln w="9525">
            <a:solidFill>
              <a:srgbClr val="30363D">
                <a:alpha val="70000"/>
              </a:srgbClr>
            </a:solidFill>
            <a:prstDash val="solid"/>
          </a:ln>
        </p:spPr>
      </p:sp>
      <p:sp>
        <p:nvSpPr>
          <p:cNvPr id="65" name="圆角矩形 64"/>
          <p:cNvSpPr>
            <a:spLocks noGrp="1"/>
          </p:cNvSpPr>
          <p:nvPr/>
        </p:nvSpPr>
        <p:spPr>
          <a:xfrm>
            <a:off x="1047750" y="2571750"/>
            <a:ext cx="9620250" cy="6191250"/>
          </a:xfrm>
          <a:prstGeom prst="roundRect">
            <a:avLst>
              <a:gd name="adj" fmla="val 5231"/>
            </a:avLst>
          </a:prstGeom>
          <a:solidFill>
            <a:srgbClr val="161B22">
              <a:alpha val="70000"/>
            </a:srgbClr>
          </a:solidFill>
          <a:ln w="19050">
            <a:solidFill>
              <a:srgbClr val="A855F7">
                <a:alpha val="45000"/>
              </a:srgbClr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1571625" y="300037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第一道：强制引用</a:t>
            </a:r>
            <a:endParaRPr sz="210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1571625" y="3476625"/>
            <a:ext cx="781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6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回答必须包含候选商品品牌/标题片段；不通过则回退结构化模板。</a:t>
            </a:r>
            <a:endParaRPr sz="16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圆角矩形 67"/>
          <p:cNvSpPr>
            <a:spLocks noGrp="1"/>
          </p:cNvSpPr>
          <p:nvPr/>
        </p:nvSpPr>
        <p:spPr>
          <a:xfrm>
            <a:off x="2190750" y="4333875"/>
            <a:ext cx="7239000" cy="3429000"/>
          </a:xfrm>
          <a:prstGeom prst="roundRect">
            <a:avLst>
              <a:gd name="adj" fmla="val 7778"/>
            </a:avLst>
          </a:prstGeom>
          <a:solidFill>
            <a:srgbClr val="00D4FF">
              <a:alpha val="8000"/>
            </a:srgbClr>
          </a:solidFill>
          <a:ln w="19050">
            <a:solidFill>
              <a:srgbClr val="00D4FF">
                <a:alpha val="38000"/>
              </a:srgbClr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2667000" y="4714875"/>
            <a:ext cx="438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95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第二道：品牌白名单</a:t>
            </a:r>
            <a:endParaRPr sz="195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2667000" y="51435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5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检测到陌生品牌 → 标记 hallucination</a:t>
            </a:r>
            <a:endParaRPr sz="157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3429000" y="5810250"/>
            <a:ext cx="4953000" cy="1381125"/>
          </a:xfrm>
          <a:prstGeom prst="roundRect">
            <a:avLst>
              <a:gd name="adj" fmla="val 16552"/>
            </a:avLst>
          </a:prstGeom>
          <a:solidFill>
            <a:srgbClr val="A855F7">
              <a:alpha val="10000"/>
            </a:srgbClr>
          </a:solidFill>
          <a:ln w="19050">
            <a:solidFill>
              <a:srgbClr val="A855F7">
                <a:alpha val="45000"/>
              </a:srgbClr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3810000" y="611505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第三道：价格校验</a:t>
            </a:r>
            <a:endParaRPr sz="1800" b="1">
              <a:solidFill>
                <a:srgbClr val="C084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3810000" y="651510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回答中的价格必须可追溯到候选商品。</a:t>
            </a:r>
            <a:endParaRPr sz="15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圆角矩形 73"/>
          <p:cNvSpPr>
            <a:spLocks noGrp="1"/>
          </p:cNvSpPr>
          <p:nvPr/>
        </p:nvSpPr>
        <p:spPr>
          <a:xfrm>
            <a:off x="4762500" y="7000875"/>
            <a:ext cx="2857500" cy="895350"/>
          </a:xfrm>
          <a:prstGeom prst="roundRect">
            <a:avLst>
              <a:gd name="adj" fmla="val 23404"/>
            </a:avLst>
          </a:prstGeom>
          <a:solidFill>
            <a:srgbClr val="34D399">
              <a:alpha val="10000"/>
            </a:srgbClr>
          </a:solidFill>
          <a:ln w="1905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5000625" y="72199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34D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34D3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第四道：超时兜底</a:t>
            </a:r>
            <a:endParaRPr sz="1575" b="1">
              <a:solidFill>
                <a:srgbClr val="34D3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5000625" y="75247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6s → 模板</a:t>
            </a:r>
            <a:endParaRPr sz="13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圆角矩形 76"/>
          <p:cNvSpPr>
            <a:spLocks noGrp="1"/>
          </p:cNvSpPr>
          <p:nvPr/>
        </p:nvSpPr>
        <p:spPr>
          <a:xfrm>
            <a:off x="11620500" y="2619375"/>
            <a:ext cx="2000250" cy="457200"/>
          </a:xfrm>
          <a:prstGeom prst="roundRect">
            <a:avLst>
              <a:gd name="adj" fmla="val 0"/>
            </a:avLst>
          </a:prstGeom>
          <a:solidFill>
            <a:srgbClr val="21262D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8" name="矩形 77"/>
          <p:cNvSpPr>
            <a:spLocks noGrp="1"/>
          </p:cNvSpPr>
          <p:nvPr/>
        </p:nvSpPr>
        <p:spPr>
          <a:xfrm>
            <a:off x="11715750" y="2733675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圆角矩形 78"/>
          <p:cNvSpPr>
            <a:spLocks noGrp="1"/>
          </p:cNvSpPr>
          <p:nvPr/>
        </p:nvSpPr>
        <p:spPr>
          <a:xfrm>
            <a:off x="13620750" y="2619375"/>
            <a:ext cx="2381250" cy="457200"/>
          </a:xfrm>
          <a:prstGeom prst="roundRect">
            <a:avLst>
              <a:gd name="adj" fmla="val 0"/>
            </a:avLst>
          </a:prstGeom>
          <a:solidFill>
            <a:srgbClr val="21262D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0" name="矩形 79"/>
          <p:cNvSpPr>
            <a:spLocks noGrp="1"/>
          </p:cNvSpPr>
          <p:nvPr/>
        </p:nvSpPr>
        <p:spPr>
          <a:xfrm>
            <a:off x="13716000" y="2733675"/>
            <a:ext cx="2190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圆角矩形 80"/>
          <p:cNvSpPr>
            <a:spLocks noGrp="1"/>
          </p:cNvSpPr>
          <p:nvPr/>
        </p:nvSpPr>
        <p:spPr>
          <a:xfrm>
            <a:off x="16002000" y="2619375"/>
            <a:ext cx="1333500" cy="457200"/>
          </a:xfrm>
          <a:prstGeom prst="roundRect">
            <a:avLst>
              <a:gd name="adj" fmla="val 0"/>
            </a:avLst>
          </a:prstGeom>
          <a:solidFill>
            <a:srgbClr val="21262D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2" name="矩形 81"/>
          <p:cNvSpPr>
            <a:spLocks noGrp="1"/>
          </p:cNvSpPr>
          <p:nvPr/>
        </p:nvSpPr>
        <p:spPr>
          <a:xfrm>
            <a:off x="16097250" y="2733675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失败处理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圆角矩形 82"/>
          <p:cNvSpPr>
            <a:spLocks noGrp="1"/>
          </p:cNvSpPr>
          <p:nvPr/>
        </p:nvSpPr>
        <p:spPr>
          <a:xfrm>
            <a:off x="11620500" y="3076575"/>
            <a:ext cx="2000250" cy="708660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11734800" y="3171825"/>
            <a:ext cx="1771650" cy="5372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evidence_bound</a:t>
            </a:r>
            <a:endParaRPr sz="1200" b="1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圆角矩形 84"/>
          <p:cNvSpPr>
            <a:spLocks noGrp="1"/>
          </p:cNvSpPr>
          <p:nvPr/>
        </p:nvSpPr>
        <p:spPr>
          <a:xfrm>
            <a:off x="13620750" y="3076575"/>
            <a:ext cx="2381250" cy="708660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86" name="矩形 85"/>
          <p:cNvSpPr>
            <a:spLocks noGrp="1"/>
          </p:cNvSpPr>
          <p:nvPr/>
        </p:nvSpPr>
        <p:spPr>
          <a:xfrm>
            <a:off x="13735050" y="3171825"/>
            <a:ext cx="2152650" cy="5372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是否引用候选商品</a:t>
            </a:r>
            <a:endParaRPr sz="12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圆角矩形 86"/>
          <p:cNvSpPr>
            <a:spLocks noGrp="1"/>
          </p:cNvSpPr>
          <p:nvPr/>
        </p:nvSpPr>
        <p:spPr>
          <a:xfrm>
            <a:off x="16002000" y="3076575"/>
            <a:ext cx="1333500" cy="708660"/>
          </a:xfrm>
          <a:prstGeom prst="roundRect">
            <a:avLst>
              <a:gd name="adj" fmla="val 0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35000"/>
              </a:srgbClr>
            </a:solidFill>
            <a:prstDash val="solid"/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16116300" y="3171825"/>
            <a:ext cx="1104900" cy="5372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标记</a:t>
            </a:r>
            <a:endParaRPr sz="120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圆角矩形 88"/>
          <p:cNvSpPr>
            <a:spLocks noGrp="1"/>
          </p:cNvSpPr>
          <p:nvPr/>
        </p:nvSpPr>
        <p:spPr>
          <a:xfrm>
            <a:off x="11620500" y="3785235"/>
            <a:ext cx="2000250" cy="708660"/>
          </a:xfrm>
          <a:prstGeom prst="roundRect">
            <a:avLst>
              <a:gd name="adj" fmla="val 0"/>
            </a:avLst>
          </a:prstGeom>
          <a:solidFill>
            <a:srgbClr val="0D1117">
              <a:alpha val="4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90" name="矩形 89"/>
          <p:cNvSpPr>
            <a:spLocks noGrp="1"/>
          </p:cNvSpPr>
          <p:nvPr/>
        </p:nvSpPr>
        <p:spPr>
          <a:xfrm>
            <a:off x="11734800" y="3880485"/>
            <a:ext cx="1771650" cy="5372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price_accurate</a:t>
            </a:r>
            <a:endParaRPr sz="1200" b="1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圆角矩形 90"/>
          <p:cNvSpPr>
            <a:spLocks noGrp="1"/>
          </p:cNvSpPr>
          <p:nvPr/>
        </p:nvSpPr>
        <p:spPr>
          <a:xfrm>
            <a:off x="13620750" y="3785235"/>
            <a:ext cx="2381250" cy="708660"/>
          </a:xfrm>
          <a:prstGeom prst="roundRect">
            <a:avLst>
              <a:gd name="adj" fmla="val 0"/>
            </a:avLst>
          </a:prstGeom>
          <a:solidFill>
            <a:srgbClr val="0D1117">
              <a:alpha val="4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92" name="矩形 91"/>
          <p:cNvSpPr>
            <a:spLocks noGrp="1"/>
          </p:cNvSpPr>
          <p:nvPr/>
        </p:nvSpPr>
        <p:spPr>
          <a:xfrm>
            <a:off x="13735050" y="3880485"/>
            <a:ext cx="2152650" cy="5372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价格是否一致</a:t>
            </a:r>
            <a:endParaRPr sz="12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圆角矩形 92"/>
          <p:cNvSpPr>
            <a:spLocks noGrp="1"/>
          </p:cNvSpPr>
          <p:nvPr/>
        </p:nvSpPr>
        <p:spPr>
          <a:xfrm>
            <a:off x="16002000" y="3785235"/>
            <a:ext cx="1333500" cy="708660"/>
          </a:xfrm>
          <a:prstGeom prst="roundRect">
            <a:avLst>
              <a:gd name="adj" fmla="val 0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35000"/>
              </a:srgbClr>
            </a:solidFill>
            <a:prstDash val="solid"/>
          </a:ln>
        </p:spPr>
      </p:sp>
      <p:sp>
        <p:nvSpPr>
          <p:cNvPr id="94" name="矩形 93"/>
          <p:cNvSpPr>
            <a:spLocks noGrp="1"/>
          </p:cNvSpPr>
          <p:nvPr/>
        </p:nvSpPr>
        <p:spPr>
          <a:xfrm>
            <a:off x="16116300" y="3880485"/>
            <a:ext cx="1104900" cy="5372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标记</a:t>
            </a:r>
            <a:endParaRPr sz="120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圆角矩形 94"/>
          <p:cNvSpPr>
            <a:spLocks noGrp="1"/>
          </p:cNvSpPr>
          <p:nvPr/>
        </p:nvSpPr>
        <p:spPr>
          <a:xfrm>
            <a:off x="11620500" y="4493895"/>
            <a:ext cx="2000250" cy="708660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96" name="矩形 95"/>
          <p:cNvSpPr>
            <a:spLocks noGrp="1"/>
          </p:cNvSpPr>
          <p:nvPr/>
        </p:nvSpPr>
        <p:spPr>
          <a:xfrm>
            <a:off x="11734800" y="4589145"/>
            <a:ext cx="1771650" cy="5372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risk_warned</a:t>
            </a:r>
            <a:endParaRPr sz="1200" b="1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圆角矩形 96"/>
          <p:cNvSpPr>
            <a:spLocks noGrp="1"/>
          </p:cNvSpPr>
          <p:nvPr/>
        </p:nvSpPr>
        <p:spPr>
          <a:xfrm>
            <a:off x="13620750" y="4493895"/>
            <a:ext cx="2381250" cy="708660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98" name="矩形 97"/>
          <p:cNvSpPr>
            <a:spLocks noGrp="1"/>
          </p:cNvSpPr>
          <p:nvPr/>
        </p:nvSpPr>
        <p:spPr>
          <a:xfrm>
            <a:off x="13735050" y="4589145"/>
            <a:ext cx="2152650" cy="5372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风险项是否提及</a:t>
            </a:r>
            <a:endParaRPr sz="12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圆角矩形 98"/>
          <p:cNvSpPr>
            <a:spLocks noGrp="1"/>
          </p:cNvSpPr>
          <p:nvPr/>
        </p:nvSpPr>
        <p:spPr>
          <a:xfrm>
            <a:off x="16002000" y="4493895"/>
            <a:ext cx="1333500" cy="708660"/>
          </a:xfrm>
          <a:prstGeom prst="roundRect">
            <a:avLst>
              <a:gd name="adj" fmla="val 0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35000"/>
              </a:srgbClr>
            </a:solidFill>
            <a:prstDash val="solid"/>
          </a:ln>
        </p:spPr>
      </p:sp>
      <p:sp>
        <p:nvSpPr>
          <p:cNvPr id="100" name="矩形 99"/>
          <p:cNvSpPr>
            <a:spLocks noGrp="1"/>
          </p:cNvSpPr>
          <p:nvPr/>
        </p:nvSpPr>
        <p:spPr>
          <a:xfrm>
            <a:off x="16116300" y="4589145"/>
            <a:ext cx="1104900" cy="5372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标记</a:t>
            </a:r>
            <a:endParaRPr sz="120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圆角矩形 100"/>
          <p:cNvSpPr>
            <a:spLocks noGrp="1"/>
          </p:cNvSpPr>
          <p:nvPr/>
        </p:nvSpPr>
        <p:spPr>
          <a:xfrm>
            <a:off x="11620500" y="5202555"/>
            <a:ext cx="2000250" cy="708660"/>
          </a:xfrm>
          <a:prstGeom prst="roundRect">
            <a:avLst>
              <a:gd name="adj" fmla="val 0"/>
            </a:avLst>
          </a:prstGeom>
          <a:solidFill>
            <a:srgbClr val="0D1117">
              <a:alpha val="4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102" name="矩形 101"/>
          <p:cNvSpPr>
            <a:spLocks noGrp="1"/>
          </p:cNvSpPr>
          <p:nvPr/>
        </p:nvSpPr>
        <p:spPr>
          <a:xfrm>
            <a:off x="11734800" y="5297805"/>
            <a:ext cx="1771650" cy="5372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honest_on_empty</a:t>
            </a:r>
            <a:endParaRPr sz="1200" b="1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圆角矩形 102"/>
          <p:cNvSpPr>
            <a:spLocks noGrp="1"/>
          </p:cNvSpPr>
          <p:nvPr/>
        </p:nvSpPr>
        <p:spPr>
          <a:xfrm>
            <a:off x="13620750" y="5202555"/>
            <a:ext cx="2381250" cy="708660"/>
          </a:xfrm>
          <a:prstGeom prst="roundRect">
            <a:avLst>
              <a:gd name="adj" fmla="val 0"/>
            </a:avLst>
          </a:prstGeom>
          <a:solidFill>
            <a:srgbClr val="0D1117">
              <a:alpha val="4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104" name="矩形 103"/>
          <p:cNvSpPr>
            <a:spLocks noGrp="1"/>
          </p:cNvSpPr>
          <p:nvPr/>
        </p:nvSpPr>
        <p:spPr>
          <a:xfrm>
            <a:off x="13735050" y="5297805"/>
            <a:ext cx="2152650" cy="5372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无结果不可推荐</a:t>
            </a:r>
            <a:endParaRPr sz="12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圆角矩形 104"/>
          <p:cNvSpPr>
            <a:spLocks noGrp="1"/>
          </p:cNvSpPr>
          <p:nvPr/>
        </p:nvSpPr>
        <p:spPr>
          <a:xfrm>
            <a:off x="16002000" y="5202555"/>
            <a:ext cx="1333500" cy="708660"/>
          </a:xfrm>
          <a:prstGeom prst="roundRect">
            <a:avLst>
              <a:gd name="adj" fmla="val 0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35000"/>
              </a:srgbClr>
            </a:solidFill>
            <a:prstDash val="solid"/>
          </a:ln>
        </p:spPr>
      </p:sp>
      <p:sp>
        <p:nvSpPr>
          <p:cNvPr id="106" name="矩形 105"/>
          <p:cNvSpPr>
            <a:spLocks noGrp="1"/>
          </p:cNvSpPr>
          <p:nvPr/>
        </p:nvSpPr>
        <p:spPr>
          <a:xfrm>
            <a:off x="16116300" y="5297805"/>
            <a:ext cx="1104900" cy="5372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硬失败</a:t>
            </a:r>
            <a:endParaRPr sz="120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圆角矩形 106"/>
          <p:cNvSpPr>
            <a:spLocks noGrp="1"/>
          </p:cNvSpPr>
          <p:nvPr/>
        </p:nvSpPr>
        <p:spPr>
          <a:xfrm>
            <a:off x="11620500" y="5911215"/>
            <a:ext cx="2000250" cy="708660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108" name="矩形 107"/>
          <p:cNvSpPr>
            <a:spLocks noGrp="1"/>
          </p:cNvSpPr>
          <p:nvPr/>
        </p:nvSpPr>
        <p:spPr>
          <a:xfrm>
            <a:off x="11734800" y="6006465"/>
            <a:ext cx="1771650" cy="5372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hallucination</a:t>
            </a:r>
            <a:endParaRPr sz="1200" b="1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圆角矩形 108"/>
          <p:cNvSpPr>
            <a:spLocks noGrp="1"/>
          </p:cNvSpPr>
          <p:nvPr/>
        </p:nvSpPr>
        <p:spPr>
          <a:xfrm>
            <a:off x="13620750" y="5911215"/>
            <a:ext cx="2381250" cy="708660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110" name="矩形 109"/>
          <p:cNvSpPr>
            <a:spLocks noGrp="1"/>
          </p:cNvSpPr>
          <p:nvPr/>
        </p:nvSpPr>
        <p:spPr>
          <a:xfrm>
            <a:off x="13735050" y="6006465"/>
            <a:ext cx="2152650" cy="5372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品牌是否在候选列表</a:t>
            </a:r>
            <a:endParaRPr sz="120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" name="圆角矩形 110"/>
          <p:cNvSpPr>
            <a:spLocks noGrp="1"/>
          </p:cNvSpPr>
          <p:nvPr/>
        </p:nvSpPr>
        <p:spPr>
          <a:xfrm>
            <a:off x="16002000" y="5911215"/>
            <a:ext cx="1333500" cy="708660"/>
          </a:xfrm>
          <a:prstGeom prst="roundRect">
            <a:avLst>
              <a:gd name="adj" fmla="val 0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35000"/>
              </a:srgbClr>
            </a:solidFill>
            <a:prstDash val="solid"/>
          </a:ln>
        </p:spPr>
      </p:sp>
      <p:sp>
        <p:nvSpPr>
          <p:cNvPr id="112" name="矩形 111"/>
          <p:cNvSpPr>
            <a:spLocks noGrp="1"/>
          </p:cNvSpPr>
          <p:nvPr/>
        </p:nvSpPr>
        <p:spPr>
          <a:xfrm>
            <a:off x="16116300" y="6006465"/>
            <a:ext cx="1104900" cy="5372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硬失败</a:t>
            </a:r>
            <a:endParaRPr sz="120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圆角矩形 112"/>
          <p:cNvSpPr>
            <a:spLocks noGrp="1"/>
          </p:cNvSpPr>
          <p:nvPr/>
        </p:nvSpPr>
        <p:spPr>
          <a:xfrm>
            <a:off x="11620500" y="7096125"/>
            <a:ext cx="5715000" cy="1428750"/>
          </a:xfrm>
          <a:prstGeom prst="roundRect">
            <a:avLst>
              <a:gd name="adj" fmla="val 10667"/>
            </a:avLst>
          </a:prstGeom>
          <a:solidFill>
            <a:srgbClr val="161B22">
              <a:alpha val="9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4" name="矩形 113"/>
          <p:cNvSpPr>
            <a:spLocks noGrp="1"/>
          </p:cNvSpPr>
          <p:nvPr/>
        </p:nvSpPr>
        <p:spPr>
          <a:xfrm>
            <a:off x="11620500" y="7096125"/>
            <a:ext cx="66675" cy="1428750"/>
          </a:xfrm>
          <a:prstGeom prst="rect">
            <a:avLst/>
          </a:prstGeom>
          <a:solidFill>
            <a:srgbClr val="FF7B72"/>
          </a:solidFill>
          <a:ln w="0">
            <a:noFill/>
            <a:prstDash val="solid"/>
          </a:ln>
        </p:spPr>
      </p:sp>
      <p:sp>
        <p:nvSpPr>
          <p:cNvPr id="115" name="矩形 114"/>
          <p:cNvSpPr>
            <a:spLocks noGrp="1"/>
          </p:cNvSpPr>
          <p:nvPr/>
        </p:nvSpPr>
        <p:spPr>
          <a:xfrm>
            <a:off x="11868150" y="7305675"/>
            <a:ext cx="525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8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核心约束</a:t>
            </a:r>
            <a:endParaRPr sz="180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矩形 115"/>
          <p:cNvSpPr>
            <a:spLocks noGrp="1"/>
          </p:cNvSpPr>
          <p:nvPr/>
        </p:nvSpPr>
        <p:spPr>
          <a:xfrm>
            <a:off x="11868150" y="7724775"/>
            <a:ext cx="5219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6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所有推荐结论必须绑定 evidence_ids；无法绑定时，宁可模板化兜底也不生成虚假推荐。</a:t>
            </a:r>
            <a:endParaRPr sz="16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117"/>
              </a:gs>
              <a:gs pos="46000">
                <a:srgbClr val="11111F"/>
              </a:gs>
              <a:gs pos="100000">
                <a:srgbClr val="06151A"/>
              </a:gs>
            </a:gsLst>
            <a:lin ang="7800000"/>
          </a:gradFill>
          <a:ln w="0">
            <a:noFill/>
            <a:prstDash val="solid"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-3429000" y="-3143250"/>
            <a:ext cx="9334500" cy="8382000"/>
          </a:xfrm>
          <a:prstGeom prst="ellipse">
            <a:avLst/>
          </a:prstGeom>
          <a:gradFill>
            <a:gsLst>
              <a:gs pos="0">
                <a:srgbClr val="A855F7">
                  <a:alpha val="30000"/>
                </a:srgbClr>
              </a:gs>
              <a:gs pos="42000">
                <a:srgbClr val="7C3AED">
                  <a:alpha val="14000"/>
                </a:srgbClr>
              </a:gs>
              <a:gs pos="74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10572750" y="-2476500"/>
            <a:ext cx="9906000" cy="8572500"/>
          </a:xfrm>
          <a:prstGeom prst="ellipse">
            <a:avLst/>
          </a:prstGeom>
          <a:gradFill>
            <a:gsLst>
              <a:gs pos="0">
                <a:srgbClr val="60A5FA">
                  <a:alpha val="22000"/>
                </a:srgbClr>
              </a:gs>
              <a:gs pos="46000">
                <a:srgbClr val="00D4FF">
                  <a:alpha val="9000"/>
                </a:srgbClr>
              </a:gs>
              <a:gs pos="78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5715000" y="6477000"/>
            <a:ext cx="7810500" cy="4953000"/>
          </a:xfrm>
          <a:prstGeom prst="ellipse">
            <a:avLst/>
          </a:prstGeom>
          <a:gradFill>
            <a:gsLst>
              <a:gs pos="0">
                <a:srgbClr val="34D399">
                  <a:alpha val="13000"/>
                </a:srgbClr>
              </a:gs>
              <a:gs pos="72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71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143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714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2286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2857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3429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4000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4572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5143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5715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6286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6858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7429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8001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8572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9144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9715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10287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10858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11430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12001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12573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13144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13716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14287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14859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15430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16002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16573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17145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17716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18288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9" name="直接连接符 38"/>
          <p:cNvSpPr>
            <a:spLocks noGrp="1"/>
          </p:cNvSpPr>
          <p:nvPr/>
        </p:nvSpPr>
        <p:spPr>
          <a:xfrm>
            <a:off x="0" y="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0" y="571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0" y="1143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0" y="1714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3" name="直接连接符 42"/>
          <p:cNvSpPr>
            <a:spLocks noGrp="1"/>
          </p:cNvSpPr>
          <p:nvPr/>
        </p:nvSpPr>
        <p:spPr>
          <a:xfrm>
            <a:off x="0" y="2286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4" name="直接连接符 43"/>
          <p:cNvSpPr>
            <a:spLocks noGrp="1"/>
          </p:cNvSpPr>
          <p:nvPr/>
        </p:nvSpPr>
        <p:spPr>
          <a:xfrm>
            <a:off x="0" y="2857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5" name="直接连接符 44"/>
          <p:cNvSpPr>
            <a:spLocks noGrp="1"/>
          </p:cNvSpPr>
          <p:nvPr/>
        </p:nvSpPr>
        <p:spPr>
          <a:xfrm>
            <a:off x="0" y="3429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0" y="4000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0" y="4572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0" y="5143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9" name="直接连接符 48"/>
          <p:cNvSpPr>
            <a:spLocks noGrp="1"/>
          </p:cNvSpPr>
          <p:nvPr/>
        </p:nvSpPr>
        <p:spPr>
          <a:xfrm>
            <a:off x="0" y="5715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0" name="直接连接符 49"/>
          <p:cNvSpPr>
            <a:spLocks noGrp="1"/>
          </p:cNvSpPr>
          <p:nvPr/>
        </p:nvSpPr>
        <p:spPr>
          <a:xfrm>
            <a:off x="0" y="6286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1" name="直接连接符 50"/>
          <p:cNvSpPr>
            <a:spLocks noGrp="1"/>
          </p:cNvSpPr>
          <p:nvPr/>
        </p:nvSpPr>
        <p:spPr>
          <a:xfrm>
            <a:off x="0" y="6858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2" name="直接连接符 51"/>
          <p:cNvSpPr>
            <a:spLocks noGrp="1"/>
          </p:cNvSpPr>
          <p:nvPr/>
        </p:nvSpPr>
        <p:spPr>
          <a:xfrm>
            <a:off x="0" y="7429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3" name="直接连接符 52"/>
          <p:cNvSpPr>
            <a:spLocks noGrp="1"/>
          </p:cNvSpPr>
          <p:nvPr/>
        </p:nvSpPr>
        <p:spPr>
          <a:xfrm>
            <a:off x="0" y="8001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4" name="直接连接符 53"/>
          <p:cNvSpPr>
            <a:spLocks noGrp="1"/>
          </p:cNvSpPr>
          <p:nvPr/>
        </p:nvSpPr>
        <p:spPr>
          <a:xfrm>
            <a:off x="0" y="8572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5" name="直接连接符 54"/>
          <p:cNvSpPr>
            <a:spLocks noGrp="1"/>
          </p:cNvSpPr>
          <p:nvPr/>
        </p:nvSpPr>
        <p:spPr>
          <a:xfrm>
            <a:off x="0" y="9144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6" name="直接连接符 55"/>
          <p:cNvSpPr>
            <a:spLocks noGrp="1"/>
          </p:cNvSpPr>
          <p:nvPr/>
        </p:nvSpPr>
        <p:spPr>
          <a:xfrm>
            <a:off x="0" y="9715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7" name="直接连接符 56"/>
          <p:cNvSpPr>
            <a:spLocks noGrp="1"/>
          </p:cNvSpPr>
          <p:nvPr/>
        </p:nvSpPr>
        <p:spPr>
          <a:xfrm>
            <a:off x="0" y="10287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117">
                  <a:alpha val="0"/>
                </a:srgbClr>
              </a:gs>
              <a:gs pos="100000">
                <a:srgbClr val="0D1117">
                  <a:alpha val="4500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59" name="圆角矩形 58"/>
          <p:cNvSpPr>
            <a:spLocks noGrp="1"/>
          </p:cNvSpPr>
          <p:nvPr/>
        </p:nvSpPr>
        <p:spPr>
          <a:xfrm>
            <a:off x="819150" y="590550"/>
            <a:ext cx="3352800" cy="419100"/>
          </a:xfrm>
          <a:prstGeom prst="roundRect">
            <a:avLst>
              <a:gd name="adj" fmla="val 50000"/>
            </a:avLst>
          </a:prstGeom>
          <a:solidFill>
            <a:srgbClr val="A855F7">
              <a:alpha val="18000"/>
            </a:srgbClr>
          </a:solidFill>
          <a:ln w="9525">
            <a:solidFill>
              <a:srgbClr val="A855F7">
                <a:alpha val="55000"/>
              </a:srgbClr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13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P14 · Native App</a:t>
            </a:r>
            <a:endParaRPr sz="1350" b="1">
              <a:solidFill>
                <a:srgbClr val="C084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819150" y="1123950"/>
            <a:ext cx="12382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buNone/>
              <a:defRPr sz="4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gradFill>
                  <a:gsLst>
                    <a:gs pos="0">
                      <a:srgbClr val="A855F7"/>
                    </a:gs>
                    <a:gs pos="52000">
                      <a:srgbClr val="60A5FA"/>
                    </a:gs>
                    <a:gs pos="100000">
                      <a:srgbClr val="34D399"/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Android 原生客户端</a:t>
            </a:r>
            <a:endParaRPr sz="4200" b="1">
              <a:gradFill>
                <a:gsLst>
                  <a:gs pos="0">
                    <a:srgbClr val="A855F7"/>
                  </a:gs>
                  <a:gs pos="52000">
                    <a:srgbClr val="60A5FA"/>
                  </a:gs>
                  <a:gs pos="100000">
                    <a:srgbClr val="34D399"/>
                  </a:gs>
                </a:gsLst>
                <a:lin ang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857250" y="1847850"/>
            <a:ext cx="1314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Kotlin · Jetpack Compose · Material 3</a:t>
            </a:r>
            <a:endParaRPr sz="180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819150" y="96202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OmniCart Agent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16192500" y="96202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14 / 16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4" name="直接连接符 63"/>
          <p:cNvSpPr>
            <a:spLocks noGrp="1"/>
          </p:cNvSpPr>
          <p:nvPr/>
        </p:nvSpPr>
        <p:spPr>
          <a:xfrm>
            <a:off x="819150" y="9486900"/>
            <a:ext cx="16649700" cy="0"/>
          </a:xfrm>
          <a:prstGeom prst="line">
            <a:avLst/>
          </a:prstGeom>
          <a:noFill/>
          <a:ln w="9525">
            <a:solidFill>
              <a:srgbClr val="30363D">
                <a:alpha val="70000"/>
              </a:srgbClr>
            </a:solidFill>
            <a:prstDash val="solid"/>
          </a:ln>
        </p:spPr>
      </p:sp>
      <p:sp>
        <p:nvSpPr>
          <p:cNvPr id="65" name="圆角矩形 64"/>
          <p:cNvSpPr>
            <a:spLocks noGrp="1"/>
          </p:cNvSpPr>
          <p:nvPr/>
        </p:nvSpPr>
        <p:spPr>
          <a:xfrm>
            <a:off x="809625" y="2286000"/>
            <a:ext cx="3429000" cy="5143500"/>
          </a:xfrm>
          <a:prstGeom prst="roundRect">
            <a:avLst>
              <a:gd name="adj" fmla="val 10556"/>
            </a:avLst>
          </a:prstGeom>
          <a:solidFill>
            <a:srgbClr val="05070D"/>
          </a:solidFill>
          <a:ln w="19050">
            <a:solidFill>
              <a:srgbClr val="30363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sp>
        <p:nvSpPr>
          <p:cNvPr id="66" name="圆角矩形 65"/>
          <p:cNvSpPr>
            <a:spLocks noGrp="1"/>
          </p:cNvSpPr>
          <p:nvPr/>
        </p:nvSpPr>
        <p:spPr>
          <a:xfrm>
            <a:off x="952500" y="2428875"/>
            <a:ext cx="3143250" cy="4857750"/>
          </a:xfrm>
          <a:prstGeom prst="roundRect">
            <a:avLst>
              <a:gd name="adj" fmla="val 8485"/>
            </a:avLst>
          </a:prstGeom>
          <a:solidFill>
            <a:srgbClr val="0D111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1133475" y="264795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商品</a:t>
            </a:r>
            <a:endParaRPr sz="150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直接连接符 67"/>
          <p:cNvSpPr>
            <a:spLocks noGrp="1"/>
          </p:cNvSpPr>
          <p:nvPr/>
        </p:nvSpPr>
        <p:spPr>
          <a:xfrm>
            <a:off x="1095375" y="3067050"/>
            <a:ext cx="28575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69" name="圆角矩形 68"/>
          <p:cNvSpPr>
            <a:spLocks noGrp="1"/>
          </p:cNvSpPr>
          <p:nvPr/>
        </p:nvSpPr>
        <p:spPr>
          <a:xfrm>
            <a:off x="1114425" y="3276600"/>
            <a:ext cx="666750" cy="285750"/>
          </a:xfrm>
          <a:prstGeom prst="roundRect">
            <a:avLst>
              <a:gd name="adj" fmla="val 50000"/>
            </a:avLst>
          </a:prstGeom>
          <a:solidFill>
            <a:srgbClr val="00D4FF">
              <a:alpha val="16000"/>
            </a:srgbClr>
          </a:solidFill>
          <a:ln w="9525">
            <a:solidFill>
              <a:srgbClr val="00D4FF">
                <a:alpha val="45000"/>
              </a:srgbClr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9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蓝牙耳机</a:t>
            </a:r>
            <a:endParaRPr sz="900" b="1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圆角矩形 69"/>
          <p:cNvSpPr>
            <a:spLocks noGrp="1"/>
          </p:cNvSpPr>
          <p:nvPr/>
        </p:nvSpPr>
        <p:spPr>
          <a:xfrm>
            <a:off x="1857375" y="3276600"/>
            <a:ext cx="666750" cy="28575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900" b="1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手机</a:t>
            </a:r>
            <a:endParaRPr sz="900" b="1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2600325" y="3276600"/>
            <a:ext cx="666750" cy="28575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900" b="1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护肤</a:t>
            </a:r>
            <a:endParaRPr sz="900" b="1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圆角矩形 71"/>
          <p:cNvSpPr>
            <a:spLocks noGrp="1"/>
          </p:cNvSpPr>
          <p:nvPr/>
        </p:nvSpPr>
        <p:spPr>
          <a:xfrm>
            <a:off x="3343275" y="3276600"/>
            <a:ext cx="666750" cy="28575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900" b="1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运动</a:t>
            </a:r>
            <a:endParaRPr sz="900" b="1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圆角矩形 72"/>
          <p:cNvSpPr>
            <a:spLocks noGrp="1"/>
          </p:cNvSpPr>
          <p:nvPr/>
        </p:nvSpPr>
        <p:spPr>
          <a:xfrm>
            <a:off x="1133475" y="3771900"/>
            <a:ext cx="2781300" cy="1028700"/>
          </a:xfrm>
          <a:prstGeom prst="roundRect">
            <a:avLst>
              <a:gd name="adj" fmla="val 1296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4" name="圆角矩形 73"/>
          <p:cNvSpPr>
            <a:spLocks noGrp="1"/>
          </p:cNvSpPr>
          <p:nvPr/>
        </p:nvSpPr>
        <p:spPr>
          <a:xfrm>
            <a:off x="1285875" y="3943350"/>
            <a:ext cx="609600" cy="609600"/>
          </a:xfrm>
          <a:prstGeom prst="roundRect">
            <a:avLst>
              <a:gd name="adj" fmla="val 15625"/>
            </a:avLst>
          </a:prstGeom>
          <a:gradFill>
            <a:gsLst>
              <a:gs pos="0">
                <a:srgbClr val="1F6FEB"/>
              </a:gs>
              <a:gs pos="55000">
                <a:srgbClr val="A855F7"/>
              </a:gs>
              <a:gs pos="100000">
                <a:srgbClr val="34D399"/>
              </a:gs>
            </a:gsLst>
            <a:lin ang="8100000"/>
          </a:gradFill>
          <a:ln w="0">
            <a:noFill/>
            <a:prstDash val="solid"/>
          </a:ln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1362075" y="40957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F0F6F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50" b="1">
                <a:solidFill>
                  <a:srgbClr val="F0F6F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QCY ANC</a:t>
            </a:r>
            <a:endParaRPr sz="1050" b="1">
              <a:solidFill>
                <a:srgbClr val="F0F6F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6" name="矩形 75"/>
          <p:cNvSpPr>
            <a:spLocks noGrp="1"/>
          </p:cNvSpPr>
          <p:nvPr/>
        </p:nvSpPr>
        <p:spPr>
          <a:xfrm>
            <a:off x="2028825" y="39624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0F6F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125" b="1">
                <a:solidFill>
                  <a:srgbClr val="F0F6F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QCY MeloBuds</a:t>
            </a:r>
            <a:endParaRPr sz="1125" b="1">
              <a:solidFill>
                <a:srgbClr val="F0F6F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2028825" y="42291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40dB降噪 · 8.8/10</a:t>
            </a:r>
            <a:endParaRPr sz="975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矩形 77"/>
          <p:cNvSpPr>
            <a:spLocks noGrp="1"/>
          </p:cNvSpPr>
          <p:nvPr/>
        </p:nvSpPr>
        <p:spPr>
          <a:xfrm>
            <a:off x="2028825" y="4514850"/>
            <a:ext cx="81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F7B72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1">
                <a:solidFill>
                  <a:srgbClr val="FF7B72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¥299</a:t>
            </a:r>
            <a:endParaRPr sz="1350" b="1">
              <a:solidFill>
                <a:srgbClr val="FF7B72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79" name="圆角矩形 78"/>
          <p:cNvSpPr>
            <a:spLocks noGrp="1"/>
          </p:cNvSpPr>
          <p:nvPr/>
        </p:nvSpPr>
        <p:spPr>
          <a:xfrm>
            <a:off x="1133475" y="4953000"/>
            <a:ext cx="2781300" cy="1028700"/>
          </a:xfrm>
          <a:prstGeom prst="roundRect">
            <a:avLst>
              <a:gd name="adj" fmla="val 1296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80" name="圆角矩形 79"/>
          <p:cNvSpPr>
            <a:spLocks noGrp="1"/>
          </p:cNvSpPr>
          <p:nvPr/>
        </p:nvSpPr>
        <p:spPr>
          <a:xfrm>
            <a:off x="1285875" y="5124450"/>
            <a:ext cx="609600" cy="609600"/>
          </a:xfrm>
          <a:prstGeom prst="roundRect">
            <a:avLst>
              <a:gd name="adj" fmla="val 15625"/>
            </a:avLst>
          </a:prstGeom>
          <a:gradFill>
            <a:gsLst>
              <a:gs pos="0">
                <a:srgbClr val="1F6FEB"/>
              </a:gs>
              <a:gs pos="55000">
                <a:srgbClr val="A855F7"/>
              </a:gs>
              <a:gs pos="100000">
                <a:srgbClr val="34D399"/>
              </a:gs>
            </a:gsLst>
            <a:lin ang="8100000"/>
          </a:gradFill>
          <a:ln w="0">
            <a:noFill/>
            <a:prstDash val="solid"/>
          </a:ln>
        </p:spPr>
      </p:sp>
      <p:sp>
        <p:nvSpPr>
          <p:cNvPr id="81" name="矩形 80"/>
          <p:cNvSpPr>
            <a:spLocks noGrp="1"/>
          </p:cNvSpPr>
          <p:nvPr/>
        </p:nvSpPr>
        <p:spPr>
          <a:xfrm>
            <a:off x="1362075" y="52768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F0F6F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50" b="1">
                <a:solidFill>
                  <a:srgbClr val="F0F6F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QCY ANC</a:t>
            </a:r>
            <a:endParaRPr sz="1050" b="1">
              <a:solidFill>
                <a:srgbClr val="F0F6F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2" name="矩形 81"/>
          <p:cNvSpPr>
            <a:spLocks noGrp="1"/>
          </p:cNvSpPr>
          <p:nvPr/>
        </p:nvSpPr>
        <p:spPr>
          <a:xfrm>
            <a:off x="2028825" y="51435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0F6F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125" b="1">
                <a:solidFill>
                  <a:srgbClr val="F0F6F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QCY MeloBuds</a:t>
            </a:r>
            <a:endParaRPr sz="1125" b="1">
              <a:solidFill>
                <a:srgbClr val="F0F6F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3" name="矩形 82"/>
          <p:cNvSpPr>
            <a:spLocks noGrp="1"/>
          </p:cNvSpPr>
          <p:nvPr/>
        </p:nvSpPr>
        <p:spPr>
          <a:xfrm>
            <a:off x="2028825" y="5410200"/>
            <a:ext cx="171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40dB降噪 · 8.8/10</a:t>
            </a:r>
            <a:endParaRPr sz="975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矩形 83"/>
          <p:cNvSpPr>
            <a:spLocks noGrp="1"/>
          </p:cNvSpPr>
          <p:nvPr/>
        </p:nvSpPr>
        <p:spPr>
          <a:xfrm>
            <a:off x="2028825" y="5695950"/>
            <a:ext cx="81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F7B72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1">
                <a:solidFill>
                  <a:srgbClr val="FF7B72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¥299</a:t>
            </a:r>
            <a:endParaRPr sz="1350" b="1">
              <a:solidFill>
                <a:srgbClr val="FF7B72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85" name="矩形 84"/>
          <p:cNvSpPr>
            <a:spLocks noGrp="1"/>
          </p:cNvSpPr>
          <p:nvPr/>
        </p:nvSpPr>
        <p:spPr>
          <a:xfrm>
            <a:off x="1247775" y="6324600"/>
            <a:ext cx="2552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5000"/>
              </a:lnSpc>
              <a:buNone/>
              <a:defRPr sz="1125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商品列表 · 详情弹窗 · 品类筛选</a:t>
            </a:r>
            <a:endParaRPr sz="1125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圆角矩形 85"/>
          <p:cNvSpPr>
            <a:spLocks noGrp="1"/>
          </p:cNvSpPr>
          <p:nvPr/>
        </p:nvSpPr>
        <p:spPr>
          <a:xfrm>
            <a:off x="5143500" y="2286000"/>
            <a:ext cx="3429000" cy="5143500"/>
          </a:xfrm>
          <a:prstGeom prst="roundRect">
            <a:avLst>
              <a:gd name="adj" fmla="val 10556"/>
            </a:avLst>
          </a:prstGeom>
          <a:solidFill>
            <a:srgbClr val="05070D"/>
          </a:solidFill>
          <a:ln w="19050">
            <a:solidFill>
              <a:srgbClr val="30363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sp>
        <p:nvSpPr>
          <p:cNvPr id="87" name="圆角矩形 86"/>
          <p:cNvSpPr>
            <a:spLocks noGrp="1"/>
          </p:cNvSpPr>
          <p:nvPr/>
        </p:nvSpPr>
        <p:spPr>
          <a:xfrm>
            <a:off x="5286375" y="2428875"/>
            <a:ext cx="3143250" cy="4857750"/>
          </a:xfrm>
          <a:prstGeom prst="roundRect">
            <a:avLst>
              <a:gd name="adj" fmla="val 8485"/>
            </a:avLst>
          </a:prstGeom>
          <a:solidFill>
            <a:srgbClr val="0D111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5467350" y="264795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豆仔</a:t>
            </a:r>
            <a:endParaRPr sz="150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直接连接符 88"/>
          <p:cNvSpPr>
            <a:spLocks noGrp="1"/>
          </p:cNvSpPr>
          <p:nvPr/>
        </p:nvSpPr>
        <p:spPr>
          <a:xfrm>
            <a:off x="5429250" y="3067050"/>
            <a:ext cx="28575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90" name="圆角矩形 89"/>
          <p:cNvSpPr>
            <a:spLocks noGrp="1"/>
          </p:cNvSpPr>
          <p:nvPr/>
        </p:nvSpPr>
        <p:spPr>
          <a:xfrm>
            <a:off x="5505450" y="3276600"/>
            <a:ext cx="2705100" cy="476250"/>
          </a:xfrm>
          <a:prstGeom prst="roundRect">
            <a:avLst>
              <a:gd name="adj" fmla="val 36000"/>
            </a:avLst>
          </a:prstGeom>
          <a:solidFill>
            <a:srgbClr val="1F6FEB">
              <a:alpha val="22000"/>
            </a:srgbClr>
          </a:solidFill>
          <a:ln w="9525">
            <a:solidFill>
              <a:srgbClr val="58A6FF">
                <a:alpha val="35000"/>
              </a:srgbClr>
            </a:solidFill>
            <a:prstDash val="solid"/>
          </a:ln>
        </p:spPr>
        <p:txBody>
          <a:bodyPr lIns="171450" tIns="76200" rIns="171450" bIns="76200" anchor="ctr"/>
          <a:lstStyle/>
          <a:p>
            <a:pPr algn="l">
              <a:lnSpc>
                <a:spcPct val="105000"/>
              </a:lnSpc>
              <a:buNone/>
              <a:defRPr sz="1125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推荐一款蓝牙耳机，500以内</a:t>
            </a:r>
            <a:endParaRPr sz="1125" b="0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圆角矩形 90"/>
          <p:cNvSpPr>
            <a:spLocks noGrp="1"/>
          </p:cNvSpPr>
          <p:nvPr/>
        </p:nvSpPr>
        <p:spPr>
          <a:xfrm>
            <a:off x="5505450" y="3905250"/>
            <a:ext cx="2705100" cy="742950"/>
          </a:xfrm>
          <a:prstGeom prst="roundRect">
            <a:avLst>
              <a:gd name="adj" fmla="val 23077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 lIns="171450" tIns="114300" rIns="171450" bIns="76200" anchor="ctr"/>
          <a:lstStyle/>
          <a:p>
            <a:pPr algn="l">
              <a:lnSpc>
                <a:spcPct val="105000"/>
              </a:lnSpc>
              <a:buNone/>
              <a:defRPr sz="10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我会优先看降噪、续航和价格。</a:t>
            </a:r>
            <a:endParaRPr sz="10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05000"/>
              </a:lnSpc>
              <a:buNone/>
              <a:defRPr sz="10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Top 1 推荐如下：</a:t>
            </a:r>
            <a:endParaRPr sz="10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圆角矩形 91"/>
          <p:cNvSpPr>
            <a:spLocks noGrp="1"/>
          </p:cNvSpPr>
          <p:nvPr/>
        </p:nvSpPr>
        <p:spPr>
          <a:xfrm>
            <a:off x="5505450" y="4876800"/>
            <a:ext cx="2705100" cy="1219200"/>
          </a:xfrm>
          <a:prstGeom prst="roundRect">
            <a:avLst>
              <a:gd name="adj" fmla="val 10938"/>
            </a:avLst>
          </a:prstGeom>
          <a:solidFill>
            <a:srgbClr val="0F1720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3" name="圆角矩形 92"/>
          <p:cNvSpPr>
            <a:spLocks noGrp="1"/>
          </p:cNvSpPr>
          <p:nvPr/>
        </p:nvSpPr>
        <p:spPr>
          <a:xfrm>
            <a:off x="5657850" y="5048250"/>
            <a:ext cx="609600" cy="609600"/>
          </a:xfrm>
          <a:prstGeom prst="roundRect">
            <a:avLst>
              <a:gd name="adj" fmla="val 15625"/>
            </a:avLst>
          </a:prstGeom>
          <a:gradFill>
            <a:gsLst>
              <a:gs pos="0">
                <a:srgbClr val="1F6FEB"/>
              </a:gs>
              <a:gs pos="55000">
                <a:srgbClr val="A855F7"/>
              </a:gs>
              <a:gs pos="100000">
                <a:srgbClr val="34D399"/>
              </a:gs>
            </a:gsLst>
            <a:lin ang="8100000"/>
          </a:gradFill>
          <a:ln w="0">
            <a:noFill/>
            <a:prstDash val="solid"/>
          </a:ln>
        </p:spPr>
      </p:sp>
      <p:sp>
        <p:nvSpPr>
          <p:cNvPr id="94" name="矩形 93"/>
          <p:cNvSpPr>
            <a:spLocks noGrp="1"/>
          </p:cNvSpPr>
          <p:nvPr/>
        </p:nvSpPr>
        <p:spPr>
          <a:xfrm>
            <a:off x="5734050" y="5200650"/>
            <a:ext cx="457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050" b="1">
                <a:solidFill>
                  <a:srgbClr val="F0F6F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050" b="1">
                <a:solidFill>
                  <a:srgbClr val="F0F6F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QCY ANC</a:t>
            </a:r>
            <a:endParaRPr sz="1050" b="1">
              <a:solidFill>
                <a:srgbClr val="F0F6F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5" name="矩形 94"/>
          <p:cNvSpPr>
            <a:spLocks noGrp="1"/>
          </p:cNvSpPr>
          <p:nvPr/>
        </p:nvSpPr>
        <p:spPr>
          <a:xfrm>
            <a:off x="6400800" y="5067300"/>
            <a:ext cx="1638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125" b="1">
                <a:solidFill>
                  <a:srgbClr val="F0F6F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125" b="1">
                <a:solidFill>
                  <a:srgbClr val="F0F6F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QCY MeloBuds</a:t>
            </a:r>
            <a:endParaRPr sz="1125" b="1">
              <a:solidFill>
                <a:srgbClr val="F0F6F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6400800" y="5334000"/>
            <a:ext cx="1638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975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40dB降噪 · 8.8/10</a:t>
            </a:r>
            <a:endParaRPr sz="975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矩形 96"/>
          <p:cNvSpPr>
            <a:spLocks noGrp="1"/>
          </p:cNvSpPr>
          <p:nvPr/>
        </p:nvSpPr>
        <p:spPr>
          <a:xfrm>
            <a:off x="6400800" y="5619750"/>
            <a:ext cx="8191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350" b="1">
                <a:solidFill>
                  <a:srgbClr val="FF7B72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350" b="1">
                <a:solidFill>
                  <a:srgbClr val="FF7B72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¥299</a:t>
            </a:r>
            <a:endParaRPr sz="1350" b="1">
              <a:solidFill>
                <a:srgbClr val="FF7B72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98" name="圆角矩形 97"/>
          <p:cNvSpPr>
            <a:spLocks noGrp="1"/>
          </p:cNvSpPr>
          <p:nvPr/>
        </p:nvSpPr>
        <p:spPr>
          <a:xfrm>
            <a:off x="5505450" y="6819900"/>
            <a:ext cx="2705100" cy="361950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99" name="矩形 98"/>
          <p:cNvSpPr>
            <a:spLocks noGrp="1"/>
          </p:cNvSpPr>
          <p:nvPr/>
        </p:nvSpPr>
        <p:spPr>
          <a:xfrm>
            <a:off x="5715000" y="6896100"/>
            <a:ext cx="228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975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文字 · 图片 · 语音</a:t>
            </a:r>
            <a:endParaRPr sz="975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圆角矩形 99"/>
          <p:cNvSpPr>
            <a:spLocks noGrp="1"/>
          </p:cNvSpPr>
          <p:nvPr/>
        </p:nvSpPr>
        <p:spPr>
          <a:xfrm>
            <a:off x="9477375" y="2286000"/>
            <a:ext cx="3429000" cy="5143500"/>
          </a:xfrm>
          <a:prstGeom prst="roundRect">
            <a:avLst>
              <a:gd name="adj" fmla="val 10556"/>
            </a:avLst>
          </a:prstGeom>
          <a:solidFill>
            <a:srgbClr val="05070D"/>
          </a:solidFill>
          <a:ln w="19050">
            <a:solidFill>
              <a:srgbClr val="30363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sp>
        <p:nvSpPr>
          <p:cNvPr id="101" name="圆角矩形 100"/>
          <p:cNvSpPr>
            <a:spLocks noGrp="1"/>
          </p:cNvSpPr>
          <p:nvPr/>
        </p:nvSpPr>
        <p:spPr>
          <a:xfrm>
            <a:off x="9620250" y="2428875"/>
            <a:ext cx="3143250" cy="4857750"/>
          </a:xfrm>
          <a:prstGeom prst="roundRect">
            <a:avLst>
              <a:gd name="adj" fmla="val 8485"/>
            </a:avLst>
          </a:prstGeom>
          <a:solidFill>
            <a:srgbClr val="0D111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02" name="矩形 101"/>
          <p:cNvSpPr>
            <a:spLocks noGrp="1"/>
          </p:cNvSpPr>
          <p:nvPr/>
        </p:nvSpPr>
        <p:spPr>
          <a:xfrm>
            <a:off x="9801225" y="264795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购物车</a:t>
            </a:r>
            <a:endParaRPr sz="150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直接连接符 102"/>
          <p:cNvSpPr>
            <a:spLocks noGrp="1"/>
          </p:cNvSpPr>
          <p:nvPr/>
        </p:nvSpPr>
        <p:spPr>
          <a:xfrm>
            <a:off x="9763125" y="3067050"/>
            <a:ext cx="28575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04" name="圆角矩形 103"/>
          <p:cNvSpPr>
            <a:spLocks noGrp="1"/>
          </p:cNvSpPr>
          <p:nvPr/>
        </p:nvSpPr>
        <p:spPr>
          <a:xfrm>
            <a:off x="9839325" y="3486150"/>
            <a:ext cx="2705100" cy="990600"/>
          </a:xfrm>
          <a:prstGeom prst="roundRect">
            <a:avLst>
              <a:gd name="adj" fmla="val 1730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05" name="圆角矩形 104"/>
          <p:cNvSpPr>
            <a:spLocks noGrp="1"/>
          </p:cNvSpPr>
          <p:nvPr/>
        </p:nvSpPr>
        <p:spPr>
          <a:xfrm>
            <a:off x="10010775" y="3676650"/>
            <a:ext cx="590550" cy="590550"/>
          </a:xfrm>
          <a:prstGeom prst="roundRect">
            <a:avLst>
              <a:gd name="adj" fmla="val 19355"/>
            </a:avLst>
          </a:prstGeom>
          <a:gradFill>
            <a:gsLst>
              <a:gs pos="0">
                <a:srgbClr val="60A5FA"/>
              </a:gs>
              <a:gs pos="100000">
                <a:srgbClr val="A855F7"/>
              </a:gs>
            </a:gsLst>
            <a:lin ang="8100000"/>
          </a:gradFill>
          <a:ln w="0">
            <a:noFill/>
            <a:prstDash val="solid"/>
          </a:ln>
        </p:spPr>
      </p:sp>
      <p:sp>
        <p:nvSpPr>
          <p:cNvPr id="106" name="矩形 105"/>
          <p:cNvSpPr>
            <a:spLocks noGrp="1"/>
          </p:cNvSpPr>
          <p:nvPr/>
        </p:nvSpPr>
        <p:spPr>
          <a:xfrm>
            <a:off x="10772775" y="36766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QCY 耳机</a:t>
            </a:r>
            <a:endParaRPr sz="1275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矩形 106"/>
          <p:cNvSpPr>
            <a:spLocks noGrp="1"/>
          </p:cNvSpPr>
          <p:nvPr/>
        </p:nvSpPr>
        <p:spPr>
          <a:xfrm>
            <a:off x="10772775" y="40195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¥299 × 1</a:t>
            </a:r>
            <a:endParaRPr sz="120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椭圆 107"/>
          <p:cNvSpPr>
            <a:spLocks noGrp="1"/>
          </p:cNvSpPr>
          <p:nvPr/>
        </p:nvSpPr>
        <p:spPr>
          <a:xfrm>
            <a:off x="12258675" y="3848100"/>
            <a:ext cx="228600" cy="228600"/>
          </a:xfrm>
          <a:prstGeom prst="ellipse">
            <a:avLst/>
          </a:prstGeom>
          <a:solidFill>
            <a:srgbClr val="34D399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09" name="圆角矩形 108"/>
          <p:cNvSpPr>
            <a:spLocks noGrp="1"/>
          </p:cNvSpPr>
          <p:nvPr/>
        </p:nvSpPr>
        <p:spPr>
          <a:xfrm>
            <a:off x="9839325" y="4743450"/>
            <a:ext cx="2705100" cy="990600"/>
          </a:xfrm>
          <a:prstGeom prst="roundRect">
            <a:avLst>
              <a:gd name="adj" fmla="val 1730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0" name="圆角矩形 109"/>
          <p:cNvSpPr>
            <a:spLocks noGrp="1"/>
          </p:cNvSpPr>
          <p:nvPr/>
        </p:nvSpPr>
        <p:spPr>
          <a:xfrm>
            <a:off x="10010775" y="4933950"/>
            <a:ext cx="590550" cy="590550"/>
          </a:xfrm>
          <a:prstGeom prst="roundRect">
            <a:avLst>
              <a:gd name="adj" fmla="val 19355"/>
            </a:avLst>
          </a:prstGeom>
          <a:gradFill>
            <a:gsLst>
              <a:gs pos="0">
                <a:srgbClr val="60A5FA"/>
              </a:gs>
              <a:gs pos="100000">
                <a:srgbClr val="A855F7"/>
              </a:gs>
            </a:gsLst>
            <a:lin ang="8100000"/>
          </a:gradFill>
          <a:ln w="0">
            <a:noFill/>
            <a:prstDash val="solid"/>
          </a:ln>
        </p:spPr>
      </p:sp>
      <p:sp>
        <p:nvSpPr>
          <p:cNvPr id="111" name="矩形 110"/>
          <p:cNvSpPr>
            <a:spLocks noGrp="1"/>
          </p:cNvSpPr>
          <p:nvPr/>
        </p:nvSpPr>
        <p:spPr>
          <a:xfrm>
            <a:off x="10772775" y="49339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防晒霜</a:t>
            </a:r>
            <a:endParaRPr sz="1275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矩形 111"/>
          <p:cNvSpPr>
            <a:spLocks noGrp="1"/>
          </p:cNvSpPr>
          <p:nvPr/>
        </p:nvSpPr>
        <p:spPr>
          <a:xfrm>
            <a:off x="10772775" y="52768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¥89 × 2</a:t>
            </a:r>
            <a:endParaRPr sz="120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椭圆 112"/>
          <p:cNvSpPr>
            <a:spLocks noGrp="1"/>
          </p:cNvSpPr>
          <p:nvPr/>
        </p:nvSpPr>
        <p:spPr>
          <a:xfrm>
            <a:off x="12258675" y="5105400"/>
            <a:ext cx="228600" cy="228600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30363D"/>
            </a:solidFill>
            <a:prstDash val="solid"/>
          </a:ln>
        </p:spPr>
      </p:sp>
      <p:sp>
        <p:nvSpPr>
          <p:cNvPr id="114" name="圆角矩形 113"/>
          <p:cNvSpPr>
            <a:spLocks noGrp="1"/>
          </p:cNvSpPr>
          <p:nvPr/>
        </p:nvSpPr>
        <p:spPr>
          <a:xfrm>
            <a:off x="9839325" y="6000750"/>
            <a:ext cx="2705100" cy="990600"/>
          </a:xfrm>
          <a:prstGeom prst="roundRect">
            <a:avLst>
              <a:gd name="adj" fmla="val 17308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15" name="圆角矩形 114"/>
          <p:cNvSpPr>
            <a:spLocks noGrp="1"/>
          </p:cNvSpPr>
          <p:nvPr/>
        </p:nvSpPr>
        <p:spPr>
          <a:xfrm>
            <a:off x="10010775" y="6191250"/>
            <a:ext cx="590550" cy="590550"/>
          </a:xfrm>
          <a:prstGeom prst="roundRect">
            <a:avLst>
              <a:gd name="adj" fmla="val 19355"/>
            </a:avLst>
          </a:prstGeom>
          <a:gradFill>
            <a:gsLst>
              <a:gs pos="0">
                <a:srgbClr val="60A5FA"/>
              </a:gs>
              <a:gs pos="100000">
                <a:srgbClr val="A855F7"/>
              </a:gs>
            </a:gsLst>
            <a:lin ang="8100000"/>
          </a:gradFill>
          <a:ln w="0">
            <a:noFill/>
            <a:prstDash val="solid"/>
          </a:ln>
        </p:spPr>
      </p:sp>
      <p:sp>
        <p:nvSpPr>
          <p:cNvPr id="116" name="矩形 115"/>
          <p:cNvSpPr>
            <a:spLocks noGrp="1"/>
          </p:cNvSpPr>
          <p:nvPr/>
        </p:nvSpPr>
        <p:spPr>
          <a:xfrm>
            <a:off x="10772775" y="61912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运动水杯</a:t>
            </a:r>
            <a:endParaRPr sz="1275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" name="矩形 116"/>
          <p:cNvSpPr>
            <a:spLocks noGrp="1"/>
          </p:cNvSpPr>
          <p:nvPr/>
        </p:nvSpPr>
        <p:spPr>
          <a:xfrm>
            <a:off x="10772775" y="65341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¥59 × 1</a:t>
            </a:r>
            <a:endParaRPr sz="120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椭圆 117"/>
          <p:cNvSpPr>
            <a:spLocks noGrp="1"/>
          </p:cNvSpPr>
          <p:nvPr/>
        </p:nvSpPr>
        <p:spPr>
          <a:xfrm>
            <a:off x="12258675" y="6362700"/>
            <a:ext cx="228600" cy="228600"/>
          </a:xfrm>
          <a:prstGeom prst="ellipse">
            <a:avLst/>
          </a:prstGeom>
          <a:solidFill>
            <a:srgbClr val="34D399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19" name="圆角矩形 118"/>
          <p:cNvSpPr>
            <a:spLocks noGrp="1"/>
          </p:cNvSpPr>
          <p:nvPr/>
        </p:nvSpPr>
        <p:spPr>
          <a:xfrm>
            <a:off x="13811250" y="2286000"/>
            <a:ext cx="3429000" cy="5143500"/>
          </a:xfrm>
          <a:prstGeom prst="roundRect">
            <a:avLst>
              <a:gd name="adj" fmla="val 10556"/>
            </a:avLst>
          </a:prstGeom>
          <a:solidFill>
            <a:srgbClr val="05070D"/>
          </a:solidFill>
          <a:ln w="19050">
            <a:solidFill>
              <a:srgbClr val="30363D"/>
            </a:solidFill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</p:sp>
      <p:sp>
        <p:nvSpPr>
          <p:cNvPr id="120" name="圆角矩形 119"/>
          <p:cNvSpPr>
            <a:spLocks noGrp="1"/>
          </p:cNvSpPr>
          <p:nvPr/>
        </p:nvSpPr>
        <p:spPr>
          <a:xfrm>
            <a:off x="13954125" y="2428875"/>
            <a:ext cx="3143250" cy="4857750"/>
          </a:xfrm>
          <a:prstGeom prst="roundRect">
            <a:avLst>
              <a:gd name="adj" fmla="val 8485"/>
            </a:avLst>
          </a:prstGeom>
          <a:solidFill>
            <a:srgbClr val="0D1117"/>
          </a:solidFill>
          <a:ln w="9525">
            <a:solidFill>
              <a:srgbClr val="1F2937"/>
            </a:solidFill>
            <a:prstDash val="solid"/>
          </a:ln>
        </p:spPr>
      </p:sp>
      <p:sp>
        <p:nvSpPr>
          <p:cNvPr id="121" name="矩形 120"/>
          <p:cNvSpPr>
            <a:spLocks noGrp="1"/>
          </p:cNvSpPr>
          <p:nvPr/>
        </p:nvSpPr>
        <p:spPr>
          <a:xfrm>
            <a:off x="14135100" y="2647950"/>
            <a:ext cx="2781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5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我的</a:t>
            </a:r>
            <a:endParaRPr sz="150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2" name="直接连接符 121"/>
          <p:cNvSpPr>
            <a:spLocks noGrp="1"/>
          </p:cNvSpPr>
          <p:nvPr/>
        </p:nvSpPr>
        <p:spPr>
          <a:xfrm>
            <a:off x="14097000" y="3067050"/>
            <a:ext cx="2857500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123" name="圆角矩形 122"/>
          <p:cNvSpPr>
            <a:spLocks noGrp="1"/>
          </p:cNvSpPr>
          <p:nvPr/>
        </p:nvSpPr>
        <p:spPr>
          <a:xfrm>
            <a:off x="14173200" y="3429000"/>
            <a:ext cx="2705100" cy="952500"/>
          </a:xfrm>
          <a:prstGeom prst="roundRect">
            <a:avLst>
              <a:gd name="adj" fmla="val 20000"/>
            </a:avLst>
          </a:prstGeom>
          <a:gradFill>
            <a:gsLst>
              <a:gs pos="0">
                <a:srgbClr val="1F6FEB">
                  <a:alpha val="32000"/>
                </a:srgbClr>
              </a:gs>
              <a:gs pos="100000">
                <a:srgbClr val="A855F7">
                  <a:alpha val="24000"/>
                </a:srgbClr>
              </a:gs>
            </a:gsLst>
            <a:lin ang="8100000"/>
          </a:gradFill>
          <a:ln w="9525">
            <a:solidFill>
              <a:srgbClr val="30363D"/>
            </a:solidFill>
            <a:prstDash val="solid"/>
          </a:ln>
        </p:spPr>
      </p:sp>
      <p:sp>
        <p:nvSpPr>
          <p:cNvPr id="124" name="矩形 123"/>
          <p:cNvSpPr>
            <a:spLocks noGrp="1"/>
          </p:cNvSpPr>
          <p:nvPr/>
        </p:nvSpPr>
        <p:spPr>
          <a:xfrm>
            <a:off x="14363700" y="3695700"/>
            <a:ext cx="2324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5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Theodore · 已登录</a:t>
            </a:r>
            <a:endParaRPr sz="150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5" name="圆角矩形 124"/>
          <p:cNvSpPr>
            <a:spLocks noGrp="1"/>
          </p:cNvSpPr>
          <p:nvPr/>
        </p:nvSpPr>
        <p:spPr>
          <a:xfrm>
            <a:off x="14211300" y="4724400"/>
            <a:ext cx="2628900" cy="495300"/>
          </a:xfrm>
          <a:prstGeom prst="roundRect">
            <a:avLst>
              <a:gd name="adj" fmla="val 2692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 lIns="190500" tIns="57150" rIns="152400" bIns="57150" anchor="ctr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地址管理</a:t>
            </a:r>
            <a:endParaRPr sz="13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6" name="圆角矩形 125"/>
          <p:cNvSpPr>
            <a:spLocks noGrp="1"/>
          </p:cNvSpPr>
          <p:nvPr/>
        </p:nvSpPr>
        <p:spPr>
          <a:xfrm>
            <a:off x="14211300" y="5429250"/>
            <a:ext cx="2628900" cy="495300"/>
          </a:xfrm>
          <a:prstGeom prst="roundRect">
            <a:avLst>
              <a:gd name="adj" fmla="val 2692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 lIns="190500" tIns="57150" rIns="152400" bIns="57150" anchor="ctr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购物偏好</a:t>
            </a:r>
            <a:endParaRPr sz="13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" name="圆角矩形 126"/>
          <p:cNvSpPr>
            <a:spLocks noGrp="1"/>
          </p:cNvSpPr>
          <p:nvPr/>
        </p:nvSpPr>
        <p:spPr>
          <a:xfrm>
            <a:off x="14211300" y="6134100"/>
            <a:ext cx="2628900" cy="495300"/>
          </a:xfrm>
          <a:prstGeom prst="roundRect">
            <a:avLst>
              <a:gd name="adj" fmla="val 2692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 lIns="190500" tIns="57150" rIns="152400" bIns="57150" anchor="ctr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订单查询</a:t>
            </a:r>
            <a:endParaRPr sz="13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8" name="圆角矩形 127"/>
          <p:cNvSpPr>
            <a:spLocks noGrp="1"/>
          </p:cNvSpPr>
          <p:nvPr/>
        </p:nvSpPr>
        <p:spPr>
          <a:xfrm>
            <a:off x="14211300" y="6838950"/>
            <a:ext cx="2628900" cy="495300"/>
          </a:xfrm>
          <a:prstGeom prst="roundRect">
            <a:avLst>
              <a:gd name="adj" fmla="val 26923"/>
            </a:avLst>
          </a:prstGeom>
          <a:solidFill>
            <a:srgbClr val="161B22"/>
          </a:solidFill>
          <a:ln w="9525">
            <a:solidFill>
              <a:srgbClr val="30363D"/>
            </a:solidFill>
            <a:prstDash val="solid"/>
          </a:ln>
        </p:spPr>
        <p:txBody>
          <a:bodyPr lIns="190500" tIns="57150" rIns="152400" bIns="57150" anchor="ctr"/>
          <a:lstStyle/>
          <a:p>
            <a:pPr algn="l">
              <a:lnSpc>
                <a:spcPct val="105000"/>
              </a:lnSpc>
              <a:buNone/>
              <a:def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</a:t>
            </a:r>
            <a:endParaRPr sz="13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9" name="圆角矩形 128"/>
          <p:cNvSpPr>
            <a:spLocks noGrp="1"/>
          </p:cNvSpPr>
          <p:nvPr/>
        </p:nvSpPr>
        <p:spPr>
          <a:xfrm>
            <a:off x="1524000" y="7810500"/>
            <a:ext cx="4286250" cy="883285"/>
          </a:xfrm>
          <a:prstGeom prst="roundRect">
            <a:avLst>
              <a:gd name="adj" fmla="val 19512"/>
            </a:avLst>
          </a:prstGeom>
          <a:solidFill>
            <a:srgbClr val="161B22">
              <a:alpha val="9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30" name="矩形 129"/>
          <p:cNvSpPr>
            <a:spLocks noGrp="1"/>
          </p:cNvSpPr>
          <p:nvPr/>
        </p:nvSpPr>
        <p:spPr>
          <a:xfrm>
            <a:off x="1524000" y="7810500"/>
            <a:ext cx="66675" cy="781050"/>
          </a:xfrm>
          <a:prstGeom prst="rect">
            <a:avLst/>
          </a:prstGeom>
          <a:solidFill>
            <a:srgbClr val="00D4FF"/>
          </a:solidFill>
          <a:ln w="0">
            <a:noFill/>
            <a:prstDash val="solid"/>
          </a:ln>
        </p:spPr>
      </p:sp>
      <p:sp>
        <p:nvSpPr>
          <p:cNvPr id="131" name="矩形 130"/>
          <p:cNvSpPr>
            <a:spLocks noGrp="1"/>
          </p:cNvSpPr>
          <p:nvPr/>
        </p:nvSpPr>
        <p:spPr>
          <a:xfrm>
            <a:off x="1771650" y="7948295"/>
            <a:ext cx="3829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文字输入</a:t>
            </a:r>
            <a:endParaRPr sz="16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2" name="矩形 131"/>
          <p:cNvSpPr>
            <a:spLocks noGrp="1"/>
          </p:cNvSpPr>
          <p:nvPr/>
        </p:nvSpPr>
        <p:spPr>
          <a:xfrm>
            <a:off x="1771650" y="8291195"/>
            <a:ext cx="3790950" cy="38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自然语言描述需求</a:t>
            </a:r>
            <a:endParaRPr sz="13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3" name="圆角矩形 132"/>
          <p:cNvSpPr>
            <a:spLocks noGrp="1"/>
          </p:cNvSpPr>
          <p:nvPr/>
        </p:nvSpPr>
        <p:spPr>
          <a:xfrm>
            <a:off x="6858000" y="7810500"/>
            <a:ext cx="4286250" cy="882650"/>
          </a:xfrm>
          <a:prstGeom prst="roundRect">
            <a:avLst>
              <a:gd name="adj" fmla="val 19512"/>
            </a:avLst>
          </a:prstGeom>
          <a:solidFill>
            <a:srgbClr val="161B22">
              <a:alpha val="9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34" name="矩形 133"/>
          <p:cNvSpPr>
            <a:spLocks noGrp="1"/>
          </p:cNvSpPr>
          <p:nvPr/>
        </p:nvSpPr>
        <p:spPr>
          <a:xfrm>
            <a:off x="6858000" y="7810500"/>
            <a:ext cx="66675" cy="781050"/>
          </a:xfrm>
          <a:prstGeom prst="rect">
            <a:avLst/>
          </a:prstGeom>
          <a:solidFill>
            <a:srgbClr val="A855F7"/>
          </a:solidFill>
          <a:ln w="0">
            <a:noFill/>
            <a:prstDash val="solid"/>
          </a:ln>
        </p:spPr>
      </p:sp>
      <p:sp>
        <p:nvSpPr>
          <p:cNvPr id="135" name="矩形 134"/>
          <p:cNvSpPr>
            <a:spLocks noGrp="1"/>
          </p:cNvSpPr>
          <p:nvPr/>
        </p:nvSpPr>
        <p:spPr>
          <a:xfrm>
            <a:off x="7105650" y="7948295"/>
            <a:ext cx="3829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拍照识图</a:t>
            </a:r>
            <a:endParaRPr sz="16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6" name="矩形 135"/>
          <p:cNvSpPr>
            <a:spLocks noGrp="1"/>
          </p:cNvSpPr>
          <p:nvPr/>
        </p:nvSpPr>
        <p:spPr>
          <a:xfrm>
            <a:off x="7105650" y="8291195"/>
            <a:ext cx="3790950" cy="38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Photo Picker 选图</a:t>
            </a:r>
            <a:endParaRPr sz="13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7" name="圆角矩形 136"/>
          <p:cNvSpPr>
            <a:spLocks noGrp="1"/>
          </p:cNvSpPr>
          <p:nvPr/>
        </p:nvSpPr>
        <p:spPr>
          <a:xfrm>
            <a:off x="12192000" y="7810500"/>
            <a:ext cx="4286250" cy="882650"/>
          </a:xfrm>
          <a:prstGeom prst="roundRect">
            <a:avLst>
              <a:gd name="adj" fmla="val 19512"/>
            </a:avLst>
          </a:prstGeom>
          <a:solidFill>
            <a:srgbClr val="161B22">
              <a:alpha val="9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38" name="矩形 137"/>
          <p:cNvSpPr>
            <a:spLocks noGrp="1"/>
          </p:cNvSpPr>
          <p:nvPr/>
        </p:nvSpPr>
        <p:spPr>
          <a:xfrm>
            <a:off x="12192000" y="7810500"/>
            <a:ext cx="66675" cy="781050"/>
          </a:xfrm>
          <a:prstGeom prst="rect">
            <a:avLst/>
          </a:prstGeom>
          <a:solidFill>
            <a:srgbClr val="34D399"/>
          </a:solidFill>
          <a:ln w="0">
            <a:noFill/>
            <a:prstDash val="solid"/>
          </a:ln>
        </p:spPr>
      </p:sp>
      <p:sp>
        <p:nvSpPr>
          <p:cNvPr id="139" name="矩形 138"/>
          <p:cNvSpPr>
            <a:spLocks noGrp="1"/>
          </p:cNvSpPr>
          <p:nvPr/>
        </p:nvSpPr>
        <p:spPr>
          <a:xfrm>
            <a:off x="12439650" y="7948295"/>
            <a:ext cx="3829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6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语音导购</a:t>
            </a:r>
            <a:endParaRPr sz="16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0" name="矩形 139"/>
          <p:cNvSpPr>
            <a:spLocks noGrp="1"/>
          </p:cNvSpPr>
          <p:nvPr/>
        </p:nvSpPr>
        <p:spPr>
          <a:xfrm>
            <a:off x="12439650" y="8291195"/>
            <a:ext cx="3790950" cy="38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  <a:buNone/>
              <a:def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长按录音 → ASR → TTS</a:t>
            </a:r>
            <a:endParaRPr sz="1350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1" name="圆角矩形 140"/>
          <p:cNvSpPr>
            <a:spLocks noGrp="1"/>
          </p:cNvSpPr>
          <p:nvPr/>
        </p:nvSpPr>
        <p:spPr>
          <a:xfrm>
            <a:off x="1762125" y="8839200"/>
            <a:ext cx="2952750" cy="666750"/>
          </a:xfrm>
          <a:prstGeom prst="roundRect">
            <a:avLst>
              <a:gd name="adj" fmla="val 20000"/>
            </a:avLst>
          </a:prstGeom>
          <a:solidFill>
            <a:srgbClr val="161B22">
              <a:alpha val="8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2" name="矩形 141"/>
          <p:cNvSpPr>
            <a:spLocks noGrp="1"/>
          </p:cNvSpPr>
          <p:nvPr/>
        </p:nvSpPr>
        <p:spPr>
          <a:xfrm>
            <a:off x="1933575" y="9010650"/>
            <a:ext cx="2609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30+ API端点</a:t>
            </a:r>
            <a:endParaRPr sz="1800" b="1">
              <a:solidFill>
                <a:srgbClr val="00D4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43" name="矩形 142"/>
          <p:cNvSpPr>
            <a:spLocks noGrp="1"/>
          </p:cNvSpPr>
          <p:nvPr/>
        </p:nvSpPr>
        <p:spPr>
          <a:xfrm>
            <a:off x="1933575" y="9486900"/>
            <a:ext cx="2609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后端能力</a:t>
            </a:r>
            <a:endParaRPr sz="105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4" name="圆角矩形 143"/>
          <p:cNvSpPr>
            <a:spLocks noGrp="1"/>
          </p:cNvSpPr>
          <p:nvPr/>
        </p:nvSpPr>
        <p:spPr>
          <a:xfrm>
            <a:off x="5667375" y="8839200"/>
            <a:ext cx="2952750" cy="666750"/>
          </a:xfrm>
          <a:prstGeom prst="roundRect">
            <a:avLst>
              <a:gd name="adj" fmla="val 20000"/>
            </a:avLst>
          </a:prstGeom>
          <a:solidFill>
            <a:srgbClr val="161B22">
              <a:alpha val="8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5" name="矩形 144"/>
          <p:cNvSpPr>
            <a:spLocks noGrp="1"/>
          </p:cNvSpPr>
          <p:nvPr/>
        </p:nvSpPr>
        <p:spPr>
          <a:xfrm>
            <a:off x="5838825" y="9010650"/>
            <a:ext cx="2609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17 路由模块</a:t>
            </a:r>
            <a:endParaRPr sz="1800" b="1">
              <a:solidFill>
                <a:srgbClr val="00D4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46" name="矩形 145"/>
          <p:cNvSpPr>
            <a:spLocks noGrp="1"/>
          </p:cNvSpPr>
          <p:nvPr/>
        </p:nvSpPr>
        <p:spPr>
          <a:xfrm>
            <a:off x="5838825" y="9486900"/>
            <a:ext cx="2609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客户端导航</a:t>
            </a:r>
            <a:endParaRPr sz="105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7" name="圆角矩形 146"/>
          <p:cNvSpPr>
            <a:spLocks noGrp="1"/>
          </p:cNvSpPr>
          <p:nvPr/>
        </p:nvSpPr>
        <p:spPr>
          <a:xfrm>
            <a:off x="9572625" y="8839200"/>
            <a:ext cx="2952750" cy="666750"/>
          </a:xfrm>
          <a:prstGeom prst="roundRect">
            <a:avLst>
              <a:gd name="adj" fmla="val 20000"/>
            </a:avLst>
          </a:prstGeom>
          <a:solidFill>
            <a:srgbClr val="161B22">
              <a:alpha val="8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48" name="矩形 147"/>
          <p:cNvSpPr>
            <a:spLocks noGrp="1"/>
          </p:cNvSpPr>
          <p:nvPr/>
        </p:nvSpPr>
        <p:spPr>
          <a:xfrm>
            <a:off x="9744075" y="9010650"/>
            <a:ext cx="2609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Release APK 2.4MB</a:t>
            </a:r>
            <a:endParaRPr sz="1800" b="1">
              <a:solidFill>
                <a:srgbClr val="00D4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49" name="矩形 148"/>
          <p:cNvSpPr>
            <a:spLocks noGrp="1"/>
          </p:cNvSpPr>
          <p:nvPr/>
        </p:nvSpPr>
        <p:spPr>
          <a:xfrm>
            <a:off x="9744075" y="9486900"/>
            <a:ext cx="2609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安装包</a:t>
            </a:r>
            <a:endParaRPr sz="105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0" name="圆角矩形 149"/>
          <p:cNvSpPr>
            <a:spLocks noGrp="1"/>
          </p:cNvSpPr>
          <p:nvPr/>
        </p:nvSpPr>
        <p:spPr>
          <a:xfrm>
            <a:off x="13477875" y="8839200"/>
            <a:ext cx="2952750" cy="666750"/>
          </a:xfrm>
          <a:prstGeom prst="roundRect">
            <a:avLst>
              <a:gd name="adj" fmla="val 20000"/>
            </a:avLst>
          </a:prstGeom>
          <a:solidFill>
            <a:srgbClr val="161B22">
              <a:alpha val="82000"/>
            </a:srgbClr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151" name="矩形 150"/>
          <p:cNvSpPr>
            <a:spLocks noGrp="1"/>
          </p:cNvSpPr>
          <p:nvPr/>
        </p:nvSpPr>
        <p:spPr>
          <a:xfrm>
            <a:off x="13649325" y="9010650"/>
            <a:ext cx="2609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80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54 单元测试</a:t>
            </a:r>
            <a:endParaRPr sz="1800" b="1">
              <a:solidFill>
                <a:srgbClr val="00D4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152" name="矩形 151"/>
          <p:cNvSpPr>
            <a:spLocks noGrp="1"/>
          </p:cNvSpPr>
          <p:nvPr/>
        </p:nvSpPr>
        <p:spPr>
          <a:xfrm>
            <a:off x="13649325" y="9486900"/>
            <a:ext cx="2609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0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质量门禁</a:t>
            </a:r>
            <a:endParaRPr sz="105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3" name="图片 1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3010" y="2335530"/>
            <a:ext cx="2698115" cy="5034915"/>
          </a:xfrm>
          <a:prstGeom prst="roundRect">
            <a:avLst/>
          </a:prstGeom>
        </p:spPr>
      </p:pic>
      <p:pic>
        <p:nvPicPr>
          <p:cNvPr id="154" name="图片 1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3550" y="2335530"/>
            <a:ext cx="2667000" cy="5035550"/>
          </a:xfrm>
          <a:prstGeom prst="roundRect">
            <a:avLst/>
          </a:prstGeom>
        </p:spPr>
      </p:pic>
      <p:pic>
        <p:nvPicPr>
          <p:cNvPr id="155" name="图片 1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0115" y="2335530"/>
            <a:ext cx="2711450" cy="5035550"/>
          </a:xfrm>
          <a:prstGeom prst="roundRect">
            <a:avLst/>
          </a:prstGeom>
        </p:spPr>
      </p:pic>
      <p:pic>
        <p:nvPicPr>
          <p:cNvPr id="156" name="图片 15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11300" y="2335530"/>
            <a:ext cx="2724785" cy="5034915"/>
          </a:xfrm>
          <a:prstGeom prst="round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117"/>
              </a:gs>
              <a:gs pos="46000">
                <a:srgbClr val="11111F"/>
              </a:gs>
              <a:gs pos="100000">
                <a:srgbClr val="06151A"/>
              </a:gs>
            </a:gsLst>
            <a:lin ang="7800000"/>
          </a:gradFill>
          <a:ln w="0">
            <a:noFill/>
            <a:prstDash val="solid"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-3429000" y="-3143250"/>
            <a:ext cx="9334500" cy="8382000"/>
          </a:xfrm>
          <a:prstGeom prst="ellipse">
            <a:avLst/>
          </a:prstGeom>
          <a:gradFill>
            <a:gsLst>
              <a:gs pos="0">
                <a:srgbClr val="A855F7">
                  <a:alpha val="30000"/>
                </a:srgbClr>
              </a:gs>
              <a:gs pos="42000">
                <a:srgbClr val="7C3AED">
                  <a:alpha val="14000"/>
                </a:srgbClr>
              </a:gs>
              <a:gs pos="74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10572750" y="-2476500"/>
            <a:ext cx="9906000" cy="8572500"/>
          </a:xfrm>
          <a:prstGeom prst="ellipse">
            <a:avLst/>
          </a:prstGeom>
          <a:gradFill>
            <a:gsLst>
              <a:gs pos="0">
                <a:srgbClr val="60A5FA">
                  <a:alpha val="22000"/>
                </a:srgbClr>
              </a:gs>
              <a:gs pos="46000">
                <a:srgbClr val="00D4FF">
                  <a:alpha val="9000"/>
                </a:srgbClr>
              </a:gs>
              <a:gs pos="78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5715000" y="6477000"/>
            <a:ext cx="7810500" cy="4953000"/>
          </a:xfrm>
          <a:prstGeom prst="ellipse">
            <a:avLst/>
          </a:prstGeom>
          <a:gradFill>
            <a:gsLst>
              <a:gs pos="0">
                <a:srgbClr val="34D399">
                  <a:alpha val="13000"/>
                </a:srgbClr>
              </a:gs>
              <a:gs pos="72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71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143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714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2286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2857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3429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4000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4572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5143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5715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6286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6858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7429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8001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8572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9144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9715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10287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10858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11430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12001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12573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13144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13716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14287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14859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15430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16002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16573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17145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17716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18288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39" name="直接连接符 38"/>
          <p:cNvSpPr>
            <a:spLocks noGrp="1"/>
          </p:cNvSpPr>
          <p:nvPr/>
        </p:nvSpPr>
        <p:spPr>
          <a:xfrm>
            <a:off x="0" y="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0" y="571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0" y="1143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0" y="1714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3" name="直接连接符 42"/>
          <p:cNvSpPr>
            <a:spLocks noGrp="1"/>
          </p:cNvSpPr>
          <p:nvPr/>
        </p:nvSpPr>
        <p:spPr>
          <a:xfrm>
            <a:off x="0" y="2286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4" name="直接连接符 43"/>
          <p:cNvSpPr>
            <a:spLocks noGrp="1"/>
          </p:cNvSpPr>
          <p:nvPr/>
        </p:nvSpPr>
        <p:spPr>
          <a:xfrm>
            <a:off x="0" y="2857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5" name="直接连接符 44"/>
          <p:cNvSpPr>
            <a:spLocks noGrp="1"/>
          </p:cNvSpPr>
          <p:nvPr/>
        </p:nvSpPr>
        <p:spPr>
          <a:xfrm>
            <a:off x="0" y="3429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0" y="4000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0" y="4572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0" y="5143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49" name="直接连接符 48"/>
          <p:cNvSpPr>
            <a:spLocks noGrp="1"/>
          </p:cNvSpPr>
          <p:nvPr/>
        </p:nvSpPr>
        <p:spPr>
          <a:xfrm>
            <a:off x="0" y="5715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0" name="直接连接符 49"/>
          <p:cNvSpPr>
            <a:spLocks noGrp="1"/>
          </p:cNvSpPr>
          <p:nvPr/>
        </p:nvSpPr>
        <p:spPr>
          <a:xfrm>
            <a:off x="0" y="6286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1" name="直接连接符 50"/>
          <p:cNvSpPr>
            <a:spLocks noGrp="1"/>
          </p:cNvSpPr>
          <p:nvPr/>
        </p:nvSpPr>
        <p:spPr>
          <a:xfrm>
            <a:off x="0" y="6858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2" name="直接连接符 51"/>
          <p:cNvSpPr>
            <a:spLocks noGrp="1"/>
          </p:cNvSpPr>
          <p:nvPr/>
        </p:nvSpPr>
        <p:spPr>
          <a:xfrm>
            <a:off x="0" y="7429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3" name="直接连接符 52"/>
          <p:cNvSpPr>
            <a:spLocks noGrp="1"/>
          </p:cNvSpPr>
          <p:nvPr/>
        </p:nvSpPr>
        <p:spPr>
          <a:xfrm>
            <a:off x="0" y="8001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4" name="直接连接符 53"/>
          <p:cNvSpPr>
            <a:spLocks noGrp="1"/>
          </p:cNvSpPr>
          <p:nvPr/>
        </p:nvSpPr>
        <p:spPr>
          <a:xfrm>
            <a:off x="0" y="8572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5" name="直接连接符 54"/>
          <p:cNvSpPr>
            <a:spLocks noGrp="1"/>
          </p:cNvSpPr>
          <p:nvPr/>
        </p:nvSpPr>
        <p:spPr>
          <a:xfrm>
            <a:off x="0" y="9144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6" name="直接连接符 55"/>
          <p:cNvSpPr>
            <a:spLocks noGrp="1"/>
          </p:cNvSpPr>
          <p:nvPr/>
        </p:nvSpPr>
        <p:spPr>
          <a:xfrm>
            <a:off x="0" y="9715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7" name="直接连接符 56"/>
          <p:cNvSpPr>
            <a:spLocks noGrp="1"/>
          </p:cNvSpPr>
          <p:nvPr/>
        </p:nvSpPr>
        <p:spPr>
          <a:xfrm>
            <a:off x="0" y="10287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6000"/>
              </a:srgbClr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117">
                  <a:alpha val="0"/>
                </a:srgbClr>
              </a:gs>
              <a:gs pos="100000">
                <a:srgbClr val="0D1117">
                  <a:alpha val="4500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59" name="圆角矩形 58"/>
          <p:cNvSpPr>
            <a:spLocks noGrp="1"/>
          </p:cNvSpPr>
          <p:nvPr/>
        </p:nvSpPr>
        <p:spPr>
          <a:xfrm>
            <a:off x="819150" y="590550"/>
            <a:ext cx="4210050" cy="419100"/>
          </a:xfrm>
          <a:prstGeom prst="roundRect">
            <a:avLst>
              <a:gd name="adj" fmla="val 50000"/>
            </a:avLst>
          </a:prstGeom>
          <a:solidFill>
            <a:srgbClr val="A855F7">
              <a:alpha val="18000"/>
            </a:srgbClr>
          </a:solidFill>
          <a:ln w="9525">
            <a:solidFill>
              <a:srgbClr val="A855F7">
                <a:alpha val="55000"/>
              </a:srgbClr>
            </a:solidFill>
            <a:prstDash val="solid"/>
          </a:ln>
        </p:spPr>
        <p:txBody>
          <a:bodyPr lIns="152400" tIns="0" rIns="152400" bIns="0" anchor="ctr"/>
          <a:lstStyle/>
          <a:p>
            <a:pPr algn="ctr">
              <a:defRPr sz="13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C084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P15 · Differentiation</a:t>
            </a:r>
            <a:endParaRPr sz="1350" b="1">
              <a:solidFill>
                <a:srgbClr val="C084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819150" y="1123950"/>
            <a:ext cx="123825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95000"/>
              </a:lnSpc>
              <a:buNone/>
              <a:defRPr sz="4200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200" b="1">
                <a:gradFill>
                  <a:gsLst>
                    <a:gs pos="0">
                      <a:srgbClr val="A855F7"/>
                    </a:gs>
                    <a:gs pos="52000">
                      <a:srgbClr val="60A5FA"/>
                    </a:gs>
                    <a:gs pos="100000">
                      <a:srgbClr val="34D399"/>
                    </a:gs>
                  </a:gsLst>
                  <a:lin ang="0"/>
                </a:gra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OmniCart vs 传统方案</a:t>
            </a:r>
            <a:endParaRPr sz="4200" b="1">
              <a:gradFill>
                <a:gsLst>
                  <a:gs pos="0">
                    <a:srgbClr val="A855F7"/>
                  </a:gs>
                  <a:gs pos="52000">
                    <a:srgbClr val="60A5FA"/>
                  </a:gs>
                  <a:gs pos="100000">
                    <a:srgbClr val="34D399"/>
                  </a:gs>
                </a:gsLst>
                <a:lin ang="0"/>
              </a:gra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矩形 60"/>
          <p:cNvSpPr>
            <a:spLocks noGrp="1"/>
          </p:cNvSpPr>
          <p:nvPr/>
        </p:nvSpPr>
        <p:spPr>
          <a:xfrm>
            <a:off x="857250" y="1847850"/>
            <a:ext cx="1314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8B949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技术亮点与竞品对比</a:t>
            </a:r>
            <a:endParaRPr sz="1800" b="0">
              <a:solidFill>
                <a:srgbClr val="8B949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819150" y="96202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OmniCart Agent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16192500" y="96202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r">
              <a:lnSpc>
                <a:spcPct val="105000"/>
              </a:lnSpc>
              <a:buNone/>
              <a:def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275" b="0">
                <a:solidFill>
                  <a:srgbClr val="8B949E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15 / 16</a:t>
            </a:r>
            <a:endParaRPr sz="1275" b="0">
              <a:solidFill>
                <a:srgbClr val="8B949E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4" name="直接连接符 63"/>
          <p:cNvSpPr>
            <a:spLocks noGrp="1"/>
          </p:cNvSpPr>
          <p:nvPr/>
        </p:nvSpPr>
        <p:spPr>
          <a:xfrm>
            <a:off x="819150" y="9486900"/>
            <a:ext cx="16649700" cy="0"/>
          </a:xfrm>
          <a:prstGeom prst="line">
            <a:avLst/>
          </a:prstGeom>
          <a:noFill/>
          <a:ln w="9525">
            <a:solidFill>
              <a:srgbClr val="30363D">
                <a:alpha val="70000"/>
              </a:srgbClr>
            </a:solidFill>
            <a:prstDash val="solid"/>
          </a:ln>
        </p:spPr>
      </p:sp>
      <p:sp>
        <p:nvSpPr>
          <p:cNvPr id="65" name="圆角矩形 64"/>
          <p:cNvSpPr>
            <a:spLocks noGrp="1"/>
          </p:cNvSpPr>
          <p:nvPr/>
        </p:nvSpPr>
        <p:spPr>
          <a:xfrm>
            <a:off x="857250" y="2333625"/>
            <a:ext cx="2000250" cy="457200"/>
          </a:xfrm>
          <a:prstGeom prst="roundRect">
            <a:avLst>
              <a:gd name="adj" fmla="val 0"/>
            </a:avLst>
          </a:prstGeom>
          <a:solidFill>
            <a:srgbClr val="21262D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952500" y="2447925"/>
            <a:ext cx="1809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圆角矩形 66"/>
          <p:cNvSpPr>
            <a:spLocks noGrp="1"/>
          </p:cNvSpPr>
          <p:nvPr/>
        </p:nvSpPr>
        <p:spPr>
          <a:xfrm>
            <a:off x="2857500" y="2333625"/>
            <a:ext cx="3524250" cy="457200"/>
          </a:xfrm>
          <a:prstGeom prst="roundRect">
            <a:avLst>
              <a:gd name="adj" fmla="val 0"/>
            </a:avLst>
          </a:prstGeom>
          <a:solidFill>
            <a:srgbClr val="21262D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2952750" y="2447925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传统搜索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圆角矩形 68"/>
          <p:cNvSpPr>
            <a:spLocks noGrp="1"/>
          </p:cNvSpPr>
          <p:nvPr/>
        </p:nvSpPr>
        <p:spPr>
          <a:xfrm>
            <a:off x="6381750" y="2333625"/>
            <a:ext cx="3524250" cy="457200"/>
          </a:xfrm>
          <a:prstGeom prst="roundRect">
            <a:avLst>
              <a:gd name="adj" fmla="val 0"/>
            </a:avLst>
          </a:prstGeom>
          <a:solidFill>
            <a:srgbClr val="21262D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6477000" y="2447925"/>
            <a:ext cx="3333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传统AI客服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圆角矩形 70"/>
          <p:cNvSpPr>
            <a:spLocks noGrp="1"/>
          </p:cNvSpPr>
          <p:nvPr/>
        </p:nvSpPr>
        <p:spPr>
          <a:xfrm>
            <a:off x="9906000" y="2333625"/>
            <a:ext cx="7524750" cy="457200"/>
          </a:xfrm>
          <a:prstGeom prst="roundRect">
            <a:avLst>
              <a:gd name="adj" fmla="val 0"/>
            </a:avLst>
          </a:prstGeom>
          <a:solidFill>
            <a:srgbClr val="21262D"/>
          </a:solidFill>
          <a:ln w="9525">
            <a:solidFill>
              <a:srgbClr val="30363D"/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10001250" y="2447925"/>
            <a:ext cx="7334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OmniCart</a:t>
            </a:r>
            <a:endParaRPr sz="1350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圆角矩形 72"/>
          <p:cNvSpPr>
            <a:spLocks noGrp="1"/>
          </p:cNvSpPr>
          <p:nvPr/>
        </p:nvSpPr>
        <p:spPr>
          <a:xfrm>
            <a:off x="857250" y="2790825"/>
            <a:ext cx="2000250" cy="506186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971550" y="2886075"/>
            <a:ext cx="1771650" cy="334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endParaRPr sz="1275" b="1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圆角矩形 74"/>
          <p:cNvSpPr>
            <a:spLocks noGrp="1"/>
          </p:cNvSpPr>
          <p:nvPr/>
        </p:nvSpPr>
        <p:spPr>
          <a:xfrm>
            <a:off x="2857500" y="2790825"/>
            <a:ext cx="3524250" cy="506186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2971800" y="2886075"/>
            <a:ext cx="3295650" cy="334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关键词</a:t>
            </a:r>
            <a:endParaRPr sz="127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圆角矩形 76"/>
          <p:cNvSpPr>
            <a:spLocks noGrp="1"/>
          </p:cNvSpPr>
          <p:nvPr/>
        </p:nvSpPr>
        <p:spPr>
          <a:xfrm>
            <a:off x="6381750" y="2790825"/>
            <a:ext cx="3524250" cy="506186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78" name="矩形 77"/>
          <p:cNvSpPr>
            <a:spLocks noGrp="1"/>
          </p:cNvSpPr>
          <p:nvPr/>
        </p:nvSpPr>
        <p:spPr>
          <a:xfrm>
            <a:off x="6496050" y="2886075"/>
            <a:ext cx="3295650" cy="334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文字</a:t>
            </a:r>
            <a:endParaRPr sz="127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圆角矩形 78"/>
          <p:cNvSpPr>
            <a:spLocks noGrp="1"/>
          </p:cNvSpPr>
          <p:nvPr/>
        </p:nvSpPr>
        <p:spPr>
          <a:xfrm>
            <a:off x="9906000" y="2790825"/>
            <a:ext cx="7524750" cy="506186"/>
          </a:xfrm>
          <a:prstGeom prst="roundRect">
            <a:avLst>
              <a:gd name="adj" fmla="val 0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35000"/>
              </a:srgbClr>
            </a:solidFill>
            <a:prstDash val="solid"/>
          </a:ln>
        </p:spPr>
      </p:sp>
      <p:sp>
        <p:nvSpPr>
          <p:cNvPr id="80" name="矩形 79"/>
          <p:cNvSpPr>
            <a:spLocks noGrp="1"/>
          </p:cNvSpPr>
          <p:nvPr/>
        </p:nvSpPr>
        <p:spPr>
          <a:xfrm>
            <a:off x="10020300" y="2886075"/>
            <a:ext cx="7296150" cy="334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文字 + 拍照 + 语音</a:t>
            </a:r>
            <a:endParaRPr sz="1275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圆角矩形 80"/>
          <p:cNvSpPr>
            <a:spLocks noGrp="1"/>
          </p:cNvSpPr>
          <p:nvPr/>
        </p:nvSpPr>
        <p:spPr>
          <a:xfrm>
            <a:off x="857250" y="3297011"/>
            <a:ext cx="2000250" cy="506186"/>
          </a:xfrm>
          <a:prstGeom prst="roundRect">
            <a:avLst>
              <a:gd name="adj" fmla="val 0"/>
            </a:avLst>
          </a:prstGeom>
          <a:solidFill>
            <a:srgbClr val="0D1117">
              <a:alpha val="4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82" name="矩形 81"/>
          <p:cNvSpPr>
            <a:spLocks noGrp="1"/>
          </p:cNvSpPr>
          <p:nvPr/>
        </p:nvSpPr>
        <p:spPr>
          <a:xfrm>
            <a:off x="971550" y="3392261"/>
            <a:ext cx="1771650" cy="334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</a:t>
            </a:r>
            <a:endParaRPr sz="1275" b="1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圆角矩形 82"/>
          <p:cNvSpPr>
            <a:spLocks noGrp="1"/>
          </p:cNvSpPr>
          <p:nvPr/>
        </p:nvSpPr>
        <p:spPr>
          <a:xfrm>
            <a:off x="2857500" y="3297011"/>
            <a:ext cx="3524250" cy="506186"/>
          </a:xfrm>
          <a:prstGeom prst="roundRect">
            <a:avLst>
              <a:gd name="adj" fmla="val 0"/>
            </a:avLst>
          </a:prstGeom>
          <a:solidFill>
            <a:srgbClr val="0D1117">
              <a:alpha val="4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84" name="矩形 83"/>
          <p:cNvSpPr>
            <a:spLocks noGrp="1"/>
          </p:cNvSpPr>
          <p:nvPr/>
        </p:nvSpPr>
        <p:spPr>
          <a:xfrm>
            <a:off x="2971800" y="3392261"/>
            <a:ext cx="3295650" cy="334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人工翻列表</a:t>
            </a:r>
            <a:endParaRPr sz="127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圆角矩形 84"/>
          <p:cNvSpPr>
            <a:spLocks noGrp="1"/>
          </p:cNvSpPr>
          <p:nvPr/>
        </p:nvSpPr>
        <p:spPr>
          <a:xfrm>
            <a:off x="6381750" y="3297011"/>
            <a:ext cx="3524250" cy="506186"/>
          </a:xfrm>
          <a:prstGeom prst="roundRect">
            <a:avLst>
              <a:gd name="adj" fmla="val 0"/>
            </a:avLst>
          </a:prstGeom>
          <a:solidFill>
            <a:srgbClr val="0D1117">
              <a:alpha val="4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86" name="矩形 85"/>
          <p:cNvSpPr>
            <a:spLocks noGrp="1"/>
          </p:cNvSpPr>
          <p:nvPr/>
        </p:nvSpPr>
        <p:spPr>
          <a:xfrm>
            <a:off x="6496050" y="3392261"/>
            <a:ext cx="3295650" cy="334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黑盒推荐</a:t>
            </a:r>
            <a:endParaRPr sz="127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圆角矩形 86"/>
          <p:cNvSpPr>
            <a:spLocks noGrp="1"/>
          </p:cNvSpPr>
          <p:nvPr/>
        </p:nvSpPr>
        <p:spPr>
          <a:xfrm>
            <a:off x="9906000" y="3297011"/>
            <a:ext cx="7524750" cy="506186"/>
          </a:xfrm>
          <a:prstGeom prst="roundRect">
            <a:avLst>
              <a:gd name="adj" fmla="val 0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35000"/>
              </a:srgbClr>
            </a:solidFill>
            <a:prstDash val="solid"/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10020300" y="3392261"/>
            <a:ext cx="7296150" cy="334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7维可解释评分 + 证据溯源</a:t>
            </a:r>
            <a:endParaRPr sz="1275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圆角矩形 88"/>
          <p:cNvSpPr>
            <a:spLocks noGrp="1"/>
          </p:cNvSpPr>
          <p:nvPr/>
        </p:nvSpPr>
        <p:spPr>
          <a:xfrm>
            <a:off x="857250" y="3803196"/>
            <a:ext cx="2000250" cy="506186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90" name="矩形 89"/>
          <p:cNvSpPr>
            <a:spLocks noGrp="1"/>
          </p:cNvSpPr>
          <p:nvPr/>
        </p:nvSpPr>
        <p:spPr>
          <a:xfrm>
            <a:off x="971550" y="3898446"/>
            <a:ext cx="1771650" cy="334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</a:t>
            </a:r>
            <a:endParaRPr sz="1275" b="1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圆角矩形 90"/>
          <p:cNvSpPr>
            <a:spLocks noGrp="1"/>
          </p:cNvSpPr>
          <p:nvPr/>
        </p:nvSpPr>
        <p:spPr>
          <a:xfrm>
            <a:off x="2857500" y="3803196"/>
            <a:ext cx="3524250" cy="506186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92" name="矩形 91"/>
          <p:cNvSpPr>
            <a:spLocks noGrp="1"/>
          </p:cNvSpPr>
          <p:nvPr/>
        </p:nvSpPr>
        <p:spPr>
          <a:xfrm>
            <a:off x="2971800" y="3898446"/>
            <a:ext cx="3295650" cy="334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单向浏览</a:t>
            </a:r>
            <a:endParaRPr sz="127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3" name="圆角矩形 92"/>
          <p:cNvSpPr>
            <a:spLocks noGrp="1"/>
          </p:cNvSpPr>
          <p:nvPr/>
        </p:nvSpPr>
        <p:spPr>
          <a:xfrm>
            <a:off x="6381750" y="3803196"/>
            <a:ext cx="3524250" cy="506186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94" name="矩形 93"/>
          <p:cNvSpPr>
            <a:spLocks noGrp="1"/>
          </p:cNvSpPr>
          <p:nvPr/>
        </p:nvSpPr>
        <p:spPr>
          <a:xfrm>
            <a:off x="6496050" y="3898446"/>
            <a:ext cx="3295650" cy="334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模板回复</a:t>
            </a:r>
            <a:endParaRPr sz="127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圆角矩形 94"/>
          <p:cNvSpPr>
            <a:spLocks noGrp="1"/>
          </p:cNvSpPr>
          <p:nvPr/>
        </p:nvSpPr>
        <p:spPr>
          <a:xfrm>
            <a:off x="9906000" y="3803196"/>
            <a:ext cx="7524750" cy="506186"/>
          </a:xfrm>
          <a:prstGeom prst="roundRect">
            <a:avLst>
              <a:gd name="adj" fmla="val 0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35000"/>
              </a:srgbClr>
            </a:solidFill>
            <a:prstDash val="solid"/>
          </a:ln>
        </p:spPr>
      </p:sp>
      <p:sp>
        <p:nvSpPr>
          <p:cNvPr id="96" name="矩形 95"/>
          <p:cNvSpPr>
            <a:spLocks noGrp="1"/>
          </p:cNvSpPr>
          <p:nvPr/>
        </p:nvSpPr>
        <p:spPr>
          <a:xfrm>
            <a:off x="10020300" y="3898446"/>
            <a:ext cx="7296150" cy="334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多轮对话 + 追问 + 指代</a:t>
            </a:r>
            <a:endParaRPr sz="1275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圆角矩形 96"/>
          <p:cNvSpPr>
            <a:spLocks noGrp="1"/>
          </p:cNvSpPr>
          <p:nvPr/>
        </p:nvSpPr>
        <p:spPr>
          <a:xfrm>
            <a:off x="857250" y="4309382"/>
            <a:ext cx="2000250" cy="506186"/>
          </a:xfrm>
          <a:prstGeom prst="roundRect">
            <a:avLst>
              <a:gd name="adj" fmla="val 0"/>
            </a:avLst>
          </a:prstGeom>
          <a:solidFill>
            <a:srgbClr val="0D1117">
              <a:alpha val="4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98" name="矩形 97"/>
          <p:cNvSpPr>
            <a:spLocks noGrp="1"/>
          </p:cNvSpPr>
          <p:nvPr/>
        </p:nvSpPr>
        <p:spPr>
          <a:xfrm>
            <a:off x="971550" y="4404632"/>
            <a:ext cx="1771650" cy="334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</a:t>
            </a:r>
            <a:endParaRPr sz="1275" b="1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圆角矩形 98"/>
          <p:cNvSpPr>
            <a:spLocks noGrp="1"/>
          </p:cNvSpPr>
          <p:nvPr/>
        </p:nvSpPr>
        <p:spPr>
          <a:xfrm>
            <a:off x="2857500" y="4309382"/>
            <a:ext cx="3524250" cy="506186"/>
          </a:xfrm>
          <a:prstGeom prst="roundRect">
            <a:avLst>
              <a:gd name="adj" fmla="val 0"/>
            </a:avLst>
          </a:prstGeom>
          <a:solidFill>
            <a:srgbClr val="0D1117">
              <a:alpha val="4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100" name="矩形 99"/>
          <p:cNvSpPr>
            <a:spLocks noGrp="1"/>
          </p:cNvSpPr>
          <p:nvPr/>
        </p:nvSpPr>
        <p:spPr>
          <a:xfrm>
            <a:off x="2971800" y="4404632"/>
            <a:ext cx="3295650" cy="334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</a:t>
            </a:r>
            <a:endParaRPr sz="127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圆角矩形 100"/>
          <p:cNvSpPr>
            <a:spLocks noGrp="1"/>
          </p:cNvSpPr>
          <p:nvPr/>
        </p:nvSpPr>
        <p:spPr>
          <a:xfrm>
            <a:off x="6381750" y="4309382"/>
            <a:ext cx="3524250" cy="506186"/>
          </a:xfrm>
          <a:prstGeom prst="roundRect">
            <a:avLst>
              <a:gd name="adj" fmla="val 0"/>
            </a:avLst>
          </a:prstGeom>
          <a:solidFill>
            <a:srgbClr val="0D1117">
              <a:alpha val="4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102" name="矩形 101"/>
          <p:cNvSpPr>
            <a:spLocks noGrp="1"/>
          </p:cNvSpPr>
          <p:nvPr/>
        </p:nvSpPr>
        <p:spPr>
          <a:xfrm>
            <a:off x="6496050" y="4404632"/>
            <a:ext cx="3295650" cy="334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</a:t>
            </a:r>
            <a:endParaRPr sz="127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圆角矩形 102"/>
          <p:cNvSpPr>
            <a:spLocks noGrp="1"/>
          </p:cNvSpPr>
          <p:nvPr/>
        </p:nvSpPr>
        <p:spPr>
          <a:xfrm>
            <a:off x="9906000" y="4309382"/>
            <a:ext cx="7524750" cy="506186"/>
          </a:xfrm>
          <a:prstGeom prst="roundRect">
            <a:avLst>
              <a:gd name="adj" fmla="val 0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35000"/>
              </a:srgbClr>
            </a:solidFill>
            <a:prstDash val="solid"/>
          </a:ln>
        </p:spPr>
      </p:sp>
      <p:sp>
        <p:nvSpPr>
          <p:cNvPr id="104" name="矩形 103"/>
          <p:cNvSpPr>
            <a:spLocks noGrp="1"/>
          </p:cNvSpPr>
          <p:nvPr/>
        </p:nvSpPr>
        <p:spPr>
          <a:xfrm>
            <a:off x="10020300" y="4404632"/>
            <a:ext cx="7296150" cy="334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三层记忆（短期/长期/会话）</a:t>
            </a:r>
            <a:endParaRPr sz="1275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圆角矩形 104"/>
          <p:cNvSpPr>
            <a:spLocks noGrp="1"/>
          </p:cNvSpPr>
          <p:nvPr/>
        </p:nvSpPr>
        <p:spPr>
          <a:xfrm>
            <a:off x="857250" y="4815568"/>
            <a:ext cx="2000250" cy="506186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106" name="矩形 105"/>
          <p:cNvSpPr>
            <a:spLocks noGrp="1"/>
          </p:cNvSpPr>
          <p:nvPr/>
        </p:nvSpPr>
        <p:spPr>
          <a:xfrm>
            <a:off x="971550" y="4910818"/>
            <a:ext cx="1771650" cy="334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闭环</a:t>
            </a:r>
            <a:endParaRPr sz="1275" b="1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圆角矩形 106"/>
          <p:cNvSpPr>
            <a:spLocks noGrp="1"/>
          </p:cNvSpPr>
          <p:nvPr/>
        </p:nvSpPr>
        <p:spPr>
          <a:xfrm>
            <a:off x="2857500" y="4815568"/>
            <a:ext cx="3524250" cy="506186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108" name="矩形 107"/>
          <p:cNvSpPr>
            <a:spLocks noGrp="1"/>
          </p:cNvSpPr>
          <p:nvPr/>
        </p:nvSpPr>
        <p:spPr>
          <a:xfrm>
            <a:off x="2971800" y="4910818"/>
            <a:ext cx="3295650" cy="334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手动操作</a:t>
            </a:r>
            <a:endParaRPr sz="127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圆角矩形 108"/>
          <p:cNvSpPr>
            <a:spLocks noGrp="1"/>
          </p:cNvSpPr>
          <p:nvPr/>
        </p:nvSpPr>
        <p:spPr>
          <a:xfrm>
            <a:off x="6381750" y="4815568"/>
            <a:ext cx="3524250" cy="506186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110" name="矩形 109"/>
          <p:cNvSpPr>
            <a:spLocks noGrp="1"/>
          </p:cNvSpPr>
          <p:nvPr/>
        </p:nvSpPr>
        <p:spPr>
          <a:xfrm>
            <a:off x="6496050" y="4910818"/>
            <a:ext cx="3295650" cy="334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仅聊天</a:t>
            </a:r>
            <a:endParaRPr sz="127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1" name="圆角矩形 110"/>
          <p:cNvSpPr>
            <a:spLocks noGrp="1"/>
          </p:cNvSpPr>
          <p:nvPr/>
        </p:nvSpPr>
        <p:spPr>
          <a:xfrm>
            <a:off x="9906000" y="4815568"/>
            <a:ext cx="7524750" cy="506186"/>
          </a:xfrm>
          <a:prstGeom prst="roundRect">
            <a:avLst>
              <a:gd name="adj" fmla="val 0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35000"/>
              </a:srgbClr>
            </a:solidFill>
            <a:prstDash val="solid"/>
          </a:ln>
        </p:spPr>
      </p:sp>
      <p:sp>
        <p:nvSpPr>
          <p:cNvPr id="112" name="矩形 111"/>
          <p:cNvSpPr>
            <a:spLocks noGrp="1"/>
          </p:cNvSpPr>
          <p:nvPr/>
        </p:nvSpPr>
        <p:spPr>
          <a:xfrm>
            <a:off x="10020300" y="4910818"/>
            <a:ext cx="7296150" cy="334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推荐→加购→下单全链路</a:t>
            </a:r>
            <a:endParaRPr sz="1275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圆角矩形 112"/>
          <p:cNvSpPr>
            <a:spLocks noGrp="1"/>
          </p:cNvSpPr>
          <p:nvPr/>
        </p:nvSpPr>
        <p:spPr>
          <a:xfrm>
            <a:off x="857250" y="5321754"/>
            <a:ext cx="2000250" cy="506186"/>
          </a:xfrm>
          <a:prstGeom prst="roundRect">
            <a:avLst>
              <a:gd name="adj" fmla="val 0"/>
            </a:avLst>
          </a:prstGeom>
          <a:solidFill>
            <a:srgbClr val="0D1117">
              <a:alpha val="4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114" name="矩形 113"/>
          <p:cNvSpPr>
            <a:spLocks noGrp="1"/>
          </p:cNvSpPr>
          <p:nvPr/>
        </p:nvSpPr>
        <p:spPr>
          <a:xfrm>
            <a:off x="971550" y="5417004"/>
            <a:ext cx="1771650" cy="334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</a:t>
            </a:r>
            <a:endParaRPr sz="1275" b="1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圆角矩形 114"/>
          <p:cNvSpPr>
            <a:spLocks noGrp="1"/>
          </p:cNvSpPr>
          <p:nvPr/>
        </p:nvSpPr>
        <p:spPr>
          <a:xfrm>
            <a:off x="2857500" y="5321754"/>
            <a:ext cx="3524250" cy="506186"/>
          </a:xfrm>
          <a:prstGeom prst="roundRect">
            <a:avLst>
              <a:gd name="adj" fmla="val 0"/>
            </a:avLst>
          </a:prstGeom>
          <a:solidFill>
            <a:srgbClr val="0D1117">
              <a:alpha val="4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116" name="矩形 115"/>
          <p:cNvSpPr>
            <a:spLocks noGrp="1"/>
          </p:cNvSpPr>
          <p:nvPr/>
        </p:nvSpPr>
        <p:spPr>
          <a:xfrm>
            <a:off x="2971800" y="5417004"/>
            <a:ext cx="3295650" cy="334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靠自己</a:t>
            </a:r>
            <a:endParaRPr sz="127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" name="圆角矩形 116"/>
          <p:cNvSpPr>
            <a:spLocks noGrp="1"/>
          </p:cNvSpPr>
          <p:nvPr/>
        </p:nvSpPr>
        <p:spPr>
          <a:xfrm>
            <a:off x="6381750" y="5321754"/>
            <a:ext cx="3524250" cy="506186"/>
          </a:xfrm>
          <a:prstGeom prst="roundRect">
            <a:avLst>
              <a:gd name="adj" fmla="val 0"/>
            </a:avLst>
          </a:prstGeom>
          <a:solidFill>
            <a:srgbClr val="0D1117">
              <a:alpha val="4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118" name="矩形 117"/>
          <p:cNvSpPr>
            <a:spLocks noGrp="1"/>
          </p:cNvSpPr>
          <p:nvPr/>
        </p:nvSpPr>
        <p:spPr>
          <a:xfrm>
            <a:off x="6496050" y="5417004"/>
            <a:ext cx="3295650" cy="334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不可验证</a:t>
            </a:r>
            <a:endParaRPr sz="127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圆角矩形 118"/>
          <p:cNvSpPr>
            <a:spLocks noGrp="1"/>
          </p:cNvSpPr>
          <p:nvPr/>
        </p:nvSpPr>
        <p:spPr>
          <a:xfrm>
            <a:off x="9906000" y="5321754"/>
            <a:ext cx="7524750" cy="506186"/>
          </a:xfrm>
          <a:prstGeom prst="roundRect">
            <a:avLst>
              <a:gd name="adj" fmla="val 0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35000"/>
              </a:srgbClr>
            </a:solidFill>
            <a:prstDash val="solid"/>
          </a:ln>
        </p:spPr>
      </p:sp>
      <p:sp>
        <p:nvSpPr>
          <p:cNvPr id="120" name="矩形 119"/>
          <p:cNvSpPr>
            <a:spLocks noGrp="1"/>
          </p:cNvSpPr>
          <p:nvPr/>
        </p:nvSpPr>
        <p:spPr>
          <a:xfrm>
            <a:off x="10020300" y="5417004"/>
            <a:ext cx="7296150" cy="334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Guard + Harness 自动校验</a:t>
            </a:r>
            <a:endParaRPr sz="1275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1" name="圆角矩形 120"/>
          <p:cNvSpPr>
            <a:spLocks noGrp="1"/>
          </p:cNvSpPr>
          <p:nvPr/>
        </p:nvSpPr>
        <p:spPr>
          <a:xfrm>
            <a:off x="857250" y="5827939"/>
            <a:ext cx="2000250" cy="506186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122" name="矩形 121"/>
          <p:cNvSpPr>
            <a:spLocks noGrp="1"/>
          </p:cNvSpPr>
          <p:nvPr/>
        </p:nvSpPr>
        <p:spPr>
          <a:xfrm>
            <a:off x="971550" y="5923189"/>
            <a:ext cx="1771650" cy="334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</a:t>
            </a:r>
            <a:endParaRPr sz="1275" b="1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3" name="圆角矩形 122"/>
          <p:cNvSpPr>
            <a:spLocks noGrp="1"/>
          </p:cNvSpPr>
          <p:nvPr/>
        </p:nvSpPr>
        <p:spPr>
          <a:xfrm>
            <a:off x="2857500" y="5827939"/>
            <a:ext cx="3524250" cy="506186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124" name="矩形 123"/>
          <p:cNvSpPr>
            <a:spLocks noGrp="1"/>
          </p:cNvSpPr>
          <p:nvPr/>
        </p:nvSpPr>
        <p:spPr>
          <a:xfrm>
            <a:off x="2971800" y="5923189"/>
            <a:ext cx="3295650" cy="334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127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5" name="圆角矩形 124"/>
          <p:cNvSpPr>
            <a:spLocks noGrp="1"/>
          </p:cNvSpPr>
          <p:nvPr/>
        </p:nvSpPr>
        <p:spPr>
          <a:xfrm>
            <a:off x="6381750" y="5827939"/>
            <a:ext cx="3524250" cy="506186"/>
          </a:xfrm>
          <a:prstGeom prst="roundRect">
            <a:avLst>
              <a:gd name="adj" fmla="val 0"/>
            </a:avLst>
          </a:prstGeom>
          <a:solidFill>
            <a:srgbClr val="161B22">
              <a:alpha val="72000"/>
            </a:srgbClr>
          </a:solidFill>
          <a:ln w="9525">
            <a:solidFill>
              <a:srgbClr val="30363D">
                <a:alpha val="65000"/>
              </a:srgbClr>
            </a:solidFill>
            <a:prstDash val="solid"/>
          </a:ln>
        </p:spPr>
      </p:sp>
      <p:sp>
        <p:nvSpPr>
          <p:cNvPr id="126" name="矩形 125"/>
          <p:cNvSpPr>
            <a:spLocks noGrp="1"/>
          </p:cNvSpPr>
          <p:nvPr/>
        </p:nvSpPr>
        <p:spPr>
          <a:xfrm>
            <a:off x="6496050" y="5923189"/>
            <a:ext cx="3295650" cy="334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C9D1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1275" b="0">
              <a:solidFill>
                <a:srgbClr val="C9D1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7" name="圆角矩形 126"/>
          <p:cNvSpPr>
            <a:spLocks noGrp="1"/>
          </p:cNvSpPr>
          <p:nvPr/>
        </p:nvSpPr>
        <p:spPr>
          <a:xfrm>
            <a:off x="9906000" y="5827939"/>
            <a:ext cx="7524750" cy="506186"/>
          </a:xfrm>
          <a:prstGeom prst="roundRect">
            <a:avLst>
              <a:gd name="adj" fmla="val 0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35000"/>
              </a:srgbClr>
            </a:solidFill>
            <a:prstDash val="solid"/>
          </a:ln>
        </p:spPr>
      </p:sp>
      <p:sp>
        <p:nvSpPr>
          <p:cNvPr id="128" name="矩形 127"/>
          <p:cNvSpPr>
            <a:spLocks noGrp="1"/>
          </p:cNvSpPr>
          <p:nvPr/>
        </p:nvSpPr>
        <p:spPr>
          <a:xfrm>
            <a:off x="10020300" y="5923189"/>
            <a:ext cx="7296150" cy="3347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12000"/>
              </a:lnSpc>
              <a:buNone/>
              <a:defRPr sz="12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 一行部署 + 云服务器</a:t>
            </a:r>
            <a:endParaRPr sz="1275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9" name="圆角矩形 128"/>
          <p:cNvSpPr>
            <a:spLocks noGrp="1"/>
          </p:cNvSpPr>
          <p:nvPr/>
        </p:nvSpPr>
        <p:spPr>
          <a:xfrm>
            <a:off x="857250" y="6953250"/>
            <a:ext cx="2952750" cy="723900"/>
          </a:xfrm>
          <a:prstGeom prst="roundRect">
            <a:avLst>
              <a:gd name="adj" fmla="val 21053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35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LLM查询改写</a:t>
            </a:r>
            <a:endParaRPr sz="1575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0" name="圆角矩形 129"/>
          <p:cNvSpPr>
            <a:spLocks noGrp="1"/>
          </p:cNvSpPr>
          <p:nvPr/>
        </p:nvSpPr>
        <p:spPr>
          <a:xfrm>
            <a:off x="4210050" y="6953250"/>
            <a:ext cx="2952750" cy="723900"/>
          </a:xfrm>
          <a:prstGeom prst="roundRect">
            <a:avLst>
              <a:gd name="adj" fmla="val 21053"/>
            </a:avLst>
          </a:prstGeom>
          <a:solidFill>
            <a:srgbClr val="A855F7">
              <a:alpha val="10000"/>
            </a:srgbClr>
          </a:solidFill>
          <a:ln w="9525">
            <a:solidFill>
              <a:srgbClr val="A855F7">
                <a:alpha val="35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双集合向量检索</a:t>
            </a:r>
            <a:endParaRPr sz="1575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1" name="圆角矩形 130"/>
          <p:cNvSpPr>
            <a:spLocks noGrp="1"/>
          </p:cNvSpPr>
          <p:nvPr/>
        </p:nvSpPr>
        <p:spPr>
          <a:xfrm>
            <a:off x="7562850" y="6953250"/>
            <a:ext cx="2952750" cy="723900"/>
          </a:xfrm>
          <a:prstGeom prst="roundRect">
            <a:avLst>
              <a:gd name="adj" fmla="val 21053"/>
            </a:avLst>
          </a:prstGeom>
          <a:solidFill>
            <a:srgbClr val="34D399">
              <a:alpha val="10000"/>
            </a:srgbClr>
          </a:solidFill>
          <a:ln w="9525">
            <a:solidFill>
              <a:srgbClr val="34D399">
                <a:alpha val="35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Reranker语义精排</a:t>
            </a:r>
            <a:endParaRPr sz="1575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2" name="圆角矩形 131"/>
          <p:cNvSpPr>
            <a:spLocks noGrp="1"/>
          </p:cNvSpPr>
          <p:nvPr/>
        </p:nvSpPr>
        <p:spPr>
          <a:xfrm>
            <a:off x="10915650" y="6953250"/>
            <a:ext cx="2952750" cy="723900"/>
          </a:xfrm>
          <a:prstGeom prst="roundRect">
            <a:avLst>
              <a:gd name="adj" fmla="val 21053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35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三通道证据</a:t>
            </a:r>
            <a:endParaRPr sz="1575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3" name="圆角矩形 132"/>
          <p:cNvSpPr>
            <a:spLocks noGrp="1"/>
          </p:cNvSpPr>
          <p:nvPr/>
        </p:nvSpPr>
        <p:spPr>
          <a:xfrm>
            <a:off x="14268450" y="6953250"/>
            <a:ext cx="2952750" cy="723900"/>
          </a:xfrm>
          <a:prstGeom prst="roundRect">
            <a:avLst>
              <a:gd name="adj" fmla="val 21053"/>
            </a:avLst>
          </a:prstGeom>
          <a:solidFill>
            <a:srgbClr val="A855F7">
              <a:alpha val="10000"/>
            </a:srgbClr>
          </a:solidFill>
          <a:ln w="9525">
            <a:solidFill>
              <a:srgbClr val="A855F7">
                <a:alpha val="35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7维可解释评分</a:t>
            </a:r>
            <a:endParaRPr sz="1575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4" name="圆角矩形 133"/>
          <p:cNvSpPr>
            <a:spLocks noGrp="1"/>
          </p:cNvSpPr>
          <p:nvPr/>
        </p:nvSpPr>
        <p:spPr>
          <a:xfrm>
            <a:off x="857250" y="7905750"/>
            <a:ext cx="2952750" cy="723900"/>
          </a:xfrm>
          <a:prstGeom prst="roundRect">
            <a:avLst>
              <a:gd name="adj" fmla="val 21053"/>
            </a:avLst>
          </a:prstGeom>
          <a:solidFill>
            <a:srgbClr val="34D399">
              <a:alpha val="10000"/>
            </a:srgbClr>
          </a:solidFill>
          <a:ln w="9525">
            <a:solidFill>
              <a:srgbClr val="34D399">
                <a:alpha val="35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幻觉四道防线</a:t>
            </a:r>
            <a:endParaRPr sz="1575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5" name="圆角矩形 134"/>
          <p:cNvSpPr>
            <a:spLocks noGrp="1"/>
          </p:cNvSpPr>
          <p:nvPr/>
        </p:nvSpPr>
        <p:spPr>
          <a:xfrm>
            <a:off x="4210050" y="7905750"/>
            <a:ext cx="2952750" cy="723900"/>
          </a:xfrm>
          <a:prstGeom prst="roundRect">
            <a:avLst>
              <a:gd name="adj" fmla="val 21053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35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三层记忆</a:t>
            </a:r>
            <a:endParaRPr sz="1575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6" name="圆角矩形 135"/>
          <p:cNvSpPr>
            <a:spLocks noGrp="1"/>
          </p:cNvSpPr>
          <p:nvPr/>
        </p:nvSpPr>
        <p:spPr>
          <a:xfrm>
            <a:off x="7562850" y="7905750"/>
            <a:ext cx="2952750" cy="723900"/>
          </a:xfrm>
          <a:prstGeom prst="roundRect">
            <a:avLst>
              <a:gd name="adj" fmla="val 21053"/>
            </a:avLst>
          </a:prstGeom>
          <a:solidFill>
            <a:srgbClr val="A855F7">
              <a:alpha val="10000"/>
            </a:srgbClr>
          </a:solidFill>
          <a:ln w="9525">
            <a:solidFill>
              <a:srgbClr val="A855F7">
                <a:alpha val="35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7种追问检测</a:t>
            </a:r>
            <a:endParaRPr sz="1575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7" name="圆角矩形 136"/>
          <p:cNvSpPr>
            <a:spLocks noGrp="1"/>
          </p:cNvSpPr>
          <p:nvPr/>
        </p:nvSpPr>
        <p:spPr>
          <a:xfrm>
            <a:off x="10915650" y="7905750"/>
            <a:ext cx="2952750" cy="723900"/>
          </a:xfrm>
          <a:prstGeom prst="roundRect">
            <a:avLst>
              <a:gd name="adj" fmla="val 21053"/>
            </a:avLst>
          </a:prstGeom>
          <a:solidFill>
            <a:srgbClr val="34D399">
              <a:alpha val="10000"/>
            </a:srgbClr>
          </a:solidFill>
          <a:ln w="9525">
            <a:solidFill>
              <a:srgbClr val="34D399">
                <a:alpha val="35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四级缓存降级</a:t>
            </a:r>
            <a:endParaRPr sz="1575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8" name="圆角矩形 137"/>
          <p:cNvSpPr>
            <a:spLocks noGrp="1"/>
          </p:cNvSpPr>
          <p:nvPr/>
        </p:nvSpPr>
        <p:spPr>
          <a:xfrm>
            <a:off x="14268450" y="7905750"/>
            <a:ext cx="2952750" cy="723900"/>
          </a:xfrm>
          <a:prstGeom prst="roundRect">
            <a:avLst>
              <a:gd name="adj" fmla="val 21053"/>
            </a:avLst>
          </a:prstGeom>
          <a:solidFill>
            <a:srgbClr val="00D4FF">
              <a:alpha val="10000"/>
            </a:srgbClr>
          </a:solidFill>
          <a:ln w="9525">
            <a:solidFill>
              <a:srgbClr val="00D4FF">
                <a:alpha val="35000"/>
              </a:srgbClr>
            </a:solidFill>
            <a:prstDash val="solid"/>
          </a:ln>
        </p:spPr>
        <p:txBody>
          <a:bodyPr lIns="133350" tIns="76200" rIns="133350" bIns="76200" anchor="ctr"/>
          <a:lstStyle/>
          <a:p>
            <a:pPr algn="ctr">
              <a:lnSpc>
                <a:spcPct val="105000"/>
              </a:lnSpc>
              <a:buNone/>
              <a:defRPr sz="15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F0F6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StateGraph编排</a:t>
            </a:r>
            <a:endParaRPr sz="1575" b="1">
              <a:solidFill>
                <a:srgbClr val="F0F6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117"/>
              </a:gs>
              <a:gs pos="46000">
                <a:srgbClr val="11111F"/>
              </a:gs>
              <a:gs pos="100000">
                <a:srgbClr val="06151A"/>
              </a:gs>
            </a:gsLst>
            <a:lin ang="7800000"/>
          </a:gradFill>
          <a:ln w="0">
            <a:noFill/>
            <a:prstDash val="solid"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-3429000" y="-3143250"/>
            <a:ext cx="9334500" cy="8382000"/>
          </a:xfrm>
          <a:prstGeom prst="ellipse">
            <a:avLst/>
          </a:prstGeom>
          <a:gradFill>
            <a:gsLst>
              <a:gs pos="0">
                <a:srgbClr val="A855F7">
                  <a:alpha val="30000"/>
                </a:srgbClr>
              </a:gs>
              <a:gs pos="42000">
                <a:srgbClr val="7C3AED">
                  <a:alpha val="14000"/>
                </a:srgbClr>
              </a:gs>
              <a:gs pos="74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10572750" y="-2476500"/>
            <a:ext cx="9906000" cy="8572500"/>
          </a:xfrm>
          <a:prstGeom prst="ellipse">
            <a:avLst/>
          </a:prstGeom>
          <a:gradFill>
            <a:gsLst>
              <a:gs pos="0">
                <a:srgbClr val="60A5FA">
                  <a:alpha val="22000"/>
                </a:srgbClr>
              </a:gs>
              <a:gs pos="46000">
                <a:srgbClr val="00D4FF">
                  <a:alpha val="9000"/>
                </a:srgbClr>
              </a:gs>
              <a:gs pos="78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5" name="椭圆 4"/>
          <p:cNvSpPr>
            <a:spLocks noGrp="1"/>
          </p:cNvSpPr>
          <p:nvPr/>
        </p:nvSpPr>
        <p:spPr>
          <a:xfrm>
            <a:off x="5715000" y="6477000"/>
            <a:ext cx="7810500" cy="4953000"/>
          </a:xfrm>
          <a:prstGeom prst="ellipse">
            <a:avLst/>
          </a:prstGeom>
          <a:gradFill>
            <a:gsLst>
              <a:gs pos="0">
                <a:srgbClr val="34D399">
                  <a:alpha val="13000"/>
                </a:srgbClr>
              </a:gs>
              <a:gs pos="72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6" name="直接连接符 5"/>
          <p:cNvSpPr>
            <a:spLocks noGrp="1"/>
          </p:cNvSpPr>
          <p:nvPr/>
        </p:nvSpPr>
        <p:spPr>
          <a:xfrm>
            <a:off x="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7" name="直接连接符 6"/>
          <p:cNvSpPr>
            <a:spLocks noGrp="1"/>
          </p:cNvSpPr>
          <p:nvPr/>
        </p:nvSpPr>
        <p:spPr>
          <a:xfrm>
            <a:off x="571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8" name="直接连接符 7"/>
          <p:cNvSpPr>
            <a:spLocks noGrp="1"/>
          </p:cNvSpPr>
          <p:nvPr/>
        </p:nvSpPr>
        <p:spPr>
          <a:xfrm>
            <a:off x="1143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9" name="直接连接符 8"/>
          <p:cNvSpPr>
            <a:spLocks noGrp="1"/>
          </p:cNvSpPr>
          <p:nvPr/>
        </p:nvSpPr>
        <p:spPr>
          <a:xfrm>
            <a:off x="1714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10" name="直接连接符 9"/>
          <p:cNvSpPr>
            <a:spLocks noGrp="1"/>
          </p:cNvSpPr>
          <p:nvPr/>
        </p:nvSpPr>
        <p:spPr>
          <a:xfrm>
            <a:off x="2286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11" name="直接连接符 10"/>
          <p:cNvSpPr>
            <a:spLocks noGrp="1"/>
          </p:cNvSpPr>
          <p:nvPr/>
        </p:nvSpPr>
        <p:spPr>
          <a:xfrm>
            <a:off x="2857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3429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13" name="直接连接符 12"/>
          <p:cNvSpPr>
            <a:spLocks noGrp="1"/>
          </p:cNvSpPr>
          <p:nvPr/>
        </p:nvSpPr>
        <p:spPr>
          <a:xfrm>
            <a:off x="4000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14" name="直接连接符 13"/>
          <p:cNvSpPr>
            <a:spLocks noGrp="1"/>
          </p:cNvSpPr>
          <p:nvPr/>
        </p:nvSpPr>
        <p:spPr>
          <a:xfrm>
            <a:off x="4572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15" name="直接连接符 14"/>
          <p:cNvSpPr>
            <a:spLocks noGrp="1"/>
          </p:cNvSpPr>
          <p:nvPr/>
        </p:nvSpPr>
        <p:spPr>
          <a:xfrm>
            <a:off x="5143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16" name="直接连接符 15"/>
          <p:cNvSpPr>
            <a:spLocks noGrp="1"/>
          </p:cNvSpPr>
          <p:nvPr/>
        </p:nvSpPr>
        <p:spPr>
          <a:xfrm>
            <a:off x="5715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17" name="直接连接符 16"/>
          <p:cNvSpPr>
            <a:spLocks noGrp="1"/>
          </p:cNvSpPr>
          <p:nvPr/>
        </p:nvSpPr>
        <p:spPr>
          <a:xfrm>
            <a:off x="6286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18" name="直接连接符 17"/>
          <p:cNvSpPr>
            <a:spLocks noGrp="1"/>
          </p:cNvSpPr>
          <p:nvPr/>
        </p:nvSpPr>
        <p:spPr>
          <a:xfrm>
            <a:off x="6858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19" name="直接连接符 18"/>
          <p:cNvSpPr>
            <a:spLocks noGrp="1"/>
          </p:cNvSpPr>
          <p:nvPr/>
        </p:nvSpPr>
        <p:spPr>
          <a:xfrm>
            <a:off x="7429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20" name="直接连接符 19"/>
          <p:cNvSpPr>
            <a:spLocks noGrp="1"/>
          </p:cNvSpPr>
          <p:nvPr/>
        </p:nvSpPr>
        <p:spPr>
          <a:xfrm>
            <a:off x="8001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21" name="直接连接符 20"/>
          <p:cNvSpPr>
            <a:spLocks noGrp="1"/>
          </p:cNvSpPr>
          <p:nvPr/>
        </p:nvSpPr>
        <p:spPr>
          <a:xfrm>
            <a:off x="8572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22" name="直接连接符 21"/>
          <p:cNvSpPr>
            <a:spLocks noGrp="1"/>
          </p:cNvSpPr>
          <p:nvPr/>
        </p:nvSpPr>
        <p:spPr>
          <a:xfrm>
            <a:off x="9144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23" name="直接连接符 22"/>
          <p:cNvSpPr>
            <a:spLocks noGrp="1"/>
          </p:cNvSpPr>
          <p:nvPr/>
        </p:nvSpPr>
        <p:spPr>
          <a:xfrm>
            <a:off x="9715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24" name="直接连接符 23"/>
          <p:cNvSpPr>
            <a:spLocks noGrp="1"/>
          </p:cNvSpPr>
          <p:nvPr/>
        </p:nvSpPr>
        <p:spPr>
          <a:xfrm>
            <a:off x="10287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25" name="直接连接符 24"/>
          <p:cNvSpPr>
            <a:spLocks noGrp="1"/>
          </p:cNvSpPr>
          <p:nvPr/>
        </p:nvSpPr>
        <p:spPr>
          <a:xfrm>
            <a:off x="10858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26" name="直接连接符 25"/>
          <p:cNvSpPr>
            <a:spLocks noGrp="1"/>
          </p:cNvSpPr>
          <p:nvPr/>
        </p:nvSpPr>
        <p:spPr>
          <a:xfrm>
            <a:off x="11430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27" name="直接连接符 26"/>
          <p:cNvSpPr>
            <a:spLocks noGrp="1"/>
          </p:cNvSpPr>
          <p:nvPr/>
        </p:nvSpPr>
        <p:spPr>
          <a:xfrm>
            <a:off x="12001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28" name="直接连接符 27"/>
          <p:cNvSpPr>
            <a:spLocks noGrp="1"/>
          </p:cNvSpPr>
          <p:nvPr/>
        </p:nvSpPr>
        <p:spPr>
          <a:xfrm>
            <a:off x="12573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29" name="直接连接符 28"/>
          <p:cNvSpPr>
            <a:spLocks noGrp="1"/>
          </p:cNvSpPr>
          <p:nvPr/>
        </p:nvSpPr>
        <p:spPr>
          <a:xfrm>
            <a:off x="13144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30" name="直接连接符 29"/>
          <p:cNvSpPr>
            <a:spLocks noGrp="1"/>
          </p:cNvSpPr>
          <p:nvPr/>
        </p:nvSpPr>
        <p:spPr>
          <a:xfrm>
            <a:off x="13716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31" name="直接连接符 30"/>
          <p:cNvSpPr>
            <a:spLocks noGrp="1"/>
          </p:cNvSpPr>
          <p:nvPr/>
        </p:nvSpPr>
        <p:spPr>
          <a:xfrm>
            <a:off x="14287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14859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33" name="直接连接符 32"/>
          <p:cNvSpPr>
            <a:spLocks noGrp="1"/>
          </p:cNvSpPr>
          <p:nvPr/>
        </p:nvSpPr>
        <p:spPr>
          <a:xfrm>
            <a:off x="15430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16002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16573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17145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177165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18288000" y="0"/>
            <a:ext cx="0" cy="1028700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39" name="直接连接符 38"/>
          <p:cNvSpPr>
            <a:spLocks noGrp="1"/>
          </p:cNvSpPr>
          <p:nvPr/>
        </p:nvSpPr>
        <p:spPr>
          <a:xfrm>
            <a:off x="0" y="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40" name="直接连接符 39"/>
          <p:cNvSpPr>
            <a:spLocks noGrp="1"/>
          </p:cNvSpPr>
          <p:nvPr/>
        </p:nvSpPr>
        <p:spPr>
          <a:xfrm>
            <a:off x="0" y="571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41" name="直接连接符 40"/>
          <p:cNvSpPr>
            <a:spLocks noGrp="1"/>
          </p:cNvSpPr>
          <p:nvPr/>
        </p:nvSpPr>
        <p:spPr>
          <a:xfrm>
            <a:off x="0" y="1143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0" y="1714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43" name="直接连接符 42"/>
          <p:cNvSpPr>
            <a:spLocks noGrp="1"/>
          </p:cNvSpPr>
          <p:nvPr/>
        </p:nvSpPr>
        <p:spPr>
          <a:xfrm>
            <a:off x="0" y="2286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44" name="直接连接符 43"/>
          <p:cNvSpPr>
            <a:spLocks noGrp="1"/>
          </p:cNvSpPr>
          <p:nvPr/>
        </p:nvSpPr>
        <p:spPr>
          <a:xfrm>
            <a:off x="0" y="2857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45" name="直接连接符 44"/>
          <p:cNvSpPr>
            <a:spLocks noGrp="1"/>
          </p:cNvSpPr>
          <p:nvPr/>
        </p:nvSpPr>
        <p:spPr>
          <a:xfrm>
            <a:off x="0" y="3429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46" name="直接连接符 45"/>
          <p:cNvSpPr>
            <a:spLocks noGrp="1"/>
          </p:cNvSpPr>
          <p:nvPr/>
        </p:nvSpPr>
        <p:spPr>
          <a:xfrm>
            <a:off x="0" y="4000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47" name="直接连接符 46"/>
          <p:cNvSpPr>
            <a:spLocks noGrp="1"/>
          </p:cNvSpPr>
          <p:nvPr/>
        </p:nvSpPr>
        <p:spPr>
          <a:xfrm>
            <a:off x="0" y="4572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48" name="直接连接符 47"/>
          <p:cNvSpPr>
            <a:spLocks noGrp="1"/>
          </p:cNvSpPr>
          <p:nvPr/>
        </p:nvSpPr>
        <p:spPr>
          <a:xfrm>
            <a:off x="0" y="5143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49" name="直接连接符 48"/>
          <p:cNvSpPr>
            <a:spLocks noGrp="1"/>
          </p:cNvSpPr>
          <p:nvPr/>
        </p:nvSpPr>
        <p:spPr>
          <a:xfrm>
            <a:off x="0" y="5715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50" name="直接连接符 49"/>
          <p:cNvSpPr>
            <a:spLocks noGrp="1"/>
          </p:cNvSpPr>
          <p:nvPr/>
        </p:nvSpPr>
        <p:spPr>
          <a:xfrm>
            <a:off x="0" y="6286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51" name="直接连接符 50"/>
          <p:cNvSpPr>
            <a:spLocks noGrp="1"/>
          </p:cNvSpPr>
          <p:nvPr/>
        </p:nvSpPr>
        <p:spPr>
          <a:xfrm>
            <a:off x="0" y="6858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52" name="直接连接符 51"/>
          <p:cNvSpPr>
            <a:spLocks noGrp="1"/>
          </p:cNvSpPr>
          <p:nvPr/>
        </p:nvSpPr>
        <p:spPr>
          <a:xfrm>
            <a:off x="0" y="7429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53" name="直接连接符 52"/>
          <p:cNvSpPr>
            <a:spLocks noGrp="1"/>
          </p:cNvSpPr>
          <p:nvPr/>
        </p:nvSpPr>
        <p:spPr>
          <a:xfrm>
            <a:off x="0" y="8001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54" name="直接连接符 53"/>
          <p:cNvSpPr>
            <a:spLocks noGrp="1"/>
          </p:cNvSpPr>
          <p:nvPr/>
        </p:nvSpPr>
        <p:spPr>
          <a:xfrm>
            <a:off x="0" y="8572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55" name="直接连接符 54"/>
          <p:cNvSpPr>
            <a:spLocks noGrp="1"/>
          </p:cNvSpPr>
          <p:nvPr/>
        </p:nvSpPr>
        <p:spPr>
          <a:xfrm>
            <a:off x="0" y="9144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56" name="直接连接符 55"/>
          <p:cNvSpPr>
            <a:spLocks noGrp="1"/>
          </p:cNvSpPr>
          <p:nvPr/>
        </p:nvSpPr>
        <p:spPr>
          <a:xfrm>
            <a:off x="0" y="97155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57" name="直接连接符 56"/>
          <p:cNvSpPr>
            <a:spLocks noGrp="1"/>
          </p:cNvSpPr>
          <p:nvPr/>
        </p:nvSpPr>
        <p:spPr>
          <a:xfrm>
            <a:off x="0" y="10287000"/>
            <a:ext cx="18288000" cy="0"/>
          </a:xfrm>
          <a:prstGeom prst="line">
            <a:avLst/>
          </a:prstGeom>
          <a:noFill/>
          <a:ln w="9525">
            <a:solidFill>
              <a:srgbClr val="30363D">
                <a:alpha val="13000"/>
              </a:srgbClr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0D1117">
                  <a:alpha val="0"/>
                </a:srgbClr>
              </a:gs>
              <a:gs pos="100000">
                <a:srgbClr val="0D1117">
                  <a:alpha val="4500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sp>
        <p:nvSpPr>
          <p:cNvPr id="59" name="椭圆 58"/>
          <p:cNvSpPr>
            <a:spLocks noGrp="1"/>
          </p:cNvSpPr>
          <p:nvPr/>
        </p:nvSpPr>
        <p:spPr>
          <a:xfrm>
            <a:off x="8324850" y="1562100"/>
            <a:ext cx="1638300" cy="1638300"/>
          </a:xfrm>
          <a:prstGeom prst="ellipse">
            <a:avLst/>
          </a:prstGeom>
          <a:gradFill>
            <a:gsLst>
              <a:gs pos="0">
                <a:srgbClr val="60A5FA">
                  <a:alpha val="22000"/>
                </a:srgbClr>
              </a:gs>
              <a:gs pos="70000">
                <a:srgbClr val="0D1117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pic>
        <p:nvPicPr>
          <p:cNvPr id="127" name="图片 12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553450" y="1790700"/>
            <a:ext cx="1181100" cy="1181100"/>
          </a:xfrm>
          <a:prstGeom prst="ellipse">
            <a:avLst/>
          </a:prstGeom>
        </p:spPr>
      </p:pic>
      <p:sp>
        <p:nvSpPr>
          <p:cNvPr id="60" name="椭圆 59"/>
          <p:cNvSpPr>
            <a:spLocks noGrp="1"/>
          </p:cNvSpPr>
          <p:nvPr/>
        </p:nvSpPr>
        <p:spPr>
          <a:xfrm>
            <a:off x="8515350" y="1752600"/>
            <a:ext cx="1257300" cy="1257300"/>
          </a:xfrm>
          <a:prstGeom prst="ellipse">
            <a:avLst/>
          </a:prstGeom>
          <a:solidFill>
            <a:srgbClr val="000000">
              <a:alpha val="0"/>
            </a:srgbClr>
          </a:solidFill>
          <a:ln w="57150">
            <a:solidFill>
              <a:srgbClr val="FFFFFF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4953000" y="3381375"/>
            <a:ext cx="838200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6750" b="1">
                <a:solidFill>
                  <a:srgbClr val="C9D1D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6750" b="1">
                <a:gradFill>
                  <a:gsLst>
                    <a:gs pos="0">
                      <a:srgbClr val="A855F7"/>
                    </a:gs>
                    <a:gs pos="52000">
                      <a:srgbClr val="60A5FA"/>
                    </a:gs>
                    <a:gs pos="100000">
                      <a:srgbClr val="34D399"/>
                    </a:gs>
                  </a:gsLst>
                  <a:lin ang="0"/>
                </a:gradFill>
                <a:latin typeface="Segoe UI" panose="020B0502040204020203"/>
                <a:ea typeface="Segoe UI" panose="020B0502040204020203"/>
                <a:cs typeface="Segoe UI" panose="020B0502040204020203"/>
              </a:rPr>
              <a:t>Thank You</a:t>
            </a:r>
            <a:endParaRPr sz="6750" b="1">
              <a:gradFill>
                <a:gsLst>
                  <a:gs pos="0">
                    <a:srgbClr val="A855F7"/>
                  </a:gs>
                  <a:gs pos="52000">
                    <a:srgbClr val="60A5FA"/>
                  </a:gs>
                  <a:gs pos="100000">
                    <a:srgbClr val="34D399"/>
                  </a:gs>
                </a:gsLst>
                <a:lin ang="0"/>
              </a:gra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6096000" y="4762500"/>
            <a:ext cx="609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3150" b="1">
                <a:solidFill>
                  <a:srgbClr val="F0F6FC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3150" b="1">
                <a:solidFill>
                  <a:srgbClr val="F0F6F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OmniCart Agent</a:t>
            </a:r>
            <a:r>
              <a:rPr lang="en-US" sz="3150" b="1">
                <a:solidFill>
                  <a:srgbClr val="F0F6F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~</a:t>
            </a:r>
            <a:r>
              <a:rPr lang="zh-CN" altLang="en-US" sz="3150" b="1">
                <a:solidFill>
                  <a:srgbClr val="F0F6FC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豆仔</a:t>
            </a:r>
            <a:endParaRPr lang="zh-CN" altLang="en-US" sz="3150" b="1">
              <a:solidFill>
                <a:srgbClr val="F0F6FC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3" name="矩形 62"/>
          <p:cNvSpPr>
            <a:spLocks noGrp="1"/>
          </p:cNvSpPr>
          <p:nvPr/>
        </p:nvSpPr>
        <p:spPr>
          <a:xfrm>
            <a:off x="4762500" y="5381625"/>
            <a:ext cx="876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2100" b="0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00D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RAG 的多模态购物决策智能体</a:t>
            </a:r>
            <a:endParaRPr sz="2100" b="0">
              <a:solidFill>
                <a:srgbClr val="00D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直接连接符 63"/>
          <p:cNvSpPr>
            <a:spLocks noGrp="1"/>
          </p:cNvSpPr>
          <p:nvPr/>
        </p:nvSpPr>
        <p:spPr>
          <a:xfrm>
            <a:off x="6191250" y="6210300"/>
            <a:ext cx="590550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5381625" y="6619875"/>
            <a:ext cx="7524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800" b="0">
                <a:solidFill>
                  <a:srgbClr val="C9D1D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0">
                <a:solidFill>
                  <a:srgbClr val="C9D1D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源码: github.com/TheodoreYang6/OmniCart-Agent</a:t>
            </a:r>
            <a:endParaRPr sz="1800" b="0">
              <a:solidFill>
                <a:srgbClr val="C9D1D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6667500" y="706755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1800" b="0">
                <a:solidFill>
                  <a:srgbClr val="C9D1D9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1800" b="0">
                <a:solidFill>
                  <a:srgbClr val="C9D1D9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服务: 8.137.187.54:8006</a:t>
            </a:r>
            <a:endParaRPr sz="1800" b="0">
              <a:solidFill>
                <a:srgbClr val="C9D1D9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  <p:sp>
        <p:nvSpPr>
          <p:cNvPr id="67" name="直接连接符 66"/>
          <p:cNvSpPr>
            <a:spLocks noGrp="1"/>
          </p:cNvSpPr>
          <p:nvPr/>
        </p:nvSpPr>
        <p:spPr>
          <a:xfrm>
            <a:off x="6191250" y="7715250"/>
            <a:ext cx="5905500" cy="0"/>
          </a:xfrm>
          <a:prstGeom prst="line">
            <a:avLst/>
          </a:prstGeom>
          <a:noFill/>
          <a:ln w="19050">
            <a:solidFill>
              <a:srgbClr val="30363D"/>
            </a:solidFill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7191375" y="8115300"/>
            <a:ext cx="3905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/>
          <a:lstStyle/>
          <a:p>
            <a:pPr algn="ctr">
              <a:lnSpc>
                <a:spcPct val="105000"/>
              </a:lnSpc>
              <a:buNone/>
              <a:defRPr sz="480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defRPr>
            </a:pPr>
            <a:r>
              <a:rPr sz="4800" b="1">
                <a:solidFill>
                  <a:srgbClr val="00D4FF"/>
                </a:solidFill>
                <a:latin typeface="Segoe UI" panose="020B0502040204020203"/>
                <a:ea typeface="Segoe UI" panose="020B0502040204020203"/>
                <a:cs typeface="Segoe UI" panose="020B0502040204020203"/>
              </a:rPr>
              <a:t>Q &amp; A</a:t>
            </a:r>
            <a:endParaRPr sz="4800" b="1">
              <a:solidFill>
                <a:srgbClr val="00D4FF"/>
              </a:solidFill>
              <a:latin typeface="Segoe UI" panose="020B0502040204020203"/>
              <a:ea typeface="Segoe UI" panose="020B0502040204020203"/>
              <a:cs typeface="Segoe UI" panose="020B05020402040202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GitHub Dark Purple">
      <a:dk1>
        <a:srgbClr val="000000"/>
      </a:dk1>
      <a:lt1>
        <a:srgbClr val="FFFFFF"/>
      </a:lt1>
      <a:dk2>
        <a:srgbClr val="10131F"/>
      </a:dk2>
      <a:lt2>
        <a:srgbClr val="30363D"/>
      </a:lt2>
      <a:accent1>
        <a:srgbClr val="00D4FF"/>
      </a:accent1>
      <a:accent2>
        <a:srgbClr val="A855F7"/>
      </a:accent2>
      <a:accent3>
        <a:srgbClr val="34D399"/>
      </a:accent3>
      <a:accent4>
        <a:srgbClr val="FF7B72"/>
      </a:accent4>
      <a:accent5>
        <a:srgbClr val="60A5FA"/>
      </a:accent5>
      <a:accent6>
        <a:srgbClr val="FFA657"/>
      </a:accent6>
      <a:hlink>
        <a:srgbClr val="60A5FA"/>
      </a:hlink>
      <a:folHlink>
        <a:srgbClr val="A855F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itHub Dark Purpl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GitHub Dark Purple">
      <a:dk1>
        <a:srgbClr val="000000"/>
      </a:dk1>
      <a:lt1>
        <a:srgbClr val="FFFFFF"/>
      </a:lt1>
      <a:dk2>
        <a:srgbClr val="10131F"/>
      </a:dk2>
      <a:lt2>
        <a:srgbClr val="30363D"/>
      </a:lt2>
      <a:accent1>
        <a:srgbClr val="00D4FF"/>
      </a:accent1>
      <a:accent2>
        <a:srgbClr val="A855F7"/>
      </a:accent2>
      <a:accent3>
        <a:srgbClr val="34D399"/>
      </a:accent3>
      <a:accent4>
        <a:srgbClr val="FF7B72"/>
      </a:accent4>
      <a:accent5>
        <a:srgbClr val="60A5FA"/>
      </a:accent5>
      <a:accent6>
        <a:srgbClr val="FFA657"/>
      </a:accent6>
      <a:hlink>
        <a:srgbClr val="60A5FA"/>
      </a:hlink>
      <a:folHlink>
        <a:srgbClr val="A855F7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GitHub Dark Purpl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6292</Words>
  <Application>WPS 演示</Application>
  <PresentationFormat>Converted Presentation</PresentationFormat>
  <Paragraphs>1010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宋体</vt:lpstr>
      <vt:lpstr>Wingdings</vt:lpstr>
      <vt:lpstr>Segoe UI</vt:lpstr>
      <vt:lpstr>微软雅黑</vt:lpstr>
      <vt:lpstr>Cascadia Mono</vt:lpstr>
      <vt:lpstr>Calibri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杨启铎</cp:lastModifiedBy>
  <cp:revision>16</cp:revision>
  <dcterms:created xsi:type="dcterms:W3CDTF">2026-06-23T10:20:00Z</dcterms:created>
  <dcterms:modified xsi:type="dcterms:W3CDTF">2026-06-24T02:52:39Z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A39D13686F9F45A4B00928547502D21D_12</vt:lpwstr>
  </property>
</Properties>
</file>